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33"/>
                </a:solidFill>
                <a:latin typeface="Calibri"/>
              </a:defRPr>
            </a:pPr>
            <a:r>
              <a:rPr sz="1400" b="0" i="0" u="none" strike="noStrike">
                <a:solidFill>
                  <a:srgbClr val="1F2A33"/>
                </a:solidFill>
                <a:latin typeface="Calibri"/>
              </a:rPr>
              <a:t>Received value, Sep 2025 to May 2026, three ways</a:t>
            </a:r>
          </a:p>
        </c:rich>
      </c:tx>
      <c:layout/>
      <c:overlay val="0"/>
    </c:title>
    <c:autoTitleDeleted val="0"/>
    <c:plotArea>
      <c:layout/>
      <c:barChart>
        <c:barDir val="col"/>
        <c:grouping val="clustered"/>
        <c:varyColors val="0"/>
        <c:ser>
          <c:idx val="0"/>
          <c:order val="0"/>
          <c:tx>
            <c:strRef>
              <c:f>Sheet1!$B$1</c:f>
              <c:strCache>
                <c:ptCount val="1"/>
                <c:pt idx="0">
                  <c:v>Received value ($M)</c:v>
                </c:pt>
              </c:strCache>
            </c:strRef>
          </c:tx>
          <c:spPr>
            <a:solidFill>
              <a:srgbClr val="1F2A33"/>
            </a:solidFill>
            <a:effectLst/>
          </c:spPr>
          <c:invertIfNegative val="0"/>
          <c:dLbls>
            <c:numFmt formatCode="$0.00&quot;M&quot;" sourceLinked="0"/>
            <c:txPr>
              <a:bodyPr/>
              <a:lstStyle/>
              <a:p>
                <a:pPr>
                  <a:defRPr b="0" i="0" strike="noStrike" sz="1300" u="none">
                    <a:solidFill>
                      <a:srgbClr val="1F2A33"/>
                    </a:solidFill>
                    <a:latin typeface="Arial"/>
                  </a:defRPr>
                </a:pPr>
              </a:p>
            </c:txPr>
            <c:showLegendKey val="0"/>
            <c:showVal val="1"/>
            <c:showCatName val="0"/>
            <c:showSerName val="0"/>
            <c:showPercent val="0"/>
            <c:showBubbleSize val="0"/>
            <c:showLeaderLines val="0"/>
          </c:dLbls>
          <c:dPt>
            <c:idx val="0"/>
            <c:invertIfNegative val="0"/>
            <c:bubble3D val="0"/>
            <c:spPr>
              <a:solidFill>
                <a:srgbClr val="1F2A33"/>
              </a:solidFill>
              <a:effectLst/>
            </c:spPr>
          </c:dPt>
          <c:dPt>
            <c:idx val="1"/>
            <c:invertIfNegative val="0"/>
            <c:bubble3D val="0"/>
            <c:spPr>
              <a:solidFill>
                <a:srgbClr val="7D8B97"/>
              </a:solidFill>
              <a:effectLst/>
            </c:spPr>
          </c:dPt>
          <c:dPt>
            <c:idx val="2"/>
            <c:invertIfNegative val="0"/>
            <c:bubble3D val="0"/>
            <c:spPr>
              <a:solidFill>
                <a:srgbClr val="7D8B97"/>
              </a:solidFill>
              <a:effectLst/>
            </c:spPr>
          </c:dPt>
          <c:cat>
            <c:multiLvlStrRef>
              <c:f>Sheet1!$A$2:$A$4</c:f>
              <c:multiLvlStrCache>
                <c:ptCount val="3"/>
                <c:lvl>
                  <c:pt idx="0">
                    <c:v>Corrected (used)</c:v>
                  </c:pt>
                  <c:pt idx="1">
                    <c:v>Raw 'R' receipts</c:v>
                  </c:pt>
                  <c:pt idx="2">
                    <c:v>po_line.qty_received</c:v>
                  </c:pt>
                </c:lvl>
              </c:multiLvlStrCache>
            </c:multiLvlStrRef>
          </c:cat>
          <c:val>
            <c:numRef>
              <c:f>Sheet1!$B$2:$B$4</c:f>
              <c:numCache>
                <c:formatCode>General</c:formatCode>
                <c:ptCount val="3"/>
                <c:pt idx="0">
                  <c:v>28.19</c:v>
                </c:pt>
                <c:pt idx="1">
                  <c:v>29.5</c:v>
                </c:pt>
                <c:pt idx="2">
                  <c:v>25.3</c:v>
                </c:pt>
              </c:numCache>
            </c:numRef>
          </c:val>
        </c:ser>
        <c:dLbls>
          <c:numFmt formatCode="$0.00&quot;M&quot;" sourceLinked="0"/>
          <c:txPr>
            <a:bodyPr/>
            <a:lstStyle/>
            <a:p>
              <a:pPr>
                <a:defRPr b="0" i="0" strike="noStrike" sz="1300" u="none">
                  <a:solidFill>
                    <a:srgbClr val="1F2A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E5D6A"/>
                </a:solidFill>
                <a:latin typeface="Arial"/>
              </a:defRPr>
            </a:pPr>
            <a:endParaRPr lang="en-US"/>
          </a:p>
        </c:txPr>
        <c:crossAx val="2094734552"/>
        <c:crosses val="autoZero"/>
        <c:auto val="1"/>
        <c:lblAlgn val="ctr"/>
        <c:noMultiLvlLbl val="1"/>
      </c:catAx>
      <c:valAx>
        <c:axId val="2094734552"/>
        <c:scaling>
          <c:orientation val="minMax"/>
          <c:max val="3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33"/>
                </a:solidFill>
                <a:latin typeface="Calibri"/>
              </a:defRPr>
            </a:pPr>
            <a:r>
              <a:rPr sz="1400" b="0" i="0" u="none" strike="noStrike">
                <a:solidFill>
                  <a:srgbClr val="1F2A33"/>
                </a:solidFill>
                <a:latin typeface="Calibri"/>
              </a:rPr>
              <a:t>Received value by receipt month ($M, at PO price)</a:t>
            </a:r>
          </a:p>
        </c:rich>
      </c:tx>
      <c:layout/>
      <c:overlay val="0"/>
    </c:title>
    <c:autoTitleDeleted val="0"/>
    <c:plotArea>
      <c:layout/>
      <c:barChart>
        <c:barDir val="col"/>
        <c:grouping val="stacked"/>
        <c:varyColors val="0"/>
        <c:ser>
          <c:idx val="0"/>
          <c:order val="0"/>
          <c:tx>
            <c:strRef>
              <c:f>Sheet1!$B$1</c:f>
              <c:strCache>
                <c:ptCount val="1"/>
                <c:pt idx="0">
                  <c:v>Apex Bar &amp; Tube</c:v>
                </c:pt>
              </c:strCache>
            </c:strRef>
          </c:tx>
          <c:spPr>
            <a:solidFill>
              <a:srgbClr val="1F2A3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Sep*</c:v>
                  </c:pt>
                  <c:pt idx="1">
                    <c:v>Oct</c:v>
                  </c:pt>
                  <c:pt idx="2">
                    <c:v>Nov</c:v>
                  </c:pt>
                  <c:pt idx="3">
                    <c:v>Dec</c:v>
                  </c:pt>
                  <c:pt idx="4">
                    <c:v>Jan</c:v>
                  </c:pt>
                  <c:pt idx="5">
                    <c:v>Feb</c:v>
                  </c:pt>
                  <c:pt idx="6">
                    <c:v>Mar</c:v>
                  </c:pt>
                  <c:pt idx="7">
                    <c:v>Apr</c:v>
                  </c:pt>
                  <c:pt idx="8">
                    <c:v>May*</c:v>
                  </c:pt>
                </c:lvl>
              </c:multiLvlStrCache>
            </c:multiLvlStrRef>
          </c:cat>
          <c:val>
            <c:numRef>
              <c:f>Sheet1!$B$2:$B$10</c:f>
              <c:numCache>
                <c:formatCode>General</c:formatCode>
                <c:ptCount val="9"/>
                <c:pt idx="0">
                  <c:v>0</c:v>
                </c:pt>
                <c:pt idx="1">
                  <c:v>3.08</c:v>
                </c:pt>
                <c:pt idx="2">
                  <c:v>4.339</c:v>
                </c:pt>
                <c:pt idx="3">
                  <c:v>2.943</c:v>
                </c:pt>
                <c:pt idx="4">
                  <c:v>4.489</c:v>
                </c:pt>
                <c:pt idx="5">
                  <c:v>2.586</c:v>
                </c:pt>
                <c:pt idx="6">
                  <c:v>3.154</c:v>
                </c:pt>
                <c:pt idx="7">
                  <c:v>2.716</c:v>
                </c:pt>
                <c:pt idx="8">
                  <c:v>0.672</c:v>
                </c:pt>
              </c:numCache>
            </c:numRef>
          </c:val>
        </c:ser>
        <c:ser>
          <c:idx val="1"/>
          <c:order val="1"/>
          <c:tx>
            <c:strRef>
              <c:f>Sheet1!$C$1</c:f>
              <c:strCache>
                <c:ptCount val="1"/>
                <c:pt idx="0">
                  <c:v>Other 5 vendors</c:v>
                </c:pt>
              </c:strCache>
            </c:strRef>
          </c:tx>
          <c:spPr>
            <a:solidFill>
              <a:srgbClr val="D962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Sep*</c:v>
                  </c:pt>
                  <c:pt idx="1">
                    <c:v>Oct</c:v>
                  </c:pt>
                  <c:pt idx="2">
                    <c:v>Nov</c:v>
                  </c:pt>
                  <c:pt idx="3">
                    <c:v>Dec</c:v>
                  </c:pt>
                  <c:pt idx="4">
                    <c:v>Jan</c:v>
                  </c:pt>
                  <c:pt idx="5">
                    <c:v>Feb</c:v>
                  </c:pt>
                  <c:pt idx="6">
                    <c:v>Mar</c:v>
                  </c:pt>
                  <c:pt idx="7">
                    <c:v>Apr</c:v>
                  </c:pt>
                  <c:pt idx="8">
                    <c:v>May*</c:v>
                  </c:pt>
                </c:lvl>
              </c:multiLvlStrCache>
            </c:multiLvlStrRef>
          </c:cat>
          <c:val>
            <c:numRef>
              <c:f>Sheet1!$C$2:$C$10</c:f>
              <c:numCache>
                <c:formatCode>General</c:formatCode>
                <c:ptCount val="9"/>
                <c:pt idx="0">
                  <c:v>0.114</c:v>
                </c:pt>
                <c:pt idx="1">
                  <c:v>0.453</c:v>
                </c:pt>
                <c:pt idx="2">
                  <c:v>0.447</c:v>
                </c:pt>
                <c:pt idx="3">
                  <c:v>0.725</c:v>
                </c:pt>
                <c:pt idx="4">
                  <c:v>0.603</c:v>
                </c:pt>
                <c:pt idx="5">
                  <c:v>0.54</c:v>
                </c:pt>
                <c:pt idx="6">
                  <c:v>0.569</c:v>
                </c:pt>
                <c:pt idx="7">
                  <c:v>0.507</c:v>
                </c:pt>
                <c:pt idx="8">
                  <c:v>0.249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E5D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AEE"/>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D8B97"/>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E5D6A"/>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A33"/>
                </a:solidFill>
                <a:latin typeface="Calibri"/>
              </a:defRPr>
            </a:pPr>
            <a:r>
              <a:rPr sz="1300" b="0" i="0" u="none" strike="noStrike">
                <a:solidFill>
                  <a:srgbClr val="1F2A33"/>
                </a:solidFill>
                <a:latin typeface="Calibri"/>
              </a:rPr>
              <a:t>On-time % by vendor (due lines, Sep 2025 to May 2026)</a:t>
            </a:r>
          </a:p>
        </c:rich>
      </c:tx>
      <c:layout/>
      <c:overlay val="0"/>
    </c:title>
    <c:autoTitleDeleted val="0"/>
    <c:plotArea>
      <c:layout/>
      <c:barChart>
        <c:barDir val="bar"/>
        <c:grouping val="clustered"/>
        <c:varyColors val="0"/>
        <c:ser>
          <c:idx val="0"/>
          <c:order val="0"/>
          <c:tx>
            <c:strRef>
              <c:f>Sheet1!$B$1</c:f>
              <c:strCache>
                <c:ptCount val="1"/>
                <c:pt idx="0">
                  <c:v>On time %</c:v>
                </c:pt>
              </c:strCache>
            </c:strRef>
          </c:tx>
          <c:spPr>
            <a:solidFill>
              <a:srgbClr val="B83227"/>
            </a:solidFill>
            <a:effectLst/>
          </c:spPr>
          <c:invertIfNegative val="0"/>
          <c:dLbls>
            <c:numFmt formatCode="0&quot;%&quot;"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dPt>
            <c:idx val="0"/>
            <c:invertIfNegative val="0"/>
            <c:bubble3D val="0"/>
            <c:spPr>
              <a:solidFill>
                <a:srgbClr val="B83227"/>
              </a:solidFill>
              <a:effectLst/>
            </c:spPr>
          </c:dPt>
          <c:dPt>
            <c:idx val="1"/>
            <c:invertIfNegative val="0"/>
            <c:bubble3D val="0"/>
            <c:spPr>
              <a:solidFill>
                <a:srgbClr val="7D8B97"/>
              </a:solidFill>
              <a:effectLst/>
            </c:spPr>
          </c:dPt>
          <c:dPt>
            <c:idx val="2"/>
            <c:invertIfNegative val="0"/>
            <c:bubble3D val="0"/>
            <c:spPr>
              <a:solidFill>
                <a:srgbClr val="7D8B97"/>
              </a:solidFill>
              <a:effectLst/>
            </c:spPr>
          </c:dPt>
          <c:dPt>
            <c:idx val="3"/>
            <c:invertIfNegative val="0"/>
            <c:bubble3D val="0"/>
            <c:spPr>
              <a:solidFill>
                <a:srgbClr val="7D8B97"/>
              </a:solidFill>
              <a:effectLst/>
            </c:spPr>
          </c:dPt>
          <c:dPt>
            <c:idx val="4"/>
            <c:invertIfNegative val="0"/>
            <c:bubble3D val="0"/>
            <c:spPr>
              <a:solidFill>
                <a:srgbClr val="7D8B97"/>
              </a:solidFill>
              <a:effectLst/>
            </c:spPr>
          </c:dPt>
          <c:dPt>
            <c:idx val="5"/>
            <c:invertIfNegative val="0"/>
            <c:bubble3D val="0"/>
            <c:spPr>
              <a:solidFill>
                <a:srgbClr val="7D8B97"/>
              </a:solidFill>
              <a:effectLst/>
            </c:spPr>
          </c:dPt>
          <c:cat>
            <c:multiLvlStrRef>
              <c:f>Sheet1!$A$2:$A$7</c:f>
              <c:multiLvlStrCache>
                <c:ptCount val="6"/>
                <c:lvl>
                  <c:pt idx="0">
                    <c:v>Continental</c:v>
                  </c:pt>
                  <c:pt idx="1">
                    <c:v>Ostmark</c:v>
                  </c:pt>
                  <c:pt idx="2">
                    <c:v>Heritage</c:v>
                  </c:pt>
                  <c:pt idx="3">
                    <c:v>Apex</c:v>
                  </c:pt>
                  <c:pt idx="4">
                    <c:v>Liberty</c:v>
                  </c:pt>
                  <c:pt idx="5">
                    <c:v>QuickShip</c:v>
                  </c:pt>
                </c:lvl>
              </c:multiLvlStrCache>
            </c:multiLvlStrRef>
          </c:cat>
          <c:val>
            <c:numRef>
              <c:f>Sheet1!$B$2:$B$7</c:f>
              <c:numCache>
                <c:formatCode>General</c:formatCode>
                <c:ptCount val="6"/>
                <c:pt idx="0">
                  <c:v>42</c:v>
                </c:pt>
                <c:pt idx="1">
                  <c:v>69</c:v>
                </c:pt>
                <c:pt idx="2">
                  <c:v>72</c:v>
                </c:pt>
                <c:pt idx="3">
                  <c:v>87</c:v>
                </c:pt>
                <c:pt idx="4">
                  <c:v>91</c:v>
                </c:pt>
                <c:pt idx="5">
                  <c:v>99</c:v>
                </c:pt>
              </c:numCache>
            </c:numRef>
          </c:val>
        </c:ser>
        <c:dLbls>
          <c:numFmt formatCode="0&quot;%&quot;" sourceLinked="0"/>
          <c:txPr>
            <a:bodyPr/>
            <a:lstStyle/>
            <a:p>
              <a:pPr>
                <a:defRPr b="0" i="0" strike="noStrike" sz="1200" u="none">
                  <a:solidFill>
                    <a:srgbClr val="1F2A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A33"/>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I turned an unstructured confirmation process into a controlled daily workflow, and eight months of ERP data into a supplier decision. ~22 minutes of talk: 3 on the problem, 9 on Task 1, 7 on Task 2, 3 on limits and questions, then Q&amp;A. Every number shown came out of the tools on the case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turns 35 PDFs into 23 things to do, worst first, and 22 lines Lisa never has to look at. Task 2 says call Continental first, with the numbers, and says honestly that part of it is our own planning. The forward view turns history into something planning can act on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didn't start by asking which technology to use. I started with the buyer's daily decision, the plant's risk, and the smallest reliable workflow that improves both. Design test for everything: could the user act on it tomorrow morning without me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roughly how long each step took you. The point to land: the order was set by risk. Data traps or a broken dropped-line check would sink the work; a plainer UI would not. When something had to give, polish gave, not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Excel: Lisa already works from a PO list in Excel and Outlook. A new tool that needs a login and training won't get used. The app exists for the two things Excel is bad at: dragging PDFs in and one-click approval of part numbers. Both read and write the same memory file, so they always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Tolerances were chosen from the data, not invented. USD prices: any change is flagged, because ERP prices are exact to 4 decimals. EUR prices: flagged over 1%, because month-to-month FX noise in the ERP rates is about 0.3%. On this data every L4 inference was an exact qty and price match, but it still goes to review because two lines could share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Excel: it is where Lisa already works, it needs no login or training, and her edits flow back into the tool. The small browser app is optional, for drag-and-drop and one-click approvals; it shares the same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dropped line is the headline: it's the thing Lisa said matters most and the hardest to see, because it's an absence. The tool knows it's missing because it starts from the open PO list, not from the PDF. The stray PO shows the same idea in reverse. 13 'check' items are mostly date sanity: acknowledgments dated before the PO, or Continental promise dates before the confirmation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past vs future. The past: the ERP tells us every part each vendor supplies, what we paid, and the real lead times; it pre-fills both forms and gives Lisa a list of $128k of old open balances to chase or short-close. The future: the vendor answers in our format, so the three hardest problems (dropped lines, week-range dates, vendor part numbers) are prevented rather than detected. Roll out to the three vendors that cost the most reading time first: Continental's scans, Ostmark's German week ranges, Heritage's part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trap was verified independently. The date format one is sneaky: a SQL-only analysis silently returns nothing by month. Received value = net receipt qty times PO unit price. Receipts carry no price, so this is value at PO price, not invoiced cost; I say that on the readout.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deliberately did not build a 0-100 vendor score. Any weighting of lateness vs price vs shortage would be my opinion dressed up as math. Instead, the table shows absolute and relative numbers side by side, with the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for the call: can you commit to a standard lead time we can load into MRP? When you confirm a date you meet it 58% of the time; what drives the misses: furnace capacity, batching, or late incoming parts from us? 51% of lines arrive split; can partial lots be avoided or flagged? Language is deliberate: highest observed delivery exposure, not 'caused production delays'. The ERP has no production-impact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history lesson into something planning can act on next week. The biggest item is not a late vendor: it's $1.84M of Apex bar due in two weeks with no acknowledgment on file. Part of that may be the ERP confirmation feed stopping on 04/03, which is itself a question for IT. I backtested the rule before trusting it, and I say plainly that it's a watch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Success metric for week 1: Lisa's reconciliation time drops from about 90 minutes, and the tool misses nothing she catches by hand. False alarms are acceptable at first; misses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Apex isn't first: its delivery is fine. The issue is commercial and cumulative, and the right person is probably Lisa plus whoever owns the supply agreement. The price creep may be a legitimate alloy surcharge that never made it into the PO price; that's a question, not an accusation.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'is it a one-time script?'. The store is one SQLite file: items, notes, append-only promise history, crosswalk approvals and file hashes. The Excel and the app read and write the same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here if time allows: open the app, click 'Load this week's sample confirmations', tick one Done, approve one part number, then Download Excel and show the same state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3"/>
        </a:solidFill>
      </p:bgPr>
    </p:bg>
    <p:spTree>
      <p:nvGrpSpPr>
        <p:cNvPr id="1" name=""/>
        <p:cNvGrpSpPr/>
        <p:nvPr/>
      </p:nvGrpSpPr>
      <p:grpSpPr>
        <a:xfrm>
          <a:off x="0" y="0"/>
          <a:ext cx="0" cy="0"/>
          <a:chOff x="0" y="0"/>
          <a:chExt cx="0" cy="0"/>
        </a:xfrm>
      </p:grpSpPr>
      <p:sp>
        <p:nvSpPr>
          <p:cNvPr id="2" name="Shape 0"/>
          <p:cNvSpPr/>
          <p:nvPr/>
        </p:nvSpPr>
        <p:spPr>
          <a:xfrm>
            <a:off x="8549640" y="1234440"/>
            <a:ext cx="3063240" cy="384048"/>
          </a:xfrm>
          <a:prstGeom prst="roundRect">
            <a:avLst>
              <a:gd name="adj" fmla="val 19048"/>
            </a:avLst>
          </a:prstGeom>
          <a:solidFill>
            <a:srgbClr val="D9622B"/>
          </a:solidFill>
          <a:ln w="12700">
            <a:solidFill>
              <a:srgbClr val="D9622B"/>
            </a:solidFill>
            <a:prstDash val="solid"/>
          </a:ln>
        </p:spPr>
      </p:sp>
      <p:sp>
        <p:nvSpPr>
          <p:cNvPr id="3" name="Shape 1"/>
          <p:cNvSpPr/>
          <p:nvPr/>
        </p:nvSpPr>
        <p:spPr>
          <a:xfrm>
            <a:off x="8549640" y="1801368"/>
            <a:ext cx="2807208" cy="384048"/>
          </a:xfrm>
          <a:prstGeom prst="roundRect">
            <a:avLst>
              <a:gd name="adj" fmla="val 19048"/>
            </a:avLst>
          </a:prstGeom>
          <a:solidFill>
            <a:srgbClr val="2C3A46"/>
          </a:solidFill>
          <a:ln w="12700">
            <a:solidFill>
              <a:srgbClr val="2C3A46"/>
            </a:solidFill>
            <a:prstDash val="solid"/>
          </a:ln>
        </p:spPr>
      </p:sp>
      <p:sp>
        <p:nvSpPr>
          <p:cNvPr id="4" name="Shape 2"/>
          <p:cNvSpPr/>
          <p:nvPr/>
        </p:nvSpPr>
        <p:spPr>
          <a:xfrm>
            <a:off x="8549640" y="2368296"/>
            <a:ext cx="2551176" cy="384048"/>
          </a:xfrm>
          <a:prstGeom prst="roundRect">
            <a:avLst>
              <a:gd name="adj" fmla="val 19048"/>
            </a:avLst>
          </a:prstGeom>
          <a:solidFill>
            <a:srgbClr val="2C3A46"/>
          </a:solidFill>
          <a:ln w="12700">
            <a:solidFill>
              <a:srgbClr val="2C3A46"/>
            </a:solidFill>
            <a:prstDash val="solid"/>
          </a:ln>
        </p:spPr>
      </p:sp>
      <p:sp>
        <p:nvSpPr>
          <p:cNvPr id="5" name="Shape 3"/>
          <p:cNvSpPr/>
          <p:nvPr/>
        </p:nvSpPr>
        <p:spPr>
          <a:xfrm>
            <a:off x="8549640" y="2935224"/>
            <a:ext cx="2295144" cy="384048"/>
          </a:xfrm>
          <a:prstGeom prst="roundRect">
            <a:avLst>
              <a:gd name="adj" fmla="val 19048"/>
            </a:avLst>
          </a:prstGeom>
          <a:solidFill>
            <a:srgbClr val="2C3A46"/>
          </a:solidFill>
          <a:ln w="12700">
            <a:solidFill>
              <a:srgbClr val="2C3A46"/>
            </a:solidFill>
            <a:prstDash val="solid"/>
          </a:ln>
        </p:spPr>
      </p:sp>
      <p:sp>
        <p:nvSpPr>
          <p:cNvPr id="6" name="Shape 4"/>
          <p:cNvSpPr/>
          <p:nvPr/>
        </p:nvSpPr>
        <p:spPr>
          <a:xfrm>
            <a:off x="8549640" y="3502152"/>
            <a:ext cx="2039112" cy="384048"/>
          </a:xfrm>
          <a:prstGeom prst="roundRect">
            <a:avLst>
              <a:gd name="adj" fmla="val 19048"/>
            </a:avLst>
          </a:prstGeom>
          <a:solidFill>
            <a:srgbClr val="2C3A46"/>
          </a:solidFill>
          <a:ln w="12700">
            <a:solidFill>
              <a:srgbClr val="2C3A46"/>
            </a:solidFill>
            <a:prstDash val="solid"/>
          </a:ln>
        </p:spPr>
      </p:sp>
      <p:sp>
        <p:nvSpPr>
          <p:cNvPr id="7" name="Text 5"/>
          <p:cNvSpPr txBox="1"/>
          <p:nvPr/>
        </p:nvSpPr>
        <p:spPr>
          <a:xfrm>
            <a:off x="548640" y="1234440"/>
            <a:ext cx="7315200" cy="320040"/>
          </a:xfrm>
          <a:prstGeom prst="rect">
            <a:avLst/>
          </a:prstGeom>
          <a:noFill/>
          <a:ln/>
        </p:spPr>
        <p:txBody>
          <a:bodyPr wrap="square" lIns="0" tIns="0" rIns="0" bIns="0" rtlCol="0" anchor="ctr"/>
          <a:lstStyle/>
          <a:p>
            <a:pPr indent="0" marL="0">
              <a:buNone/>
            </a:pPr>
            <a:r>
              <a:rPr lang="en-US" sz="1300" b="1" spc="300" kern="0" dirty="0">
                <a:solidFill>
                  <a:srgbClr val="D9622B"/>
                </a:solidFill>
                <a:latin typeface="Calibri" pitchFamily="34" charset="0"/>
                <a:ea typeface="Calibri" pitchFamily="34" charset="-122"/>
                <a:cs typeface="Calibri" pitchFamily="34" charset="-120"/>
              </a:rPr>
              <a:t>TINICUM · FDE SUPER-DAY CASE</a:t>
            </a:r>
            <a:endParaRPr lang="en-US" sz="1300" dirty="0"/>
          </a:p>
        </p:txBody>
      </p:sp>
      <p:sp>
        <p:nvSpPr>
          <p:cNvPr id="8" name="Text 6"/>
          <p:cNvSpPr txBox="1"/>
          <p:nvPr/>
        </p:nvSpPr>
        <p:spPr>
          <a:xfrm>
            <a:off x="548640" y="1691640"/>
            <a:ext cx="7863840" cy="14630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Beacon PO Confirmation</a:t>
            </a:r>
            <a:endParaRPr lang="en-US" sz="3600" dirty="0"/>
          </a:p>
          <a:p>
            <a:pPr indent="0" marL="0">
              <a:buNone/>
            </a:pPr>
            <a:r>
              <a:rPr lang="en-US" sz="3600" b="1" dirty="0">
                <a:solidFill>
                  <a:srgbClr val="FFFFFF"/>
                </a:solidFill>
                <a:latin typeface="Cambria" pitchFamily="34" charset="0"/>
                <a:ea typeface="Cambria" pitchFamily="34" charset="-122"/>
                <a:cs typeface="Cambria" pitchFamily="34" charset="-120"/>
              </a:rPr>
              <a:t>Control Tower</a:t>
            </a:r>
            <a:endParaRPr lang="en-US" sz="3600" dirty="0"/>
          </a:p>
        </p:txBody>
      </p:sp>
      <p:sp>
        <p:nvSpPr>
          <p:cNvPr id="9" name="Text 7"/>
          <p:cNvSpPr txBox="1"/>
          <p:nvPr/>
        </p:nvSpPr>
        <p:spPr>
          <a:xfrm>
            <a:off x="548640" y="3383280"/>
            <a:ext cx="7680960" cy="457200"/>
          </a:xfrm>
          <a:prstGeom prst="rect">
            <a:avLst/>
          </a:prstGeom>
          <a:noFill/>
          <a:ln/>
        </p:spPr>
        <p:txBody>
          <a:bodyPr wrap="square" lIns="0" tIns="0" rIns="0" bIns="0" rtlCol="0" anchor="ctr"/>
          <a:lstStyle/>
          <a:p>
            <a:pPr indent="0" marL="0">
              <a:buNone/>
            </a:pPr>
            <a:r>
              <a:rPr lang="en-US" sz="2000" i="1" dirty="0">
                <a:solidFill>
                  <a:srgbClr val="CFD8DF"/>
                </a:solidFill>
                <a:latin typeface="Cambria" pitchFamily="34" charset="0"/>
                <a:ea typeface="Cambria" pitchFamily="34" charset="-122"/>
                <a:cs typeface="Cambria" pitchFamily="34" charset="-120"/>
              </a:rPr>
              <a:t>A daily buyer worklist, and an evidence-led view of supplier risk</a:t>
            </a:r>
            <a:endParaRPr lang="en-US" sz="2000" dirty="0"/>
          </a:p>
        </p:txBody>
      </p:sp>
      <p:sp>
        <p:nvSpPr>
          <p:cNvPr id="10" name="Text 8"/>
          <p:cNvSpPr txBox="1"/>
          <p:nvPr/>
        </p:nvSpPr>
        <p:spPr>
          <a:xfrm>
            <a:off x="548640" y="4343400"/>
            <a:ext cx="2194560" cy="365760"/>
          </a:xfrm>
          <a:prstGeom prst="rect">
            <a:avLst/>
          </a:prstGeom>
          <a:noFill/>
          <a:ln/>
        </p:spPr>
        <p:txBody>
          <a:bodyPr wrap="square" lIns="0" tIns="0" rIns="0" bIns="0" rtlCol="0" anchor="ctr"/>
          <a:lstStyle/>
          <a:p>
            <a:pPr indent="0" marL="0">
              <a:buNone/>
            </a:pPr>
            <a:r>
              <a:rPr lang="en-US" sz="1400" b="1" dirty="0">
                <a:solidFill>
                  <a:srgbClr val="D9622B"/>
                </a:solidFill>
                <a:latin typeface="Calibri" pitchFamily="34" charset="0"/>
                <a:ea typeface="Calibri" pitchFamily="34" charset="-122"/>
                <a:cs typeface="Calibri" pitchFamily="34" charset="-120"/>
              </a:rPr>
              <a:t>For Lisa</a:t>
            </a:r>
            <a:endParaRPr lang="en-US" sz="1400" dirty="0"/>
          </a:p>
        </p:txBody>
      </p:sp>
      <p:sp>
        <p:nvSpPr>
          <p:cNvPr id="11" name="Text 9"/>
          <p:cNvSpPr txBox="1"/>
          <p:nvPr/>
        </p:nvSpPr>
        <p:spPr>
          <a:xfrm>
            <a:off x="2743200" y="4343400"/>
            <a:ext cx="86868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35 vendor PDFs in, one worst-first action queue out, in Excel</a:t>
            </a:r>
            <a:endParaRPr lang="en-US" sz="1400" dirty="0"/>
          </a:p>
        </p:txBody>
      </p:sp>
      <p:sp>
        <p:nvSpPr>
          <p:cNvPr id="12" name="Text 10"/>
          <p:cNvSpPr txBox="1"/>
          <p:nvPr/>
        </p:nvSpPr>
        <p:spPr>
          <a:xfrm>
            <a:off x="548640" y="4800600"/>
            <a:ext cx="2194560" cy="365760"/>
          </a:xfrm>
          <a:prstGeom prst="rect">
            <a:avLst/>
          </a:prstGeom>
          <a:noFill/>
          <a:ln/>
        </p:spPr>
        <p:txBody>
          <a:bodyPr wrap="square" lIns="0" tIns="0" rIns="0" bIns="0" rtlCol="0" anchor="ctr"/>
          <a:lstStyle/>
          <a:p>
            <a:pPr indent="0" marL="0">
              <a:buNone/>
            </a:pPr>
            <a:r>
              <a:rPr lang="en-US" sz="1400" b="1" dirty="0">
                <a:solidFill>
                  <a:srgbClr val="D9622B"/>
                </a:solidFill>
                <a:latin typeface="Calibri" pitchFamily="34" charset="0"/>
                <a:ea typeface="Calibri" pitchFamily="34" charset="-122"/>
                <a:cs typeface="Calibri" pitchFamily="34" charset="-120"/>
              </a:rPr>
              <a:t>For the plant manager</a:t>
            </a:r>
            <a:endParaRPr lang="en-US" sz="1400" dirty="0"/>
          </a:p>
        </p:txBody>
      </p:sp>
      <p:sp>
        <p:nvSpPr>
          <p:cNvPr id="13" name="Text 11"/>
          <p:cNvSpPr txBox="1"/>
          <p:nvPr/>
        </p:nvSpPr>
        <p:spPr>
          <a:xfrm>
            <a:off x="2743200" y="4800600"/>
            <a:ext cx="86868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months of ERP history: who to call first, and which open orders to watch</a:t>
            </a:r>
            <a:endParaRPr lang="en-US" sz="1400" dirty="0"/>
          </a:p>
        </p:txBody>
      </p:sp>
      <p:sp>
        <p:nvSpPr>
          <p:cNvPr id="14" name="Text 12"/>
          <p:cNvSpPr txBox="1"/>
          <p:nvPr/>
        </p:nvSpPr>
        <p:spPr>
          <a:xfrm>
            <a:off x="548640" y="5257800"/>
            <a:ext cx="2194560" cy="365760"/>
          </a:xfrm>
          <a:prstGeom prst="rect">
            <a:avLst/>
          </a:prstGeom>
          <a:noFill/>
          <a:ln/>
        </p:spPr>
        <p:txBody>
          <a:bodyPr wrap="square" lIns="0" tIns="0" rIns="0" bIns="0" rtlCol="0" anchor="ctr"/>
          <a:lstStyle/>
          <a:p>
            <a:pPr indent="0" marL="0">
              <a:buNone/>
            </a:pPr>
            <a:r>
              <a:rPr lang="en-US" sz="1400" b="1" dirty="0">
                <a:solidFill>
                  <a:srgbClr val="D9622B"/>
                </a:solidFill>
                <a:latin typeface="Calibri" pitchFamily="34" charset="0"/>
                <a:ea typeface="Calibri" pitchFamily="34" charset="-122"/>
                <a:cs typeface="Calibri" pitchFamily="34" charset="-120"/>
              </a:rPr>
              <a:t>For Beacon</a:t>
            </a:r>
            <a:endParaRPr lang="en-US" sz="1400" dirty="0"/>
          </a:p>
        </p:txBody>
      </p:sp>
      <p:sp>
        <p:nvSpPr>
          <p:cNvPr id="15" name="Text 13"/>
          <p:cNvSpPr txBox="1"/>
          <p:nvPr/>
        </p:nvSpPr>
        <p:spPr>
          <a:xfrm>
            <a:off x="2743200" y="5257800"/>
            <a:ext cx="86868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Vendor forms and a part-number crosswalk that stop the mess at the source</a:t>
            </a:r>
            <a:endParaRPr lang="en-US" sz="1400" dirty="0"/>
          </a:p>
        </p:txBody>
      </p:sp>
      <p:sp>
        <p:nvSpPr>
          <p:cNvPr id="16" name="Text 14"/>
          <p:cNvSpPr txBox="1"/>
          <p:nvPr/>
        </p:nvSpPr>
        <p:spPr>
          <a:xfrm>
            <a:off x="548640" y="5989320"/>
            <a:ext cx="5486400" cy="320040"/>
          </a:xfrm>
          <a:prstGeom prst="rect">
            <a:avLst/>
          </a:prstGeom>
          <a:noFill/>
          <a:ln/>
        </p:spPr>
        <p:txBody>
          <a:bodyPr wrap="square" lIns="0" tIns="0" rIns="0" bIns="0" rtlCol="0" anchor="ctr"/>
          <a:lstStyle/>
          <a:p>
            <a:pPr indent="0" marL="0">
              <a:buNone/>
            </a:pPr>
            <a:r>
              <a:rPr lang="en-US" sz="1300" dirty="0">
                <a:solidFill>
                  <a:srgbClr val="9AA7B2"/>
                </a:solidFill>
                <a:latin typeface="Calibri" pitchFamily="34" charset="0"/>
                <a:ea typeface="Calibri" pitchFamily="34" charset="-122"/>
                <a:cs typeface="Calibri" pitchFamily="34" charset="-120"/>
              </a:rPr>
              <a:t>Smrita Pandey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Lisa acts on today, and who the plant calls first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a:t>
            </a:r>
            <a:endParaRPr lang="en-US" sz="900" dirty="0"/>
          </a:p>
        </p:txBody>
      </p:sp>
      <p:sp>
        <p:nvSpPr>
          <p:cNvPr id="5" name="Shape 3"/>
          <p:cNvSpPr/>
          <p:nvPr/>
        </p:nvSpPr>
        <p:spPr>
          <a:xfrm>
            <a:off x="548640" y="1508760"/>
            <a:ext cx="5364328" cy="4754880"/>
          </a:xfrm>
          <a:prstGeom prst="roundRect">
            <a:avLst>
              <a:gd name="adj" fmla="val 1538"/>
            </a:avLst>
          </a:prstGeom>
          <a:solidFill>
            <a:srgbClr val="EEF2F5"/>
          </a:solidFill>
          <a:ln w="12700">
            <a:solidFill>
              <a:srgbClr val="EEF2F5"/>
            </a:solidFill>
            <a:prstDash val="solid"/>
          </a:ln>
        </p:spPr>
      </p:sp>
      <p:sp>
        <p:nvSpPr>
          <p:cNvPr id="6" name="Text 4"/>
          <p:cNvSpPr txBox="1"/>
          <p:nvPr/>
        </p:nvSpPr>
        <p:spPr>
          <a:xfrm>
            <a:off x="822960" y="1691640"/>
            <a:ext cx="481568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LISA · TASK 1</a:t>
            </a:r>
            <a:endParaRPr lang="en-US" sz="1100" dirty="0"/>
          </a:p>
        </p:txBody>
      </p:sp>
      <p:sp>
        <p:nvSpPr>
          <p:cNvPr id="7" name="Text 5"/>
          <p:cNvSpPr txBox="1"/>
          <p:nvPr/>
        </p:nvSpPr>
        <p:spPr>
          <a:xfrm>
            <a:off x="822960" y="1965960"/>
            <a:ext cx="4815688" cy="411480"/>
          </a:xfrm>
          <a:prstGeom prst="rect">
            <a:avLst/>
          </a:prstGeom>
          <a:noFill/>
          <a:ln/>
        </p:spPr>
        <p:txBody>
          <a:bodyPr wrap="square" lIns="0" tIns="0" rIns="0" bIns="0" rtlCol="0" anchor="ctr"/>
          <a:lstStyle/>
          <a:p>
            <a:pPr indent="0" marL="0">
              <a:buNone/>
            </a:pPr>
            <a:r>
              <a:rPr lang="en-US" sz="2000" b="1" dirty="0">
                <a:solidFill>
                  <a:srgbClr val="1F2A33"/>
                </a:solidFill>
                <a:latin typeface="Cambria" pitchFamily="34" charset="0"/>
                <a:ea typeface="Cambria" pitchFamily="34" charset="-122"/>
                <a:cs typeface="Cambria" pitchFamily="34" charset="-120"/>
              </a:rPr>
              <a:t>PO Confirmation Control Tower</a:t>
            </a:r>
            <a:endParaRPr lang="en-US" sz="2000" dirty="0"/>
          </a:p>
        </p:txBody>
      </p:sp>
      <p:sp>
        <p:nvSpPr>
          <p:cNvPr id="8" name="Shape 6"/>
          <p:cNvSpPr/>
          <p:nvPr/>
        </p:nvSpPr>
        <p:spPr>
          <a:xfrm>
            <a:off x="6278728" y="1508760"/>
            <a:ext cx="5364328" cy="4754880"/>
          </a:xfrm>
          <a:prstGeom prst="roundRect">
            <a:avLst>
              <a:gd name="adj" fmla="val 1538"/>
            </a:avLst>
          </a:prstGeom>
          <a:solidFill>
            <a:srgbClr val="EEF2F5"/>
          </a:solidFill>
          <a:ln w="12700">
            <a:solidFill>
              <a:srgbClr val="EEF2F5"/>
            </a:solidFill>
            <a:prstDash val="solid"/>
          </a:ln>
        </p:spPr>
      </p:sp>
      <p:sp>
        <p:nvSpPr>
          <p:cNvPr id="9" name="Text 7"/>
          <p:cNvSpPr txBox="1"/>
          <p:nvPr/>
        </p:nvSpPr>
        <p:spPr>
          <a:xfrm>
            <a:off x="6553048" y="1691640"/>
            <a:ext cx="481568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PLANT MANAGER · TASK 2</a:t>
            </a:r>
            <a:endParaRPr lang="en-US" sz="1100" dirty="0"/>
          </a:p>
        </p:txBody>
      </p:sp>
      <p:sp>
        <p:nvSpPr>
          <p:cNvPr id="10" name="Text 8"/>
          <p:cNvSpPr txBox="1"/>
          <p:nvPr/>
        </p:nvSpPr>
        <p:spPr>
          <a:xfrm>
            <a:off x="6553048" y="1965960"/>
            <a:ext cx="4815688" cy="411480"/>
          </a:xfrm>
          <a:prstGeom prst="rect">
            <a:avLst/>
          </a:prstGeom>
          <a:noFill/>
          <a:ln/>
        </p:spPr>
        <p:txBody>
          <a:bodyPr wrap="square" lIns="0" tIns="0" rIns="0" bIns="0" rtlCol="0" anchor="ctr"/>
          <a:lstStyle/>
          <a:p>
            <a:pPr indent="0" marL="0">
              <a:buNone/>
            </a:pPr>
            <a:r>
              <a:rPr lang="en-US" sz="2000" b="1" dirty="0">
                <a:solidFill>
                  <a:srgbClr val="1F2A33"/>
                </a:solidFill>
                <a:latin typeface="Cambria" pitchFamily="34" charset="0"/>
                <a:ea typeface="Cambria" pitchFamily="34" charset="-122"/>
                <a:cs typeface="Cambria" pitchFamily="34" charset="-120"/>
              </a:rPr>
              <a:t>Vendor performance readout</a:t>
            </a:r>
            <a:endParaRPr lang="en-US" sz="2000" dirty="0"/>
          </a:p>
        </p:txBody>
      </p:sp>
      <p:sp>
        <p:nvSpPr>
          <p:cNvPr id="11" name="Text 9"/>
          <p:cNvSpPr txBox="1"/>
          <p:nvPr/>
        </p:nvSpPr>
        <p:spPr>
          <a:xfrm>
            <a:off x="822960" y="2560320"/>
            <a:ext cx="1605229" cy="594360"/>
          </a:xfrm>
          <a:prstGeom prst="rect">
            <a:avLst/>
          </a:prstGeom>
          <a:noFill/>
          <a:ln/>
        </p:spPr>
        <p:txBody>
          <a:bodyPr wrap="square" lIns="0" tIns="0" rIns="0" bIns="0" rtlCol="0" anchor="ctr"/>
          <a:lstStyle/>
          <a:p>
            <a:pPr indent="0" marL="0">
              <a:buNone/>
            </a:pPr>
            <a:r>
              <a:rPr lang="en-US" sz="2600" b="1" dirty="0">
                <a:solidFill>
                  <a:srgbClr val="1F2A33"/>
                </a:solidFill>
                <a:latin typeface="Cambria" pitchFamily="34" charset="0"/>
                <a:ea typeface="Cambria" pitchFamily="34" charset="-122"/>
                <a:cs typeface="Cambria" pitchFamily="34" charset="-120"/>
              </a:rPr>
              <a:t>84%</a:t>
            </a:r>
            <a:endParaRPr lang="en-US" sz="2600" dirty="0"/>
          </a:p>
        </p:txBody>
      </p:sp>
      <p:sp>
        <p:nvSpPr>
          <p:cNvPr id="12" name="Text 10"/>
          <p:cNvSpPr txBox="1"/>
          <p:nvPr/>
        </p:nvSpPr>
        <p:spPr>
          <a:xfrm>
            <a:off x="822960"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44 lines auto-matched at high confidence</a:t>
            </a:r>
            <a:endParaRPr lang="en-US" sz="1200" dirty="0"/>
          </a:p>
        </p:txBody>
      </p:sp>
      <p:sp>
        <p:nvSpPr>
          <p:cNvPr id="13" name="Text 11"/>
          <p:cNvSpPr txBox="1"/>
          <p:nvPr/>
        </p:nvSpPr>
        <p:spPr>
          <a:xfrm>
            <a:off x="2428189" y="2560320"/>
            <a:ext cx="1605229" cy="594360"/>
          </a:xfrm>
          <a:prstGeom prst="rect">
            <a:avLst/>
          </a:prstGeom>
          <a:noFill/>
          <a:ln/>
        </p:spPr>
        <p:txBody>
          <a:bodyPr wrap="square" lIns="0" tIns="0" rIns="0" bIns="0" rtlCol="0" anchor="ctr"/>
          <a:lstStyle/>
          <a:p>
            <a:pPr indent="0" marL="0">
              <a:buNone/>
            </a:pPr>
            <a:r>
              <a:rPr lang="en-US" sz="2600" b="1" dirty="0">
                <a:solidFill>
                  <a:srgbClr val="2E7D4F"/>
                </a:solidFill>
                <a:latin typeface="Cambria" pitchFamily="34" charset="0"/>
                <a:ea typeface="Cambria" pitchFamily="34" charset="-122"/>
                <a:cs typeface="Cambria" pitchFamily="34" charset="-120"/>
              </a:rPr>
              <a:t>22</a:t>
            </a:r>
            <a:endParaRPr lang="en-US" sz="2600" dirty="0"/>
          </a:p>
        </p:txBody>
      </p:sp>
      <p:sp>
        <p:nvSpPr>
          <p:cNvPr id="14" name="Text 12"/>
          <p:cNvSpPr txBox="1"/>
          <p:nvPr/>
        </p:nvSpPr>
        <p:spPr>
          <a:xfrm>
            <a:off x="2428189"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fully clean: Lisa never looks at them</a:t>
            </a:r>
            <a:endParaRPr lang="en-US" sz="1200" dirty="0"/>
          </a:p>
        </p:txBody>
      </p:sp>
      <p:sp>
        <p:nvSpPr>
          <p:cNvPr id="15" name="Text 13"/>
          <p:cNvSpPr txBox="1"/>
          <p:nvPr/>
        </p:nvSpPr>
        <p:spPr>
          <a:xfrm>
            <a:off x="4033418"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4033418"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items to act on today</a:t>
            </a:r>
            <a:endParaRPr lang="en-US" sz="1200" dirty="0"/>
          </a:p>
        </p:txBody>
      </p:sp>
      <p:sp>
        <p:nvSpPr>
          <p:cNvPr id="17" name="Text 15"/>
          <p:cNvSpPr txBox="1"/>
          <p:nvPr/>
        </p:nvSpPr>
        <p:spPr>
          <a:xfrm>
            <a:off x="822960" y="3886200"/>
            <a:ext cx="4815688" cy="219456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Silently dropped line: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Apex left PO-4500050001 line 2 (1,500 pcs) off its acknowledgment.</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Stray PO: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 confirmation arrived for PO-4500060619, which is not an open Beacon PO.</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Auditable: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every row traces to a source file and match method; uncertain matches go to review, never auto-accepted.</a:t>
            </a:r>
            <a:endParaRPr lang="en-US" sz="1300" dirty="0"/>
          </a:p>
        </p:txBody>
      </p:sp>
      <p:sp>
        <p:nvSpPr>
          <p:cNvPr id="18" name="Text 16"/>
          <p:cNvSpPr txBox="1"/>
          <p:nvPr/>
        </p:nvSpPr>
        <p:spPr>
          <a:xfrm>
            <a:off x="6553048"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42%</a:t>
            </a:r>
            <a:endParaRPr lang="en-US" sz="2600" dirty="0"/>
          </a:p>
        </p:txBody>
      </p:sp>
      <p:sp>
        <p:nvSpPr>
          <p:cNvPr id="19" name="Text 17"/>
          <p:cNvSpPr txBox="1"/>
          <p:nvPr/>
        </p:nvSpPr>
        <p:spPr>
          <a:xfrm>
            <a:off x="6553048"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Continental on time; other vendors 69-99%</a:t>
            </a:r>
            <a:endParaRPr lang="en-US" sz="1200" dirty="0"/>
          </a:p>
        </p:txBody>
      </p:sp>
      <p:sp>
        <p:nvSpPr>
          <p:cNvPr id="20" name="Text 18"/>
          <p:cNvSpPr txBox="1"/>
          <p:nvPr/>
        </p:nvSpPr>
        <p:spPr>
          <a:xfrm>
            <a:off x="8158277" y="2560320"/>
            <a:ext cx="1605229" cy="594360"/>
          </a:xfrm>
          <a:prstGeom prst="rect">
            <a:avLst/>
          </a:prstGeom>
          <a:noFill/>
          <a:ln/>
        </p:spPr>
        <p:txBody>
          <a:bodyPr wrap="square" lIns="0" tIns="0" rIns="0" bIns="0" rtlCol="0" anchor="ctr"/>
          <a:lstStyle/>
          <a:p>
            <a:pPr indent="0" marL="0">
              <a:buNone/>
            </a:pPr>
            <a:r>
              <a:rPr lang="en-US" sz="2600" b="1" dirty="0">
                <a:solidFill>
                  <a:srgbClr val="B83227"/>
                </a:solidFill>
                <a:latin typeface="Cambria" pitchFamily="34" charset="0"/>
                <a:ea typeface="Cambria" pitchFamily="34" charset="-122"/>
                <a:cs typeface="Cambria" pitchFamily="34" charset="-120"/>
              </a:rPr>
              <a:t>61/63</a:t>
            </a:r>
            <a:endParaRPr lang="en-US" sz="2600" dirty="0"/>
          </a:p>
        </p:txBody>
      </p:sp>
      <p:sp>
        <p:nvSpPr>
          <p:cNvPr id="21" name="Text 19"/>
          <p:cNvSpPr txBox="1"/>
          <p:nvPr/>
        </p:nvSpPr>
        <p:spPr>
          <a:xfrm>
            <a:off x="8158277"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the lines &gt;7 days late are Continental's</a:t>
            </a:r>
            <a:endParaRPr lang="en-US" sz="1200" dirty="0"/>
          </a:p>
        </p:txBody>
      </p:sp>
      <p:sp>
        <p:nvSpPr>
          <p:cNvPr id="22" name="Text 20"/>
          <p:cNvSpPr txBox="1"/>
          <p:nvPr/>
        </p:nvSpPr>
        <p:spPr>
          <a:xfrm>
            <a:off x="9763506" y="2560320"/>
            <a:ext cx="1605229" cy="594360"/>
          </a:xfrm>
          <a:prstGeom prst="rect">
            <a:avLst/>
          </a:prstGeom>
          <a:noFill/>
          <a:ln/>
        </p:spPr>
        <p:txBody>
          <a:bodyPr wrap="square" lIns="0" tIns="0" rIns="0" bIns="0" rtlCol="0" anchor="ctr"/>
          <a:lstStyle/>
          <a:p>
            <a:pPr indent="0" marL="0">
              <a:buNone/>
            </a:pPr>
            <a:r>
              <a:rPr lang="en-US" sz="2600" b="1" dirty="0">
                <a:solidFill>
                  <a:srgbClr val="C98A06"/>
                </a:solidFill>
                <a:latin typeface="Cambria" pitchFamily="34" charset="0"/>
                <a:ea typeface="Cambria" pitchFamily="34" charset="-122"/>
                <a:cs typeface="Cambria" pitchFamily="34" charset="-120"/>
              </a:rPr>
              <a:t>$1.84M</a:t>
            </a:r>
            <a:endParaRPr lang="en-US" sz="2600" dirty="0"/>
          </a:p>
        </p:txBody>
      </p:sp>
      <p:sp>
        <p:nvSpPr>
          <p:cNvPr id="23" name="Text 21"/>
          <p:cNvSpPr txBox="1"/>
          <p:nvPr/>
        </p:nvSpPr>
        <p:spPr>
          <a:xfrm>
            <a:off x="9763506" y="3163824"/>
            <a:ext cx="1422349"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due in 14 days, not acknowledged</a:t>
            </a:r>
            <a:endParaRPr lang="en-US" sz="1200" dirty="0"/>
          </a:p>
        </p:txBody>
      </p:sp>
      <p:sp>
        <p:nvSpPr>
          <p:cNvPr id="24" name="Text 22"/>
          <p:cNvSpPr txBox="1"/>
          <p:nvPr/>
        </p:nvSpPr>
        <p:spPr>
          <a:xfrm>
            <a:off x="6553048" y="3886200"/>
            <a:ext cx="4815688" cy="219456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Call Continental first.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Late most often, by the most, not improving; part of it is our 19-day plan vs their 28-day quote.</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Call Apex second, commercially.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85% of spend; CRES bar 1-2% over PO since Feb; $77k short-shipped balances open.</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Looking ahead: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 backtested watch list for the next 60 days of open orders.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WHAT I HEARD</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Three decisions behind the case, and what I built for each</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3</a:t>
            </a:r>
            <a:endParaRPr lang="en-US" sz="900" dirty="0"/>
          </a:p>
        </p:txBody>
      </p:sp>
      <p:sp>
        <p:nvSpPr>
          <p:cNvPr id="5" name="Shape 3"/>
          <p:cNvSpPr/>
          <p:nvPr/>
        </p:nvSpPr>
        <p:spPr>
          <a:xfrm>
            <a:off x="548640" y="1463040"/>
            <a:ext cx="3515258" cy="4800600"/>
          </a:xfrm>
          <a:prstGeom prst="roundRect">
            <a:avLst>
              <a:gd name="adj" fmla="val 2081"/>
            </a:avLst>
          </a:prstGeom>
          <a:solidFill>
            <a:srgbClr val="EEF2F5"/>
          </a:solidFill>
          <a:ln w="12700">
            <a:solidFill>
              <a:srgbClr val="EEF2F5"/>
            </a:solidFill>
            <a:prstDash val="solid"/>
          </a:ln>
        </p:spPr>
      </p:sp>
      <p:sp>
        <p:nvSpPr>
          <p:cNvPr id="6" name="Text 4"/>
          <p:cNvSpPr txBox="1"/>
          <p:nvPr/>
        </p:nvSpPr>
        <p:spPr>
          <a:xfrm>
            <a:off x="777240" y="1600200"/>
            <a:ext cx="305805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LISA, SENIOR BUYER</a:t>
            </a:r>
            <a:endParaRPr lang="en-US" sz="1100" dirty="0"/>
          </a:p>
        </p:txBody>
      </p:sp>
      <p:sp>
        <p:nvSpPr>
          <p:cNvPr id="7" name="Text 5"/>
          <p:cNvSpPr txBox="1"/>
          <p:nvPr/>
        </p:nvSpPr>
        <p:spPr>
          <a:xfrm>
            <a:off x="777240" y="1901952"/>
            <a:ext cx="3058058" cy="777240"/>
          </a:xfrm>
          <a:prstGeom prst="rect">
            <a:avLst/>
          </a:prstGeom>
          <a:noFill/>
          <a:ln/>
        </p:spPr>
        <p:txBody>
          <a:bodyPr wrap="square" lIns="0" tIns="0" rIns="0" bIns="0" rtlCol="0" anchor="t"/>
          <a:lstStyle/>
          <a:p>
            <a:pPr indent="0" marL="0">
              <a:buNone/>
            </a:pPr>
            <a:r>
              <a:rPr lang="en-US" sz="1600" b="1" dirty="0">
                <a:solidFill>
                  <a:srgbClr val="1F2A33"/>
                </a:solidFill>
                <a:latin typeface="Cambria" pitchFamily="34" charset="0"/>
                <a:ea typeface="Cambria" pitchFamily="34" charset="-122"/>
                <a:cs typeface="Cambria" pitchFamily="34" charset="-120"/>
              </a:rPr>
              <a:t>"Which PO lines need me today, and what do I do?"</a:t>
            </a:r>
            <a:endParaRPr lang="en-US" sz="1600" dirty="0"/>
          </a:p>
        </p:txBody>
      </p:sp>
      <p:sp>
        <p:nvSpPr>
          <p:cNvPr id="8" name="Text 6"/>
          <p:cNvSpPr txBox="1"/>
          <p:nvPr/>
        </p:nvSpPr>
        <p:spPr>
          <a:xfrm>
            <a:off x="777240" y="2743200"/>
            <a:ext cx="3058058" cy="1097280"/>
          </a:xfrm>
          <a:prstGeom prst="rect">
            <a:avLst/>
          </a:prstGeom>
          <a:noFill/>
          <a:ln/>
        </p:spPr>
        <p:txBody>
          <a:bodyPr wrap="square" lIns="0" tIns="0" rIns="0" bIns="0" rtlCol="0" anchor="t"/>
          <a:lstStyle/>
          <a:p>
            <a:pPr indent="0" marL="0">
              <a:buNone/>
            </a:pPr>
            <a:r>
              <a:rPr lang="en-US" sz="1250" b="1" dirty="0">
                <a:solidFill>
                  <a:srgbClr val="7D8B97"/>
                </a:solidFill>
                <a:latin typeface="Calibri" pitchFamily="34" charset="0"/>
                <a:ea typeface="Calibri" pitchFamily="34" charset="-122"/>
                <a:cs typeface="Calibri" pitchFamily="34" charset="-120"/>
              </a:rPr>
              <a:t>Today  </a:t>
            </a:r>
            <a:pPr indent="0" marL="0">
              <a:buNone/>
            </a:pPr>
            <a:r>
              <a:rPr lang="en-US" sz="1250" dirty="0">
                <a:solidFill>
                  <a:srgbClr val="1F2A33"/>
                </a:solidFill>
                <a:latin typeface="Calibri" pitchFamily="34" charset="0"/>
                <a:ea typeface="Calibri" pitchFamily="34" charset="-122"/>
                <a:cs typeface="Calibri" pitchFamily="34" charset="-120"/>
              </a:rPr>
              <a:t>~90 min a day reading ~35 PDFs against ~50 open POs: clean ERP output, scans, one German, one vendor with its own part numbers.</a:t>
            </a:r>
            <a:endParaRPr lang="en-US" sz="1250" dirty="0"/>
          </a:p>
        </p:txBody>
      </p:sp>
      <p:sp>
        <p:nvSpPr>
          <p:cNvPr id="9" name="Text 7"/>
          <p:cNvSpPr txBox="1"/>
          <p:nvPr/>
        </p:nvSpPr>
        <p:spPr>
          <a:xfrm>
            <a:off x="777240" y="3886200"/>
            <a:ext cx="3058058" cy="1051560"/>
          </a:xfrm>
          <a:prstGeom prst="rect">
            <a:avLst/>
          </a:prstGeom>
          <a:noFill/>
          <a:ln/>
        </p:spPr>
        <p:txBody>
          <a:bodyPr wrap="square" lIns="0" tIns="0" rIns="0" bIns="0" rtlCol="0" anchor="t"/>
          <a:lstStyle/>
          <a:p>
            <a:pPr indent="0" marL="0">
              <a:buNone/>
            </a:pPr>
            <a:r>
              <a:rPr lang="en-US" sz="1250" b="1" dirty="0">
                <a:solidFill>
                  <a:srgbClr val="7D8B97"/>
                </a:solidFill>
                <a:latin typeface="Calibri" pitchFamily="34" charset="0"/>
                <a:ea typeface="Calibri" pitchFamily="34" charset="-122"/>
                <a:cs typeface="Calibri" pitchFamily="34" charset="-120"/>
              </a:rPr>
              <a:t>Cost of a miss  </a:t>
            </a:r>
            <a:pPr indent="0" marL="0">
              <a:buNone/>
            </a:pPr>
            <a:r>
              <a:rPr lang="en-US" sz="1250" dirty="0">
                <a:solidFill>
                  <a:srgbClr val="1F2A33"/>
                </a:solidFill>
                <a:latin typeface="Calibri" pitchFamily="34" charset="0"/>
                <a:ea typeface="Calibri" pitchFamily="34" charset="-122"/>
                <a:cs typeface="Calibri" pitchFamily="34" charset="-120"/>
              </a:rPr>
              <a:t>Misses become receiving shorts, AP fights and customer expedites. The hardest one is a line that is simply not there.</a:t>
            </a:r>
            <a:endParaRPr lang="en-US" sz="1250" dirty="0"/>
          </a:p>
        </p:txBody>
      </p:sp>
      <p:sp>
        <p:nvSpPr>
          <p:cNvPr id="10" name="Shape 8"/>
          <p:cNvSpPr/>
          <p:nvPr/>
        </p:nvSpPr>
        <p:spPr>
          <a:xfrm>
            <a:off x="731520" y="5120640"/>
            <a:ext cx="3149498" cy="914400"/>
          </a:xfrm>
          <a:prstGeom prst="roundRect">
            <a:avLst>
              <a:gd name="adj" fmla="val 6000"/>
            </a:avLst>
          </a:prstGeom>
          <a:solidFill>
            <a:srgbClr val="FFFFFF"/>
          </a:solidFill>
          <a:ln w="12700">
            <a:solidFill>
              <a:srgbClr val="D5DCE2"/>
            </a:solidFill>
            <a:prstDash val="solid"/>
          </a:ln>
        </p:spPr>
      </p:sp>
      <p:sp>
        <p:nvSpPr>
          <p:cNvPr id="11" name="Text 9"/>
          <p:cNvSpPr txBox="1"/>
          <p:nvPr/>
        </p:nvSpPr>
        <p:spPr>
          <a:xfrm>
            <a:off x="868680" y="5120640"/>
            <a:ext cx="2875178" cy="914400"/>
          </a:xfrm>
          <a:prstGeom prst="rect">
            <a:avLst/>
          </a:prstGeom>
          <a:noFill/>
          <a:ln/>
        </p:spPr>
        <p:txBody>
          <a:bodyPr wrap="square" lIns="0" tIns="0" rIns="0" bIns="0" rtlCol="0" anchor="ctr"/>
          <a:lstStyle/>
          <a:p>
            <a:pPr indent="0" marL="0">
              <a:buNone/>
            </a:pPr>
            <a:r>
              <a:rPr lang="en-US" sz="1300" b="1" dirty="0">
                <a:solidFill>
                  <a:srgbClr val="D9622B"/>
                </a:solidFill>
                <a:latin typeface="Calibri" pitchFamily="34" charset="0"/>
                <a:ea typeface="Calibri" pitchFamily="34" charset="-122"/>
                <a:cs typeface="Calibri" pitchFamily="34" charset="-120"/>
              </a:rPr>
              <a:t>Built  </a:t>
            </a:r>
            <a:pPr indent="0" marL="0">
              <a:buNone/>
            </a:pPr>
            <a:r>
              <a:rPr lang="en-US" sz="1300" b="1" dirty="0">
                <a:solidFill>
                  <a:srgbClr val="1F2A33"/>
                </a:solidFill>
                <a:latin typeface="Calibri" pitchFamily="34" charset="0"/>
                <a:ea typeface="Calibri" pitchFamily="34" charset="-122"/>
                <a:cs typeface="Calibri" pitchFamily="34" charset="-120"/>
              </a:rPr>
              <a:t>A worst-first action queue in Excel, with memory</a:t>
            </a:r>
            <a:endParaRPr lang="en-US" sz="1300" dirty="0"/>
          </a:p>
        </p:txBody>
      </p:sp>
      <p:sp>
        <p:nvSpPr>
          <p:cNvPr id="12" name="Shape 10"/>
          <p:cNvSpPr/>
          <p:nvPr/>
        </p:nvSpPr>
        <p:spPr>
          <a:xfrm>
            <a:off x="4338218" y="1463040"/>
            <a:ext cx="3515258" cy="4800600"/>
          </a:xfrm>
          <a:prstGeom prst="roundRect">
            <a:avLst>
              <a:gd name="adj" fmla="val 2081"/>
            </a:avLst>
          </a:prstGeom>
          <a:solidFill>
            <a:srgbClr val="EEF2F5"/>
          </a:solidFill>
          <a:ln w="12700">
            <a:solidFill>
              <a:srgbClr val="EEF2F5"/>
            </a:solidFill>
            <a:prstDash val="solid"/>
          </a:ln>
        </p:spPr>
      </p:sp>
      <p:sp>
        <p:nvSpPr>
          <p:cNvPr id="13" name="Text 11"/>
          <p:cNvSpPr txBox="1"/>
          <p:nvPr/>
        </p:nvSpPr>
        <p:spPr>
          <a:xfrm>
            <a:off x="4566818" y="1600200"/>
            <a:ext cx="305805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PLANT MANAGER</a:t>
            </a:r>
            <a:endParaRPr lang="en-US" sz="1100" dirty="0"/>
          </a:p>
        </p:txBody>
      </p:sp>
      <p:sp>
        <p:nvSpPr>
          <p:cNvPr id="14" name="Text 12"/>
          <p:cNvSpPr txBox="1"/>
          <p:nvPr/>
        </p:nvSpPr>
        <p:spPr>
          <a:xfrm>
            <a:off x="4566818" y="1901952"/>
            <a:ext cx="3058058" cy="777240"/>
          </a:xfrm>
          <a:prstGeom prst="rect">
            <a:avLst/>
          </a:prstGeom>
          <a:noFill/>
          <a:ln/>
        </p:spPr>
        <p:txBody>
          <a:bodyPr wrap="square" lIns="0" tIns="0" rIns="0" bIns="0" rtlCol="0" anchor="t"/>
          <a:lstStyle/>
          <a:p>
            <a:pPr indent="0" marL="0">
              <a:buNone/>
            </a:pPr>
            <a:r>
              <a:rPr lang="en-US" sz="1600" b="1" dirty="0">
                <a:solidFill>
                  <a:srgbClr val="1F2A33"/>
                </a:solidFill>
                <a:latin typeface="Cambria" pitchFamily="34" charset="0"/>
                <a:ea typeface="Cambria" pitchFamily="34" charset="-122"/>
                <a:cs typeface="Cambria" pitchFamily="34" charset="-120"/>
              </a:rPr>
              <a:t>"Which supplier do I call first, and why?"</a:t>
            </a:r>
            <a:endParaRPr lang="en-US" sz="1600" dirty="0"/>
          </a:p>
        </p:txBody>
      </p:sp>
      <p:sp>
        <p:nvSpPr>
          <p:cNvPr id="15" name="Text 13"/>
          <p:cNvSpPr txBox="1"/>
          <p:nvPr/>
        </p:nvSpPr>
        <p:spPr>
          <a:xfrm>
            <a:off x="4566818" y="2743200"/>
            <a:ext cx="3058058" cy="1097280"/>
          </a:xfrm>
          <a:prstGeom prst="rect">
            <a:avLst/>
          </a:prstGeom>
          <a:noFill/>
          <a:ln/>
        </p:spPr>
        <p:txBody>
          <a:bodyPr wrap="square" lIns="0" tIns="0" rIns="0" bIns="0" rtlCol="0" anchor="t"/>
          <a:lstStyle/>
          <a:p>
            <a:pPr indent="0" marL="0">
              <a:buNone/>
            </a:pPr>
            <a:r>
              <a:rPr lang="en-US" sz="1250" b="1" dirty="0">
                <a:solidFill>
                  <a:srgbClr val="7D8B97"/>
                </a:solidFill>
                <a:latin typeface="Calibri" pitchFamily="34" charset="0"/>
                <a:ea typeface="Calibri" pitchFamily="34" charset="-122"/>
                <a:cs typeface="Calibri" pitchFamily="34" charset="-120"/>
              </a:rPr>
              <a:t>Today  </a:t>
            </a:r>
            <a:pPr indent="0" marL="0">
              <a:buNone/>
            </a:pPr>
            <a:r>
              <a:rPr lang="en-US" sz="1250" dirty="0">
                <a:solidFill>
                  <a:srgbClr val="1F2A33"/>
                </a:solidFill>
                <a:latin typeface="Calibri" pitchFamily="34" charset="0"/>
                <a:ea typeface="Calibri" pitchFamily="34" charset="-122"/>
                <a:cs typeface="Calibri" pitchFamily="34" charset="-120"/>
              </a:rPr>
              <a:t>8 months of ERP history nobody has analysed; vendor decisions run on anecdote.</a:t>
            </a:r>
            <a:endParaRPr lang="en-US" sz="1250" dirty="0"/>
          </a:p>
        </p:txBody>
      </p:sp>
      <p:sp>
        <p:nvSpPr>
          <p:cNvPr id="16" name="Text 14"/>
          <p:cNvSpPr txBox="1"/>
          <p:nvPr/>
        </p:nvSpPr>
        <p:spPr>
          <a:xfrm>
            <a:off x="4566818" y="3886200"/>
            <a:ext cx="3058058" cy="1051560"/>
          </a:xfrm>
          <a:prstGeom prst="rect">
            <a:avLst/>
          </a:prstGeom>
          <a:noFill/>
          <a:ln/>
        </p:spPr>
        <p:txBody>
          <a:bodyPr wrap="square" lIns="0" tIns="0" rIns="0" bIns="0" rtlCol="0" anchor="t"/>
          <a:lstStyle/>
          <a:p>
            <a:pPr indent="0" marL="0">
              <a:buNone/>
            </a:pPr>
            <a:r>
              <a:rPr lang="en-US" sz="1250" b="1" dirty="0">
                <a:solidFill>
                  <a:srgbClr val="7D8B97"/>
                </a:solidFill>
                <a:latin typeface="Calibri" pitchFamily="34" charset="0"/>
                <a:ea typeface="Calibri" pitchFamily="34" charset="-122"/>
                <a:cs typeface="Calibri" pitchFamily="34" charset="-120"/>
              </a:rPr>
              <a:t>Cost of a miss  </a:t>
            </a:r>
            <a:pPr indent="0" marL="0">
              <a:buNone/>
            </a:pPr>
            <a:r>
              <a:rPr lang="en-US" sz="1250" dirty="0">
                <a:solidFill>
                  <a:srgbClr val="1F2A33"/>
                </a:solidFill>
                <a:latin typeface="Calibri" pitchFamily="34" charset="0"/>
                <a:ea typeface="Calibri" pitchFamily="34" charset="-122"/>
                <a:cs typeface="Calibri" pitchFamily="34" charset="-120"/>
              </a:rPr>
              <a:t>The wrong vendor gets the call, and a cause that is partly ours (planning lead times) stays hidden.</a:t>
            </a:r>
            <a:endParaRPr lang="en-US" sz="1250" dirty="0"/>
          </a:p>
        </p:txBody>
      </p:sp>
      <p:sp>
        <p:nvSpPr>
          <p:cNvPr id="17" name="Shape 15"/>
          <p:cNvSpPr/>
          <p:nvPr/>
        </p:nvSpPr>
        <p:spPr>
          <a:xfrm>
            <a:off x="4521098" y="5120640"/>
            <a:ext cx="3149498" cy="914400"/>
          </a:xfrm>
          <a:prstGeom prst="roundRect">
            <a:avLst>
              <a:gd name="adj" fmla="val 6000"/>
            </a:avLst>
          </a:prstGeom>
          <a:solidFill>
            <a:srgbClr val="FFFFFF"/>
          </a:solidFill>
          <a:ln w="12700">
            <a:solidFill>
              <a:srgbClr val="D5DCE2"/>
            </a:solidFill>
            <a:prstDash val="solid"/>
          </a:ln>
        </p:spPr>
      </p:sp>
      <p:sp>
        <p:nvSpPr>
          <p:cNvPr id="18" name="Text 16"/>
          <p:cNvSpPr txBox="1"/>
          <p:nvPr/>
        </p:nvSpPr>
        <p:spPr>
          <a:xfrm>
            <a:off x="4658258" y="5120640"/>
            <a:ext cx="2875178" cy="914400"/>
          </a:xfrm>
          <a:prstGeom prst="rect">
            <a:avLst/>
          </a:prstGeom>
          <a:noFill/>
          <a:ln/>
        </p:spPr>
        <p:txBody>
          <a:bodyPr wrap="square" lIns="0" tIns="0" rIns="0" bIns="0" rtlCol="0" anchor="ctr"/>
          <a:lstStyle/>
          <a:p>
            <a:pPr indent="0" marL="0">
              <a:buNone/>
            </a:pPr>
            <a:r>
              <a:rPr lang="en-US" sz="1300" b="1" dirty="0">
                <a:solidFill>
                  <a:srgbClr val="D9622B"/>
                </a:solidFill>
                <a:latin typeface="Calibri" pitchFamily="34" charset="0"/>
                <a:ea typeface="Calibri" pitchFamily="34" charset="-122"/>
                <a:cs typeface="Calibri" pitchFamily="34" charset="-120"/>
              </a:rPr>
              <a:t>Built  </a:t>
            </a:r>
            <a:pPr indent="0" marL="0">
              <a:buNone/>
            </a:pPr>
            <a:r>
              <a:rPr lang="en-US" sz="1300" b="1" dirty="0">
                <a:solidFill>
                  <a:srgbClr val="1F2A33"/>
                </a:solidFill>
                <a:latin typeface="Calibri" pitchFamily="34" charset="0"/>
                <a:ea typeface="Calibri" pitchFamily="34" charset="-122"/>
                <a:cs typeface="Calibri" pitchFamily="34" charset="-120"/>
              </a:rPr>
              <a:t>A readout with one answer, the evidence and the denominators</a:t>
            </a:r>
            <a:endParaRPr lang="en-US" sz="1300" dirty="0"/>
          </a:p>
        </p:txBody>
      </p:sp>
      <p:sp>
        <p:nvSpPr>
          <p:cNvPr id="19" name="Shape 17"/>
          <p:cNvSpPr/>
          <p:nvPr/>
        </p:nvSpPr>
        <p:spPr>
          <a:xfrm>
            <a:off x="8127797" y="1463040"/>
            <a:ext cx="3515258" cy="4800600"/>
          </a:xfrm>
          <a:prstGeom prst="roundRect">
            <a:avLst>
              <a:gd name="adj" fmla="val 2081"/>
            </a:avLst>
          </a:prstGeom>
          <a:solidFill>
            <a:srgbClr val="EEF2F5"/>
          </a:solidFill>
          <a:ln w="12700">
            <a:solidFill>
              <a:srgbClr val="EEF2F5"/>
            </a:solidFill>
            <a:prstDash val="solid"/>
          </a:ln>
        </p:spPr>
      </p:sp>
      <p:sp>
        <p:nvSpPr>
          <p:cNvPr id="20" name="Text 18"/>
          <p:cNvSpPr txBox="1"/>
          <p:nvPr/>
        </p:nvSpPr>
        <p:spPr>
          <a:xfrm>
            <a:off x="8356397" y="1600200"/>
            <a:ext cx="3058058" cy="274320"/>
          </a:xfrm>
          <a:prstGeom prst="rect">
            <a:avLst/>
          </a:prstGeom>
          <a:noFill/>
          <a:ln/>
        </p:spPr>
        <p:txBody>
          <a:bodyPr wrap="square" lIns="0" tIns="0" rIns="0" bIns="0" rtlCol="0" anchor="ctr"/>
          <a:lstStyle/>
          <a:p>
            <a:pPr indent="0" marL="0">
              <a:buNone/>
            </a:pPr>
            <a:r>
              <a:rPr lang="en-US" sz="1100" b="1" spc="200" kern="0" dirty="0">
                <a:solidFill>
                  <a:srgbClr val="D9622B"/>
                </a:solidFill>
                <a:latin typeface="Calibri" pitchFamily="34" charset="0"/>
                <a:ea typeface="Calibri" pitchFamily="34" charset="-122"/>
                <a:cs typeface="Calibri" pitchFamily="34" charset="-120"/>
              </a:rPr>
              <a:t>BEACON</a:t>
            </a:r>
            <a:endParaRPr lang="en-US" sz="1100" dirty="0"/>
          </a:p>
        </p:txBody>
      </p:sp>
      <p:sp>
        <p:nvSpPr>
          <p:cNvPr id="21" name="Text 19"/>
          <p:cNvSpPr txBox="1"/>
          <p:nvPr/>
        </p:nvSpPr>
        <p:spPr>
          <a:xfrm>
            <a:off x="8356397" y="1901952"/>
            <a:ext cx="3058058" cy="777240"/>
          </a:xfrm>
          <a:prstGeom prst="rect">
            <a:avLst/>
          </a:prstGeom>
          <a:noFill/>
          <a:ln/>
        </p:spPr>
        <p:txBody>
          <a:bodyPr wrap="square" lIns="0" tIns="0" rIns="0" bIns="0" rtlCol="0" anchor="t"/>
          <a:lstStyle/>
          <a:p>
            <a:pPr indent="0" marL="0">
              <a:buNone/>
            </a:pPr>
            <a:r>
              <a:rPr lang="en-US" sz="1600" b="1" dirty="0">
                <a:solidFill>
                  <a:srgbClr val="1F2A33"/>
                </a:solidFill>
                <a:latin typeface="Cambria" pitchFamily="34" charset="0"/>
                <a:ea typeface="Cambria" pitchFamily="34" charset="-122"/>
                <a:cs typeface="Cambria" pitchFamily="34" charset="-120"/>
              </a:rPr>
              <a:t>"How do we stop this recurring?"</a:t>
            </a:r>
            <a:endParaRPr lang="en-US" sz="1600" dirty="0"/>
          </a:p>
        </p:txBody>
      </p:sp>
      <p:sp>
        <p:nvSpPr>
          <p:cNvPr id="22" name="Text 20"/>
          <p:cNvSpPr txBox="1"/>
          <p:nvPr/>
        </p:nvSpPr>
        <p:spPr>
          <a:xfrm>
            <a:off x="8356397" y="2743200"/>
            <a:ext cx="3058058" cy="1097280"/>
          </a:xfrm>
          <a:prstGeom prst="rect">
            <a:avLst/>
          </a:prstGeom>
          <a:noFill/>
          <a:ln/>
        </p:spPr>
        <p:txBody>
          <a:bodyPr wrap="square" lIns="0" tIns="0" rIns="0" bIns="0" rtlCol="0" anchor="t"/>
          <a:lstStyle/>
          <a:p>
            <a:pPr indent="0" marL="0">
              <a:buNone/>
            </a:pPr>
            <a:r>
              <a:rPr lang="en-US" sz="1250" b="1" dirty="0">
                <a:solidFill>
                  <a:srgbClr val="7D8B97"/>
                </a:solidFill>
                <a:latin typeface="Calibri" pitchFamily="34" charset="0"/>
                <a:ea typeface="Calibri" pitchFamily="34" charset="-122"/>
                <a:cs typeface="Calibri" pitchFamily="34" charset="-120"/>
              </a:rPr>
              <a:t>Today  </a:t>
            </a:r>
            <a:pPr indent="0" marL="0">
              <a:buNone/>
            </a:pPr>
            <a:r>
              <a:rPr lang="en-US" sz="1250" dirty="0">
                <a:solidFill>
                  <a:srgbClr val="1F2A33"/>
                </a:solidFill>
                <a:latin typeface="Calibri" pitchFamily="34" charset="0"/>
                <a:ea typeface="Calibri" pitchFamily="34" charset="-122"/>
                <a:cs typeface="Calibri" pitchFamily="34" charset="-120"/>
              </a:rPr>
              <a:t>Every vendor sends its own layout and part numbers; nothing is captured in a structured way.</a:t>
            </a:r>
            <a:endParaRPr lang="en-US" sz="1250" dirty="0"/>
          </a:p>
        </p:txBody>
      </p:sp>
      <p:sp>
        <p:nvSpPr>
          <p:cNvPr id="23" name="Text 21"/>
          <p:cNvSpPr txBox="1"/>
          <p:nvPr/>
        </p:nvSpPr>
        <p:spPr>
          <a:xfrm>
            <a:off x="8356397" y="3886200"/>
            <a:ext cx="3058058" cy="1051560"/>
          </a:xfrm>
          <a:prstGeom prst="rect">
            <a:avLst/>
          </a:prstGeom>
          <a:noFill/>
          <a:ln/>
        </p:spPr>
        <p:txBody>
          <a:bodyPr wrap="square" lIns="0" tIns="0" rIns="0" bIns="0" rtlCol="0" anchor="t"/>
          <a:lstStyle/>
          <a:p>
            <a:pPr indent="0" marL="0">
              <a:buNone/>
            </a:pPr>
            <a:r>
              <a:rPr lang="en-US" sz="1250" b="1" dirty="0">
                <a:solidFill>
                  <a:srgbClr val="7D8B97"/>
                </a:solidFill>
                <a:latin typeface="Calibri" pitchFamily="34" charset="0"/>
                <a:ea typeface="Calibri" pitchFamily="34" charset="-122"/>
                <a:cs typeface="Calibri" pitchFamily="34" charset="-120"/>
              </a:rPr>
              <a:t>Cost of a miss  </a:t>
            </a:r>
            <a:pPr indent="0" marL="0">
              <a:buNone/>
            </a:pPr>
            <a:r>
              <a:rPr lang="en-US" sz="1250" dirty="0">
                <a:solidFill>
                  <a:srgbClr val="1F2A33"/>
                </a:solidFill>
                <a:latin typeface="Calibri" pitchFamily="34" charset="0"/>
                <a:ea typeface="Calibri" pitchFamily="34" charset="-122"/>
                <a:cs typeface="Calibri" pitchFamily="34" charset="-120"/>
              </a:rPr>
              <a:t>The same reconciliation is repeated every day, and the part-number mess grows.</a:t>
            </a:r>
            <a:endParaRPr lang="en-US" sz="1250" dirty="0"/>
          </a:p>
        </p:txBody>
      </p:sp>
      <p:sp>
        <p:nvSpPr>
          <p:cNvPr id="24" name="Shape 22"/>
          <p:cNvSpPr/>
          <p:nvPr/>
        </p:nvSpPr>
        <p:spPr>
          <a:xfrm>
            <a:off x="8310677" y="5120640"/>
            <a:ext cx="3149498" cy="914400"/>
          </a:xfrm>
          <a:prstGeom prst="roundRect">
            <a:avLst>
              <a:gd name="adj" fmla="val 6000"/>
            </a:avLst>
          </a:prstGeom>
          <a:solidFill>
            <a:srgbClr val="FFFFFF"/>
          </a:solidFill>
          <a:ln w="12700">
            <a:solidFill>
              <a:srgbClr val="D5DCE2"/>
            </a:solidFill>
            <a:prstDash val="solid"/>
          </a:ln>
        </p:spPr>
      </p:sp>
      <p:sp>
        <p:nvSpPr>
          <p:cNvPr id="25" name="Text 23"/>
          <p:cNvSpPr txBox="1"/>
          <p:nvPr/>
        </p:nvSpPr>
        <p:spPr>
          <a:xfrm>
            <a:off x="8447837" y="5120640"/>
            <a:ext cx="2875178" cy="914400"/>
          </a:xfrm>
          <a:prstGeom prst="rect">
            <a:avLst/>
          </a:prstGeom>
          <a:noFill/>
          <a:ln/>
        </p:spPr>
        <p:txBody>
          <a:bodyPr wrap="square" lIns="0" tIns="0" rIns="0" bIns="0" rtlCol="0" anchor="ctr"/>
          <a:lstStyle/>
          <a:p>
            <a:pPr indent="0" marL="0">
              <a:buNone/>
            </a:pPr>
            <a:r>
              <a:rPr lang="en-US" sz="1300" b="1" dirty="0">
                <a:solidFill>
                  <a:srgbClr val="D9622B"/>
                </a:solidFill>
                <a:latin typeface="Calibri" pitchFamily="34" charset="0"/>
                <a:ea typeface="Calibri" pitchFamily="34" charset="-122"/>
                <a:cs typeface="Calibri" pitchFamily="34" charset="-120"/>
              </a:rPr>
              <a:t>Built  </a:t>
            </a:r>
            <a:pPr indent="0" marL="0">
              <a:buNone/>
            </a:pPr>
            <a:r>
              <a:rPr lang="en-US" sz="1300" b="1" dirty="0">
                <a:solidFill>
                  <a:srgbClr val="1F2A33"/>
                </a:solidFill>
                <a:latin typeface="Calibri" pitchFamily="34" charset="0"/>
                <a:ea typeface="Calibri" pitchFamily="34" charset="-122"/>
                <a:cs typeface="Calibri" pitchFamily="34" charset="-120"/>
              </a:rPr>
              <a:t>Vendor forms plus a governed part-number crosswalk</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APPROACH · HOW I SPLIT THE TIME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Riskiest first: the data, then Task 1 end to end, then Task 2</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4</a:t>
            </a:r>
            <a:endParaRPr lang="en-US" sz="900" dirty="0"/>
          </a:p>
        </p:txBody>
      </p:sp>
      <p:sp>
        <p:nvSpPr>
          <p:cNvPr id="5" name="Text 3"/>
          <p:cNvSpPr txBox="1"/>
          <p:nvPr/>
        </p:nvSpPr>
        <p:spPr>
          <a:xfrm>
            <a:off x="1097280" y="1463040"/>
            <a:ext cx="2377440" cy="274320"/>
          </a:xfrm>
          <a:prstGeom prst="rect">
            <a:avLst/>
          </a:prstGeom>
          <a:noFill/>
          <a:ln/>
        </p:spPr>
        <p:txBody>
          <a:bodyPr wrap="square" lIns="0" tIns="0" rIns="0" bIns="0" rtlCol="0" anchor="ctr"/>
          <a:lstStyle/>
          <a:p>
            <a:pPr indent="0" marL="0">
              <a:buNone/>
            </a:pPr>
            <a:r>
              <a:rPr lang="en-US" sz="1100" b="1" dirty="0">
                <a:solidFill>
                  <a:srgbClr val="7D8B97"/>
                </a:solidFill>
                <a:latin typeface="Calibri" pitchFamily="34" charset="0"/>
                <a:ea typeface="Calibri" pitchFamily="34" charset="-122"/>
                <a:cs typeface="Calibri" pitchFamily="34" charset="-120"/>
              </a:rPr>
              <a:t>What</a:t>
            </a:r>
            <a:endParaRPr lang="en-US" sz="1100" dirty="0"/>
          </a:p>
        </p:txBody>
      </p:sp>
      <p:sp>
        <p:nvSpPr>
          <p:cNvPr id="6" name="Text 4"/>
          <p:cNvSpPr txBox="1"/>
          <p:nvPr/>
        </p:nvSpPr>
        <p:spPr>
          <a:xfrm>
            <a:off x="3566160" y="1463040"/>
            <a:ext cx="4572000" cy="274320"/>
          </a:xfrm>
          <a:prstGeom prst="rect">
            <a:avLst/>
          </a:prstGeom>
          <a:noFill/>
          <a:ln/>
        </p:spPr>
        <p:txBody>
          <a:bodyPr wrap="square" lIns="0" tIns="0" rIns="0" bIns="0" rtlCol="0" anchor="ctr"/>
          <a:lstStyle/>
          <a:p>
            <a:pPr indent="0" marL="0">
              <a:buNone/>
            </a:pPr>
            <a:r>
              <a:rPr lang="en-US" sz="1100" b="1" dirty="0">
                <a:solidFill>
                  <a:srgbClr val="7D8B97"/>
                </a:solidFill>
                <a:latin typeface="Calibri" pitchFamily="34" charset="0"/>
                <a:ea typeface="Calibri" pitchFamily="34" charset="-122"/>
                <a:cs typeface="Calibri" pitchFamily="34" charset="-120"/>
              </a:rPr>
              <a:t>What it covered</a:t>
            </a:r>
            <a:endParaRPr lang="en-US" sz="1100" dirty="0"/>
          </a:p>
        </p:txBody>
      </p:sp>
      <p:sp>
        <p:nvSpPr>
          <p:cNvPr id="7" name="Text 5"/>
          <p:cNvSpPr txBox="1"/>
          <p:nvPr/>
        </p:nvSpPr>
        <p:spPr>
          <a:xfrm>
            <a:off x="8366760" y="1463040"/>
            <a:ext cx="3200400" cy="274320"/>
          </a:xfrm>
          <a:prstGeom prst="rect">
            <a:avLst/>
          </a:prstGeom>
          <a:noFill/>
          <a:ln/>
        </p:spPr>
        <p:txBody>
          <a:bodyPr wrap="square" lIns="0" tIns="0" rIns="0" bIns="0" rtlCol="0" anchor="ctr"/>
          <a:lstStyle/>
          <a:p>
            <a:pPr indent="0" marL="0">
              <a:buNone/>
            </a:pPr>
            <a:r>
              <a:rPr lang="en-US" sz="1100" b="1" dirty="0">
                <a:solidFill>
                  <a:srgbClr val="7D8B97"/>
                </a:solidFill>
                <a:latin typeface="Calibri" pitchFamily="34" charset="0"/>
                <a:ea typeface="Calibri" pitchFamily="34" charset="-122"/>
                <a:cs typeface="Calibri" pitchFamily="34" charset="-120"/>
              </a:rPr>
              <a:t>Why in this order</a:t>
            </a:r>
            <a:endParaRPr lang="en-US" sz="1100" dirty="0"/>
          </a:p>
        </p:txBody>
      </p:sp>
      <p:sp>
        <p:nvSpPr>
          <p:cNvPr id="8" name="Shape 6"/>
          <p:cNvSpPr/>
          <p:nvPr/>
        </p:nvSpPr>
        <p:spPr>
          <a:xfrm>
            <a:off x="548640" y="1783080"/>
            <a:ext cx="11094415" cy="822960"/>
          </a:xfrm>
          <a:prstGeom prst="roundRect">
            <a:avLst>
              <a:gd name="adj" fmla="val 8889"/>
            </a:avLst>
          </a:prstGeom>
          <a:solidFill>
            <a:srgbClr val="EEF2F5"/>
          </a:solidFill>
          <a:ln w="12700">
            <a:solidFill>
              <a:srgbClr val="EEF2F5"/>
            </a:solidFill>
            <a:prstDash val="solid"/>
          </a:ln>
        </p:spPr>
      </p:sp>
      <p:sp>
        <p:nvSpPr>
          <p:cNvPr id="9" name="Shape 7"/>
          <p:cNvSpPr/>
          <p:nvPr/>
        </p:nvSpPr>
        <p:spPr>
          <a:xfrm>
            <a:off x="640080" y="2002536"/>
            <a:ext cx="384048" cy="384048"/>
          </a:xfrm>
          <a:prstGeom prst="ellipse">
            <a:avLst/>
          </a:prstGeom>
          <a:solidFill>
            <a:srgbClr val="D9622B"/>
          </a:solidFill>
          <a:ln w="12700">
            <a:solidFill>
              <a:srgbClr val="D9622B"/>
            </a:solidFill>
            <a:prstDash val="solid"/>
          </a:ln>
        </p:spPr>
      </p:sp>
      <p:sp>
        <p:nvSpPr>
          <p:cNvPr id="10" name="Text 8"/>
          <p:cNvSpPr txBox="1"/>
          <p:nvPr/>
        </p:nvSpPr>
        <p:spPr>
          <a:xfrm>
            <a:off x="640080" y="20025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097280" y="1783080"/>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Profile the data</a:t>
            </a:r>
            <a:endParaRPr lang="en-US" sz="1500" dirty="0"/>
          </a:p>
        </p:txBody>
      </p:sp>
      <p:sp>
        <p:nvSpPr>
          <p:cNvPr id="12" name="Text 10"/>
          <p:cNvSpPr txBox="1"/>
          <p:nvPr/>
        </p:nvSpPr>
        <p:spPr>
          <a:xfrm>
            <a:off x="3566160" y="1783080"/>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Before any code: 6 PDF layouts (4 scans, 1 German, 1 vendor with its own part numbers); an undocumented ERP with traps that change the answer.</a:t>
            </a:r>
            <a:endParaRPr lang="en-US" sz="1200" dirty="0"/>
          </a:p>
        </p:txBody>
      </p:sp>
      <p:sp>
        <p:nvSpPr>
          <p:cNvPr id="13" name="Text 11"/>
          <p:cNvSpPr txBox="1"/>
          <p:nvPr/>
        </p:nvSpPr>
        <p:spPr>
          <a:xfrm>
            <a:off x="8366760" y="1783080"/>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A wrong number would sink both tasks, and it was the cheapest thing to check first.</a:t>
            </a:r>
            <a:endParaRPr lang="en-US" sz="1200" dirty="0"/>
          </a:p>
        </p:txBody>
      </p:sp>
      <p:sp>
        <p:nvSpPr>
          <p:cNvPr id="14" name="Shape 12"/>
          <p:cNvSpPr/>
          <p:nvPr/>
        </p:nvSpPr>
        <p:spPr>
          <a:xfrm>
            <a:off x="548640" y="2715768"/>
            <a:ext cx="11094415" cy="822960"/>
          </a:xfrm>
          <a:prstGeom prst="roundRect">
            <a:avLst>
              <a:gd name="adj" fmla="val 8889"/>
            </a:avLst>
          </a:prstGeom>
          <a:solidFill>
            <a:srgbClr val="FFFFFF"/>
          </a:solidFill>
          <a:ln w="12700">
            <a:solidFill>
              <a:srgbClr val="FFFFFF"/>
            </a:solidFill>
            <a:prstDash val="solid"/>
          </a:ln>
        </p:spPr>
      </p:sp>
      <p:sp>
        <p:nvSpPr>
          <p:cNvPr id="15" name="Shape 13"/>
          <p:cNvSpPr/>
          <p:nvPr/>
        </p:nvSpPr>
        <p:spPr>
          <a:xfrm>
            <a:off x="640080" y="2935224"/>
            <a:ext cx="384048" cy="384048"/>
          </a:xfrm>
          <a:prstGeom prst="ellipse">
            <a:avLst/>
          </a:prstGeom>
          <a:solidFill>
            <a:srgbClr val="D9622B"/>
          </a:solidFill>
          <a:ln w="12700">
            <a:solidFill>
              <a:srgbClr val="D9622B"/>
            </a:solidFill>
            <a:prstDash val="solid"/>
          </a:ln>
        </p:spPr>
      </p:sp>
      <p:sp>
        <p:nvSpPr>
          <p:cNvPr id="16" name="Text 14"/>
          <p:cNvSpPr txBox="1"/>
          <p:nvPr/>
        </p:nvSpPr>
        <p:spPr>
          <a:xfrm>
            <a:off x="640080" y="2935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7" name="Text 15"/>
          <p:cNvSpPr txBox="1"/>
          <p:nvPr/>
        </p:nvSpPr>
        <p:spPr>
          <a:xfrm>
            <a:off x="1097280" y="2715768"/>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Task 1 end to end</a:t>
            </a:r>
            <a:endParaRPr lang="en-US" sz="1500" dirty="0"/>
          </a:p>
        </p:txBody>
      </p:sp>
      <p:sp>
        <p:nvSpPr>
          <p:cNvPr id="18" name="Text 16"/>
          <p:cNvSpPr txBox="1"/>
          <p:nvPr/>
        </p:nvSpPr>
        <p:spPr>
          <a:xfrm>
            <a:off x="3566160" y="2715768"/>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PDF → match → checks → Excel. All 35 PDFs through the pipeline before polishing any one parser.</a:t>
            </a:r>
            <a:endParaRPr lang="en-US" sz="1200" dirty="0"/>
          </a:p>
        </p:txBody>
      </p:sp>
      <p:sp>
        <p:nvSpPr>
          <p:cNvPr id="19" name="Text 17"/>
          <p:cNvSpPr txBox="1"/>
          <p:nvPr/>
        </p:nvSpPr>
        <p:spPr>
          <a:xfrm>
            <a:off x="8366760" y="2715768"/>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Lisa's pain is daily, and a dropped line can only be seen when the whole pipeline works.</a:t>
            </a:r>
            <a:endParaRPr lang="en-US" sz="1200" dirty="0"/>
          </a:p>
        </p:txBody>
      </p:sp>
      <p:sp>
        <p:nvSpPr>
          <p:cNvPr id="20" name="Shape 18"/>
          <p:cNvSpPr/>
          <p:nvPr/>
        </p:nvSpPr>
        <p:spPr>
          <a:xfrm>
            <a:off x="548640" y="3648456"/>
            <a:ext cx="11094415" cy="822960"/>
          </a:xfrm>
          <a:prstGeom prst="roundRect">
            <a:avLst>
              <a:gd name="adj" fmla="val 8889"/>
            </a:avLst>
          </a:prstGeom>
          <a:solidFill>
            <a:srgbClr val="EEF2F5"/>
          </a:solidFill>
          <a:ln w="12700">
            <a:solidFill>
              <a:srgbClr val="EEF2F5"/>
            </a:solidFill>
            <a:prstDash val="solid"/>
          </a:ln>
        </p:spPr>
      </p:sp>
      <p:sp>
        <p:nvSpPr>
          <p:cNvPr id="21" name="Shape 19"/>
          <p:cNvSpPr/>
          <p:nvPr/>
        </p:nvSpPr>
        <p:spPr>
          <a:xfrm>
            <a:off x="640080" y="3867912"/>
            <a:ext cx="384048" cy="384048"/>
          </a:xfrm>
          <a:prstGeom prst="ellipse">
            <a:avLst/>
          </a:prstGeom>
          <a:solidFill>
            <a:srgbClr val="D9622B"/>
          </a:solidFill>
          <a:ln w="12700">
            <a:solidFill>
              <a:srgbClr val="D9622B"/>
            </a:solidFill>
            <a:prstDash val="solid"/>
          </a:ln>
        </p:spPr>
      </p:sp>
      <p:sp>
        <p:nvSpPr>
          <p:cNvPr id="22" name="Text 20"/>
          <p:cNvSpPr txBox="1"/>
          <p:nvPr/>
        </p:nvSpPr>
        <p:spPr>
          <a:xfrm>
            <a:off x="640080" y="38679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Text 21"/>
          <p:cNvSpPr txBox="1"/>
          <p:nvPr/>
        </p:nvSpPr>
        <p:spPr>
          <a:xfrm>
            <a:off x="1097280" y="3648456"/>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Task 2 on the same data</a:t>
            </a:r>
            <a:endParaRPr lang="en-US" sz="1500" dirty="0"/>
          </a:p>
        </p:txBody>
      </p:sp>
      <p:sp>
        <p:nvSpPr>
          <p:cNvPr id="24" name="Text 22"/>
          <p:cNvSpPr txBox="1"/>
          <p:nvPr/>
        </p:nvSpPr>
        <p:spPr>
          <a:xfrm>
            <a:off x="3566160" y="3648456"/>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Cleaned receipts, then value by month, the vendor table, and who to call first, with definitions.</a:t>
            </a:r>
            <a:endParaRPr lang="en-US" sz="1200" dirty="0"/>
          </a:p>
        </p:txBody>
      </p:sp>
      <p:sp>
        <p:nvSpPr>
          <p:cNvPr id="25" name="Text 23"/>
          <p:cNvSpPr txBox="1"/>
          <p:nvPr/>
        </p:nvSpPr>
        <p:spPr>
          <a:xfrm>
            <a:off x="8366760" y="3648456"/>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The ERP work feeds Task 1 too: FX rates, the part-number crosswalk, vendor history.</a:t>
            </a:r>
            <a:endParaRPr lang="en-US" sz="1200" dirty="0"/>
          </a:p>
        </p:txBody>
      </p:sp>
      <p:sp>
        <p:nvSpPr>
          <p:cNvPr id="26" name="Shape 24"/>
          <p:cNvSpPr/>
          <p:nvPr/>
        </p:nvSpPr>
        <p:spPr>
          <a:xfrm>
            <a:off x="548640" y="4581144"/>
            <a:ext cx="11094415" cy="822960"/>
          </a:xfrm>
          <a:prstGeom prst="roundRect">
            <a:avLst>
              <a:gd name="adj" fmla="val 8889"/>
            </a:avLst>
          </a:prstGeom>
          <a:solidFill>
            <a:srgbClr val="FFFFFF"/>
          </a:solidFill>
          <a:ln w="12700">
            <a:solidFill>
              <a:srgbClr val="FFFFFF"/>
            </a:solidFill>
            <a:prstDash val="solid"/>
          </a:ln>
        </p:spPr>
      </p:sp>
      <p:sp>
        <p:nvSpPr>
          <p:cNvPr id="27" name="Shape 25"/>
          <p:cNvSpPr/>
          <p:nvPr/>
        </p:nvSpPr>
        <p:spPr>
          <a:xfrm>
            <a:off x="640080" y="4800600"/>
            <a:ext cx="384048" cy="384048"/>
          </a:xfrm>
          <a:prstGeom prst="ellipse">
            <a:avLst/>
          </a:prstGeom>
          <a:solidFill>
            <a:srgbClr val="D9622B"/>
          </a:solidFill>
          <a:ln w="12700">
            <a:solidFill>
              <a:srgbClr val="D9622B"/>
            </a:solidFill>
            <a:prstDash val="solid"/>
          </a:ln>
        </p:spPr>
      </p:sp>
      <p:sp>
        <p:nvSpPr>
          <p:cNvPr id="28" name="Text 26"/>
          <p:cNvSpPr txBox="1"/>
          <p:nvPr/>
        </p:nvSpPr>
        <p:spPr>
          <a:xfrm>
            <a:off x="640080" y="4800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1097280" y="4581144"/>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Only then, extras</a:t>
            </a:r>
            <a:endParaRPr lang="en-US" sz="1500" dirty="0"/>
          </a:p>
        </p:txBody>
      </p:sp>
      <p:sp>
        <p:nvSpPr>
          <p:cNvPr id="30" name="Text 28"/>
          <p:cNvSpPr txBox="1"/>
          <p:nvPr/>
        </p:nvSpPr>
        <p:spPr>
          <a:xfrm>
            <a:off x="3566160" y="4581144"/>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Memory across days, the desk app, the vendor forms. Each was added only after both tasks ran.</a:t>
            </a:r>
            <a:endParaRPr lang="en-US" sz="1200" dirty="0"/>
          </a:p>
        </p:txBody>
      </p:sp>
      <p:sp>
        <p:nvSpPr>
          <p:cNvPr id="31" name="Text 29"/>
          <p:cNvSpPr txBox="1"/>
          <p:nvPr/>
        </p:nvSpPr>
        <p:spPr>
          <a:xfrm>
            <a:off x="8366760" y="4581144"/>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"Useful beats impressive": nothing extra went in until the basics were done.</a:t>
            </a:r>
            <a:endParaRPr lang="en-US" sz="1200" dirty="0"/>
          </a:p>
        </p:txBody>
      </p:sp>
      <p:sp>
        <p:nvSpPr>
          <p:cNvPr id="32" name="Shape 30"/>
          <p:cNvSpPr/>
          <p:nvPr/>
        </p:nvSpPr>
        <p:spPr>
          <a:xfrm>
            <a:off x="548640" y="5513832"/>
            <a:ext cx="11094415" cy="822960"/>
          </a:xfrm>
          <a:prstGeom prst="roundRect">
            <a:avLst>
              <a:gd name="adj" fmla="val 8889"/>
            </a:avLst>
          </a:prstGeom>
          <a:solidFill>
            <a:srgbClr val="EEF2F5"/>
          </a:solidFill>
          <a:ln w="12700">
            <a:solidFill>
              <a:srgbClr val="EEF2F5"/>
            </a:solidFill>
            <a:prstDash val="solid"/>
          </a:ln>
        </p:spPr>
      </p:sp>
      <p:sp>
        <p:nvSpPr>
          <p:cNvPr id="33" name="Shape 31"/>
          <p:cNvSpPr/>
          <p:nvPr/>
        </p:nvSpPr>
        <p:spPr>
          <a:xfrm>
            <a:off x="640080" y="5733288"/>
            <a:ext cx="384048" cy="384048"/>
          </a:xfrm>
          <a:prstGeom prst="ellipse">
            <a:avLst/>
          </a:prstGeom>
          <a:solidFill>
            <a:srgbClr val="D9622B"/>
          </a:solidFill>
          <a:ln w="12700">
            <a:solidFill>
              <a:srgbClr val="D9622B"/>
            </a:solidFill>
            <a:prstDash val="solid"/>
          </a:ln>
        </p:spPr>
      </p:sp>
      <p:sp>
        <p:nvSpPr>
          <p:cNvPr id="34" name="Text 32"/>
          <p:cNvSpPr txBox="1"/>
          <p:nvPr/>
        </p:nvSpPr>
        <p:spPr>
          <a:xfrm>
            <a:off x="640080" y="57332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5" name="Text 33"/>
          <p:cNvSpPr txBox="1"/>
          <p:nvPr/>
        </p:nvSpPr>
        <p:spPr>
          <a:xfrm>
            <a:off x="1097280" y="5513832"/>
            <a:ext cx="2377440" cy="82296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Stop and write</a:t>
            </a:r>
            <a:endParaRPr lang="en-US" sz="1500" dirty="0"/>
          </a:p>
        </p:txBody>
      </p:sp>
      <p:sp>
        <p:nvSpPr>
          <p:cNvPr id="36" name="Text 34"/>
          <p:cNvSpPr txBox="1"/>
          <p:nvPr/>
        </p:nvSpPr>
        <p:spPr>
          <a:xfrm>
            <a:off x="3566160" y="5513832"/>
            <a:ext cx="4572000" cy="822960"/>
          </a:xfrm>
          <a:prstGeom prst="rect">
            <a:avLst/>
          </a:prstGeom>
          <a:noFill/>
          <a:ln/>
        </p:spPr>
        <p:txBody>
          <a:bodyPr wrap="square" lIns="0" tIns="0" rIns="0" bIns="0" rtlCol="0" anchor="ctr"/>
          <a:lstStyle/>
          <a:p>
            <a:pPr indent="0" marL="0">
              <a:buNone/>
            </a:pPr>
            <a:r>
              <a:rPr lang="en-US" sz="1200" dirty="0">
                <a:solidFill>
                  <a:srgbClr val="1F2A33"/>
                </a:solidFill>
                <a:latin typeface="Calibri" pitchFamily="34" charset="0"/>
                <a:ea typeface="Calibri" pitchFamily="34" charset="-122"/>
                <a:cs typeface="Calibri" pitchFamily="34" charset="-120"/>
              </a:rPr>
              <a:t>This deck, the README, and a clean run from the zip, as a grader would do it.</a:t>
            </a:r>
            <a:endParaRPr lang="en-US" sz="1200" dirty="0"/>
          </a:p>
        </p:txBody>
      </p:sp>
      <p:sp>
        <p:nvSpPr>
          <p:cNvPr id="37" name="Text 35"/>
          <p:cNvSpPr txBox="1"/>
          <p:nvPr/>
        </p:nvSpPr>
        <p:spPr>
          <a:xfrm>
            <a:off x="8366760" y="5513832"/>
            <a:ext cx="3139135" cy="82296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The presentation counts as much as the code.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DESIGN CHOICES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An exception list Lisa opens in Excel, not a dashboard to learn</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5</a:t>
            </a:r>
            <a:endParaRPr lang="en-US" sz="900" dirty="0"/>
          </a:p>
        </p:txBody>
      </p:sp>
      <p:sp>
        <p:nvSpPr>
          <p:cNvPr id="5" name="Shape 3"/>
          <p:cNvSpPr/>
          <p:nvPr/>
        </p:nvSpPr>
        <p:spPr>
          <a:xfrm>
            <a:off x="548640" y="1645920"/>
            <a:ext cx="384048" cy="384048"/>
          </a:xfrm>
          <a:prstGeom prst="ellipse">
            <a:avLst/>
          </a:prstGeom>
          <a:solidFill>
            <a:srgbClr val="D9622B"/>
          </a:solidFill>
          <a:ln w="12700">
            <a:solidFill>
              <a:srgbClr val="D9622B"/>
            </a:solidFill>
            <a:prstDash val="solid"/>
          </a:ln>
        </p:spPr>
      </p:sp>
      <p:sp>
        <p:nvSpPr>
          <p:cNvPr id="6" name="Text 4"/>
          <p:cNvSpPr txBox="1"/>
          <p:nvPr/>
        </p:nvSpPr>
        <p:spPr>
          <a:xfrm>
            <a:off x="548640" y="16459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97280" y="1600200"/>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Excel workbook is the product</a:t>
            </a:r>
            <a:endParaRPr lang="en-US" sz="1600" dirty="0"/>
          </a:p>
        </p:txBody>
      </p:sp>
      <p:sp>
        <p:nvSpPr>
          <p:cNvPr id="8" name="Text 6"/>
          <p:cNvSpPr txBox="1"/>
          <p:nvPr/>
        </p:nvSpPr>
        <p:spPr>
          <a:xfrm>
            <a:off x="1097280" y="1947672"/>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Action List first, worst first: what happened and what to do, in words. Lisa types Yes in Done? and adds Notes; the next run reads them back.</a:t>
            </a:r>
            <a:endParaRPr lang="en-US" sz="1300" dirty="0"/>
          </a:p>
        </p:txBody>
      </p:sp>
      <p:sp>
        <p:nvSpPr>
          <p:cNvPr id="9" name="Shape 7"/>
          <p:cNvSpPr/>
          <p:nvPr/>
        </p:nvSpPr>
        <p:spPr>
          <a:xfrm>
            <a:off x="548640" y="2761488"/>
            <a:ext cx="384048" cy="384048"/>
          </a:xfrm>
          <a:prstGeom prst="ellipse">
            <a:avLst/>
          </a:prstGeom>
          <a:solidFill>
            <a:srgbClr val="D9622B"/>
          </a:solidFill>
          <a:ln w="12700">
            <a:solidFill>
              <a:srgbClr val="D9622B"/>
            </a:solidFill>
            <a:prstDash val="solid"/>
          </a:ln>
        </p:spPr>
      </p:sp>
      <p:sp>
        <p:nvSpPr>
          <p:cNvPr id="10" name="Text 8"/>
          <p:cNvSpPr txBox="1"/>
          <p:nvPr/>
        </p:nvSpPr>
        <p:spPr>
          <a:xfrm>
            <a:off x="548640" y="2761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715768"/>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Same engine as a small browser app</a:t>
            </a:r>
            <a:endParaRPr lang="en-US" sz="1600" dirty="0"/>
          </a:p>
        </p:txBody>
      </p:sp>
      <p:sp>
        <p:nvSpPr>
          <p:cNvPr id="12" name="Text 10"/>
          <p:cNvSpPr txBox="1"/>
          <p:nvPr/>
        </p:nvSpPr>
        <p:spPr>
          <a:xfrm>
            <a:off x="1097280" y="3063240"/>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Drag in the day's PDFs; approve a new vendor part number in one click; see each scan next to what was read from it. Optional.</a:t>
            </a:r>
            <a:endParaRPr lang="en-US" sz="1300" dirty="0"/>
          </a:p>
        </p:txBody>
      </p:sp>
      <p:sp>
        <p:nvSpPr>
          <p:cNvPr id="13" name="Shape 11"/>
          <p:cNvSpPr/>
          <p:nvPr/>
        </p:nvSpPr>
        <p:spPr>
          <a:xfrm>
            <a:off x="548640" y="3877056"/>
            <a:ext cx="384048" cy="384048"/>
          </a:xfrm>
          <a:prstGeom prst="ellipse">
            <a:avLst/>
          </a:prstGeom>
          <a:solidFill>
            <a:srgbClr val="D9622B"/>
          </a:solidFill>
          <a:ln w="12700">
            <a:solidFill>
              <a:srgbClr val="D9622B"/>
            </a:solidFill>
            <a:prstDash val="solid"/>
          </a:ln>
        </p:spPr>
      </p:sp>
      <p:sp>
        <p:nvSpPr>
          <p:cNvPr id="14" name="Text 12"/>
          <p:cNvSpPr txBox="1"/>
          <p:nvPr/>
        </p:nvSpPr>
        <p:spPr>
          <a:xfrm>
            <a:off x="548640" y="3877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97280" y="3831336"/>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Memory in one local file</a:t>
            </a:r>
            <a:endParaRPr lang="en-US" sz="1600" dirty="0"/>
          </a:p>
        </p:txBody>
      </p:sp>
      <p:sp>
        <p:nvSpPr>
          <p:cNvPr id="16" name="Text 14"/>
          <p:cNvSpPr txBox="1"/>
          <p:nvPr/>
        </p:nvSpPr>
        <p:spPr>
          <a:xfrm>
            <a:off x="1097280" y="4178808"/>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Duplicate PDFs are ignored, corrected acknowledgments close items on their own, the first promise date is kept.</a:t>
            </a:r>
            <a:endParaRPr lang="en-US" sz="1300" dirty="0"/>
          </a:p>
        </p:txBody>
      </p:sp>
      <p:sp>
        <p:nvSpPr>
          <p:cNvPr id="17" name="Shape 15"/>
          <p:cNvSpPr/>
          <p:nvPr/>
        </p:nvSpPr>
        <p:spPr>
          <a:xfrm>
            <a:off x="548640" y="4992624"/>
            <a:ext cx="384048" cy="384048"/>
          </a:xfrm>
          <a:prstGeom prst="ellipse">
            <a:avLst/>
          </a:prstGeom>
          <a:solidFill>
            <a:srgbClr val="D9622B"/>
          </a:solidFill>
          <a:ln w="12700">
            <a:solidFill>
              <a:srgbClr val="D9622B"/>
            </a:solidFill>
            <a:prstDash val="solid"/>
          </a:ln>
        </p:spPr>
      </p:sp>
      <p:sp>
        <p:nvSpPr>
          <p:cNvPr id="18" name="Text 16"/>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097280" y="4946904"/>
            <a:ext cx="6126480" cy="347472"/>
          </a:xfrm>
          <a:prstGeom prst="rect">
            <a:avLst/>
          </a:prstGeom>
          <a:noFill/>
          <a:ln/>
        </p:spPr>
        <p:txBody>
          <a:bodyPr wrap="square" lIns="0" tIns="0" rIns="0" bIns="0" rtlCol="0" anchor="ctr"/>
          <a:lstStyle/>
          <a:p>
            <a:pPr indent="0" marL="0">
              <a:buNone/>
            </a:pPr>
            <a:r>
              <a:rPr lang="en-US" sz="1600" b="1" dirty="0">
                <a:solidFill>
                  <a:srgbClr val="1F2A33"/>
                </a:solidFill>
                <a:latin typeface="Calibri" pitchFamily="34" charset="0"/>
                <a:ea typeface="Calibri" pitchFamily="34" charset="-122"/>
                <a:cs typeface="Calibri" pitchFamily="34" charset="-120"/>
              </a:rPr>
              <a:t>Deterministic first</a:t>
            </a:r>
            <a:endParaRPr lang="en-US" sz="1600" dirty="0"/>
          </a:p>
        </p:txBody>
      </p:sp>
      <p:sp>
        <p:nvSpPr>
          <p:cNvPr id="20" name="Text 18"/>
          <p:cNvSpPr txBox="1"/>
          <p:nvPr/>
        </p:nvSpPr>
        <p:spPr>
          <a:xfrm>
            <a:off x="1097280" y="5294376"/>
            <a:ext cx="6126480" cy="68580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6 stable vendor layouts, so one small parser each. The AI reader is only a fallback for unknown layouts and is off by default.</a:t>
            </a:r>
            <a:endParaRPr lang="en-US" sz="1300" dirty="0"/>
          </a:p>
        </p:txBody>
      </p:sp>
      <p:sp>
        <p:nvSpPr>
          <p:cNvPr id="21" name="Shape 19"/>
          <p:cNvSpPr/>
          <p:nvPr/>
        </p:nvSpPr>
        <p:spPr>
          <a:xfrm>
            <a:off x="7589520" y="1554480"/>
            <a:ext cx="4053535" cy="4663440"/>
          </a:xfrm>
          <a:prstGeom prst="roundRect">
            <a:avLst>
              <a:gd name="adj" fmla="val 1805"/>
            </a:avLst>
          </a:prstGeom>
          <a:solidFill>
            <a:srgbClr val="EEF2F5"/>
          </a:solidFill>
          <a:ln w="12700">
            <a:solidFill>
              <a:srgbClr val="EEF2F5"/>
            </a:solidFill>
            <a:prstDash val="solid"/>
          </a:ln>
        </p:spPr>
      </p:sp>
      <p:sp>
        <p:nvSpPr>
          <p:cNvPr id="22" name="Text 20"/>
          <p:cNvSpPr txBox="1"/>
          <p:nvPr/>
        </p:nvSpPr>
        <p:spPr>
          <a:xfrm>
            <a:off x="7863840" y="1737360"/>
            <a:ext cx="3504895" cy="365760"/>
          </a:xfrm>
          <a:prstGeom prst="rect">
            <a:avLst/>
          </a:prstGeom>
          <a:noFill/>
          <a:ln/>
        </p:spPr>
        <p:txBody>
          <a:bodyPr wrap="square" lIns="0" tIns="0" rIns="0" bIns="0" rtlCol="0" anchor="ctr"/>
          <a:lstStyle/>
          <a:p>
            <a:pPr indent="0" marL="0">
              <a:buNone/>
            </a:pPr>
            <a:r>
              <a:rPr lang="en-US" sz="1800" b="1" dirty="0">
                <a:solidFill>
                  <a:srgbClr val="1F2A33"/>
                </a:solidFill>
                <a:latin typeface="Cambria" pitchFamily="34" charset="0"/>
                <a:ea typeface="Cambria" pitchFamily="34" charset="-122"/>
                <a:cs typeface="Cambria" pitchFamily="34" charset="-120"/>
              </a:rPr>
              <a:t>Rules it never breaks</a:t>
            </a:r>
            <a:endParaRPr lang="en-US" sz="1800" dirty="0"/>
          </a:p>
        </p:txBody>
      </p:sp>
      <p:sp>
        <p:nvSpPr>
          <p:cNvPr id="23" name="Text 21"/>
          <p:cNvSpPr txBox="1"/>
          <p:nvPr/>
        </p:nvSpPr>
        <p:spPr>
          <a:xfrm>
            <a:off x="7863840" y="2194560"/>
            <a:ext cx="3504895" cy="384048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Never guesses silently.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Anything not matched on an identifier goes to Review Required.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Says "possible dropped line",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not "dropped": the vendor may confirm it separately.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Never sends anything.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Vendor emails are drafts; Lisa owns the relationship.</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Every PDF gets a status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every open PO line is accounted for (checked on each run).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HOW IT WORKS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Five deterministic steps from vendor PDF to Excel</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6</a:t>
            </a:r>
            <a:endParaRPr lang="en-US" sz="900" dirty="0"/>
          </a:p>
        </p:txBody>
      </p:sp>
      <p:sp>
        <p:nvSpPr>
          <p:cNvPr id="5" name="Shape 3"/>
          <p:cNvSpPr/>
          <p:nvPr/>
        </p:nvSpPr>
        <p:spPr>
          <a:xfrm>
            <a:off x="548640" y="1554480"/>
            <a:ext cx="2011680" cy="1783080"/>
          </a:xfrm>
          <a:prstGeom prst="roundRect">
            <a:avLst>
              <a:gd name="adj" fmla="val 4103"/>
            </a:avLst>
          </a:prstGeom>
          <a:solidFill>
            <a:srgbClr val="EEF2F5"/>
          </a:solidFill>
          <a:ln w="12700">
            <a:solidFill>
              <a:srgbClr val="EEF2F5"/>
            </a:solidFill>
            <a:prstDash val="solid"/>
          </a:ln>
        </p:spPr>
      </p:sp>
      <p:sp>
        <p:nvSpPr>
          <p:cNvPr id="6" name="Text 4"/>
          <p:cNvSpPr txBox="1"/>
          <p:nvPr/>
        </p:nvSpPr>
        <p:spPr>
          <a:xfrm>
            <a:off x="685800"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Read</a:t>
            </a:r>
            <a:endParaRPr lang="en-US" sz="1700" dirty="0"/>
          </a:p>
        </p:txBody>
      </p:sp>
      <p:sp>
        <p:nvSpPr>
          <p:cNvPr id="7" name="Text 5"/>
          <p:cNvSpPr txBox="1"/>
          <p:nvPr/>
        </p:nvSpPr>
        <p:spPr>
          <a:xfrm>
            <a:off x="685800"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Text layer: 31 PDFs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OCR: 4 Continental scans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AI fallback: off</a:t>
            </a:r>
            <a:endParaRPr lang="en-US" sz="1200" dirty="0"/>
          </a:p>
        </p:txBody>
      </p:sp>
      <p:sp>
        <p:nvSpPr>
          <p:cNvPr id="8" name="Shape 6"/>
          <p:cNvSpPr/>
          <p:nvPr/>
        </p:nvSpPr>
        <p:spPr>
          <a:xfrm rot="5400000">
            <a:off x="2607526" y="2331720"/>
            <a:ext cx="164592" cy="237744"/>
          </a:xfrm>
          <a:prstGeom prst="rtTriangle">
            <a:avLst/>
          </a:prstGeom>
          <a:solidFill>
            <a:srgbClr val="7D8B97"/>
          </a:solidFill>
          <a:ln w="12700">
            <a:solidFill>
              <a:srgbClr val="7D8B97"/>
            </a:solidFill>
            <a:prstDash val="solid"/>
          </a:ln>
        </p:spPr>
      </p:sp>
      <p:sp>
        <p:nvSpPr>
          <p:cNvPr id="9" name="Shape 7"/>
          <p:cNvSpPr/>
          <p:nvPr/>
        </p:nvSpPr>
        <p:spPr>
          <a:xfrm>
            <a:off x="2819324" y="1554480"/>
            <a:ext cx="2011680" cy="1783080"/>
          </a:xfrm>
          <a:prstGeom prst="roundRect">
            <a:avLst>
              <a:gd name="adj" fmla="val 4103"/>
            </a:avLst>
          </a:prstGeom>
          <a:solidFill>
            <a:srgbClr val="EEF2F5"/>
          </a:solidFill>
          <a:ln w="12700">
            <a:solidFill>
              <a:srgbClr val="EEF2F5"/>
            </a:solidFill>
            <a:prstDash val="solid"/>
          </a:ln>
        </p:spPr>
      </p:sp>
      <p:sp>
        <p:nvSpPr>
          <p:cNvPr id="10" name="Text 8"/>
          <p:cNvSpPr txBox="1"/>
          <p:nvPr/>
        </p:nvSpPr>
        <p:spPr>
          <a:xfrm>
            <a:off x="2956484"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Normalize</a:t>
            </a:r>
            <a:endParaRPr lang="en-US" sz="1700" dirty="0"/>
          </a:p>
        </p:txBody>
      </p:sp>
      <p:sp>
        <p:nvSpPr>
          <p:cNvPr id="11" name="Text 9"/>
          <p:cNvSpPr txBox="1"/>
          <p:nvPr/>
        </p:nvSpPr>
        <p:spPr>
          <a:xfrm>
            <a:off x="2956484"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Dates, units, decimals</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German labels, "KW 20-22"</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EUR→USD at ERP rate</a:t>
            </a:r>
            <a:endParaRPr lang="en-US" sz="1200" dirty="0"/>
          </a:p>
        </p:txBody>
      </p:sp>
      <p:sp>
        <p:nvSpPr>
          <p:cNvPr id="12" name="Shape 10"/>
          <p:cNvSpPr/>
          <p:nvPr/>
        </p:nvSpPr>
        <p:spPr>
          <a:xfrm rot="5400000">
            <a:off x="4878210" y="2331720"/>
            <a:ext cx="164592" cy="237744"/>
          </a:xfrm>
          <a:prstGeom prst="rtTriangle">
            <a:avLst/>
          </a:prstGeom>
          <a:solidFill>
            <a:srgbClr val="7D8B97"/>
          </a:solidFill>
          <a:ln w="12700">
            <a:solidFill>
              <a:srgbClr val="7D8B97"/>
            </a:solidFill>
            <a:prstDash val="solid"/>
          </a:ln>
        </p:spPr>
      </p:sp>
      <p:sp>
        <p:nvSpPr>
          <p:cNvPr id="13" name="Shape 11"/>
          <p:cNvSpPr/>
          <p:nvPr/>
        </p:nvSpPr>
        <p:spPr>
          <a:xfrm>
            <a:off x="5090008" y="1554480"/>
            <a:ext cx="2011680" cy="1783080"/>
          </a:xfrm>
          <a:prstGeom prst="roundRect">
            <a:avLst>
              <a:gd name="adj" fmla="val 4103"/>
            </a:avLst>
          </a:prstGeom>
          <a:solidFill>
            <a:srgbClr val="EEF2F5"/>
          </a:solidFill>
          <a:ln w="12700">
            <a:solidFill>
              <a:srgbClr val="EEF2F5"/>
            </a:solidFill>
            <a:prstDash val="solid"/>
          </a:ln>
        </p:spPr>
      </p:sp>
      <p:sp>
        <p:nvSpPr>
          <p:cNvPr id="14" name="Text 12"/>
          <p:cNvSpPr txBox="1"/>
          <p:nvPr/>
        </p:nvSpPr>
        <p:spPr>
          <a:xfrm>
            <a:off x="5227168"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Match</a:t>
            </a:r>
            <a:endParaRPr lang="en-US" sz="1700" dirty="0"/>
          </a:p>
        </p:txBody>
      </p:sp>
      <p:sp>
        <p:nvSpPr>
          <p:cNvPr id="15" name="Text 13"/>
          <p:cNvSpPr txBox="1"/>
          <p:nvPr/>
        </p:nvSpPr>
        <p:spPr>
          <a:xfrm>
            <a:off x="5227168"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Vendor, PO, then each line via the 5-level ladder below</a:t>
            </a:r>
            <a:endParaRPr lang="en-US" sz="1200" dirty="0"/>
          </a:p>
        </p:txBody>
      </p:sp>
      <p:sp>
        <p:nvSpPr>
          <p:cNvPr id="16" name="Shape 14"/>
          <p:cNvSpPr/>
          <p:nvPr/>
        </p:nvSpPr>
        <p:spPr>
          <a:xfrm rot="5400000">
            <a:off x="7148894" y="2331720"/>
            <a:ext cx="164592" cy="237744"/>
          </a:xfrm>
          <a:prstGeom prst="rtTriangle">
            <a:avLst/>
          </a:prstGeom>
          <a:solidFill>
            <a:srgbClr val="7D8B97"/>
          </a:solidFill>
          <a:ln w="12700">
            <a:solidFill>
              <a:srgbClr val="7D8B97"/>
            </a:solidFill>
            <a:prstDash val="solid"/>
          </a:ln>
        </p:spPr>
      </p:sp>
      <p:sp>
        <p:nvSpPr>
          <p:cNvPr id="17" name="Shape 15"/>
          <p:cNvSpPr/>
          <p:nvPr/>
        </p:nvSpPr>
        <p:spPr>
          <a:xfrm>
            <a:off x="7360691" y="1554480"/>
            <a:ext cx="2011680" cy="1783080"/>
          </a:xfrm>
          <a:prstGeom prst="roundRect">
            <a:avLst>
              <a:gd name="adj" fmla="val 4103"/>
            </a:avLst>
          </a:prstGeom>
          <a:solidFill>
            <a:srgbClr val="EEF2F5"/>
          </a:solidFill>
          <a:ln w="12700">
            <a:solidFill>
              <a:srgbClr val="EEF2F5"/>
            </a:solidFill>
            <a:prstDash val="solid"/>
          </a:ln>
        </p:spPr>
      </p:sp>
      <p:sp>
        <p:nvSpPr>
          <p:cNvPr id="18" name="Text 16"/>
          <p:cNvSpPr txBox="1"/>
          <p:nvPr/>
        </p:nvSpPr>
        <p:spPr>
          <a:xfrm>
            <a:off x="7497851" y="1645920"/>
            <a:ext cx="1737360"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Check</a:t>
            </a:r>
            <a:endParaRPr lang="en-US" sz="1700" dirty="0"/>
          </a:p>
        </p:txBody>
      </p:sp>
      <p:sp>
        <p:nvSpPr>
          <p:cNvPr id="19" name="Text 17"/>
          <p:cNvSpPr txBox="1"/>
          <p:nvPr/>
        </p:nvSpPr>
        <p:spPr>
          <a:xfrm>
            <a:off x="7497851"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Missing line · qty</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price · date vs need</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date sanity · revisions</a:t>
            </a:r>
            <a:endParaRPr lang="en-US" sz="1200" dirty="0"/>
          </a:p>
        </p:txBody>
      </p:sp>
      <p:sp>
        <p:nvSpPr>
          <p:cNvPr id="20" name="Shape 18"/>
          <p:cNvSpPr/>
          <p:nvPr/>
        </p:nvSpPr>
        <p:spPr>
          <a:xfrm rot="5400000">
            <a:off x="9419577" y="2331720"/>
            <a:ext cx="164592" cy="237744"/>
          </a:xfrm>
          <a:prstGeom prst="rtTriangle">
            <a:avLst/>
          </a:prstGeom>
          <a:solidFill>
            <a:srgbClr val="7D8B97"/>
          </a:solidFill>
          <a:ln w="12700">
            <a:solidFill>
              <a:srgbClr val="7D8B97"/>
            </a:solidFill>
            <a:prstDash val="solid"/>
          </a:ln>
        </p:spPr>
      </p:sp>
      <p:sp>
        <p:nvSpPr>
          <p:cNvPr id="21" name="Shape 19"/>
          <p:cNvSpPr/>
          <p:nvPr/>
        </p:nvSpPr>
        <p:spPr>
          <a:xfrm>
            <a:off x="9631375" y="1554480"/>
            <a:ext cx="2011680" cy="1783080"/>
          </a:xfrm>
          <a:prstGeom prst="roundRect">
            <a:avLst>
              <a:gd name="adj" fmla="val 4103"/>
            </a:avLst>
          </a:prstGeom>
          <a:solidFill>
            <a:srgbClr val="FBE9DF"/>
          </a:solidFill>
          <a:ln w="12700">
            <a:solidFill>
              <a:srgbClr val="FBE9DF"/>
            </a:solidFill>
            <a:prstDash val="solid"/>
          </a:ln>
        </p:spPr>
      </p:sp>
      <p:sp>
        <p:nvSpPr>
          <p:cNvPr id="22" name="Text 20"/>
          <p:cNvSpPr txBox="1"/>
          <p:nvPr/>
        </p:nvSpPr>
        <p:spPr>
          <a:xfrm>
            <a:off x="9768535" y="1645920"/>
            <a:ext cx="1737360" cy="365760"/>
          </a:xfrm>
          <a:prstGeom prst="rect">
            <a:avLst/>
          </a:prstGeom>
          <a:noFill/>
          <a:ln/>
        </p:spPr>
        <p:txBody>
          <a:bodyPr wrap="square" lIns="0" tIns="0" rIns="0" bIns="0" rtlCol="0" anchor="ctr"/>
          <a:lstStyle/>
          <a:p>
            <a:pPr indent="0" marL="0">
              <a:buNone/>
            </a:pPr>
            <a:r>
              <a:rPr lang="en-US" sz="1700" b="1" dirty="0">
                <a:solidFill>
                  <a:srgbClr val="D9622B"/>
                </a:solidFill>
                <a:latin typeface="Cambria" pitchFamily="34" charset="0"/>
                <a:ea typeface="Cambria" pitchFamily="34" charset="-122"/>
                <a:cs typeface="Cambria" pitchFamily="34" charset="-120"/>
              </a:rPr>
              <a:t>Report</a:t>
            </a:r>
            <a:endParaRPr lang="en-US" sz="1700" dirty="0"/>
          </a:p>
        </p:txBody>
      </p:sp>
      <p:sp>
        <p:nvSpPr>
          <p:cNvPr id="23" name="Text 21"/>
          <p:cNvSpPr txBox="1"/>
          <p:nvPr/>
        </p:nvSpPr>
        <p:spPr>
          <a:xfrm>
            <a:off x="9768535" y="2029968"/>
            <a:ext cx="1737360" cy="12344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Excel workbook + memory (SQLite)</a:t>
            </a:r>
            <a:endParaRPr lang="en-US" sz="1200" dirty="0"/>
          </a:p>
          <a:p>
            <a:pPr indent="0" marL="0">
              <a:buNone/>
            </a:pPr>
            <a:r>
              <a:rPr lang="en-US" sz="1200" dirty="0">
                <a:solidFill>
                  <a:srgbClr val="4E5D6A"/>
                </a:solidFill>
                <a:latin typeface="Calibri" pitchFamily="34" charset="0"/>
                <a:ea typeface="Calibri" pitchFamily="34" charset="-122"/>
                <a:cs typeface="Calibri" pitchFamily="34" charset="-120"/>
              </a:rPr>
              <a:t>8 sheets</a:t>
            </a:r>
            <a:endParaRPr lang="en-US" sz="1200" dirty="0"/>
          </a:p>
        </p:txBody>
      </p:sp>
      <p:sp>
        <p:nvSpPr>
          <p:cNvPr id="24" name="Text 22"/>
          <p:cNvSpPr txBox="1"/>
          <p:nvPr/>
        </p:nvSpPr>
        <p:spPr>
          <a:xfrm>
            <a:off x="548640" y="3611880"/>
            <a:ext cx="9144000" cy="32004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Part-number matching ladder: identifiers first, inference only with review</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94415" cy="914400"/>
        </p:xfrm>
        <a:graphic>
          <a:graphicData uri="http://schemas.openxmlformats.org/drawingml/2006/table">
            <a:tbl>
              <a:tblPr/>
              <a:tblGrid>
                <a:gridCol w="731520"/>
                <a:gridCol w="4572000"/>
                <a:gridCol w="1463040"/>
                <a:gridCol w="432511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Confidence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happens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L1</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Beacon part number printed on the vendor's document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L2</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Approved (vendor, vendor PN) entry in the crosswalk</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 the crosswalk grows every time Lisa approves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L3</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Normalized description equals the PO description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2E7D4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Auto-match</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L4</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Only qty + price (+ line number) agree on this PO</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b="1" dirty="0">
                          <a:solidFill>
                            <a:srgbClr val="C98A0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Matched for the checks, but sent to Review Required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L5</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Nothing agrees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b="1" dirty="0">
                          <a:solidFill>
                            <a:srgbClr val="B83227"/>
                          </a:solidFill>
                          <a:latin typeface="Calibri" pitchFamily="34" charset="0"/>
                          <a:ea typeface="Calibri" pitchFamily="34" charset="-122"/>
                          <a:cs typeface="Calibri" pitchFamily="34" charset="-120"/>
                        </a:rPr>
                        <a:t>UNMATCHED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Shown as unmatched; never guessed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LISA'S WORKBOOK</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Lisa's 7am view: exceptions only, worst first, next step</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7</a:t>
            </a:r>
            <a:endParaRPr lang="en-US" sz="900" dirty="0"/>
          </a:p>
        </p:txBody>
      </p:sp>
      <p:pic>
        <p:nvPicPr>
          <p:cNvPr id="5" name="Image 0" descr="/home/user/BeaconFasteners/Beacon Superday-Submission/presentation/assets/workbook_action_list.png">    </p:cNvPr>
          <p:cNvPicPr>
            <a:picLocks noChangeAspect="1"/>
          </p:cNvPicPr>
          <p:nvPr/>
        </p:nvPicPr>
        <p:blipFill>
          <a:blip r:embed="rId1"/>
          <a:stretch>
            <a:fillRect/>
          </a:stretch>
        </p:blipFill>
        <p:spPr>
          <a:xfrm>
            <a:off x="548640" y="1508760"/>
            <a:ext cx="7589520" cy="3156832"/>
          </a:xfrm>
          <a:prstGeom prst="rect">
            <a:avLst/>
          </a:prstGeom>
          <a:effectLst>
            <a:outerShdw sx="100000" sy="100000" kx="0" ky="0" algn="bl" rotWithShape="0" blurRad="76200" dist="25400" dir="5400000">
              <a:srgbClr val="000000">
                <a:alpha val="25000"/>
              </a:srgbClr>
            </a:outerShdw>
          </a:effectLst>
        </p:spPr>
      </p:pic>
      <p:sp>
        <p:nvSpPr>
          <p:cNvPr id="6" name="Text 3"/>
          <p:cNvSpPr txBox="1"/>
          <p:nvPr/>
        </p:nvSpPr>
        <p:spPr>
          <a:xfrm>
            <a:off x="548640" y="4757032"/>
            <a:ext cx="7589520" cy="274320"/>
          </a:xfrm>
          <a:prstGeom prst="rect">
            <a:avLst/>
          </a:prstGeom>
          <a:noFill/>
          <a:ln/>
        </p:spPr>
        <p:txBody>
          <a:bodyPr wrap="square" lIns="0" tIns="0" rIns="0" bIns="0" rtlCol="0" anchor="ctr"/>
          <a:lstStyle/>
          <a:p>
            <a:pPr indent="0" marL="0">
              <a:buNone/>
            </a:pPr>
            <a:r>
              <a:rPr lang="en-US" sz="1100" i="1" dirty="0">
                <a:solidFill>
                  <a:srgbClr val="7D8B97"/>
                </a:solidFill>
                <a:latin typeface="Calibri" pitchFamily="34" charset="0"/>
                <a:ea typeface="Calibri" pitchFamily="34" charset="-122"/>
                <a:cs typeface="Calibri" pitchFamily="34" charset="-120"/>
              </a:rPr>
              <a:t>Action List tab, real output on this week's 35 PDFs (first columns shown).</a:t>
            </a:r>
            <a:endParaRPr lang="en-US" sz="1100" dirty="0"/>
          </a:p>
        </p:txBody>
      </p:sp>
      <p:sp>
        <p:nvSpPr>
          <p:cNvPr id="7" name="Text 4"/>
          <p:cNvSpPr txBox="1"/>
          <p:nvPr/>
        </p:nvSpPr>
        <p:spPr>
          <a:xfrm>
            <a:off x="548640" y="5214232"/>
            <a:ext cx="7589520" cy="146304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Done? and Notes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are read back on the next run: handled items stay handled.</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Draft Emails: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one ready-to-edit email per vendor; the tool never sends.</a:t>
            </a:r>
            <a:endParaRPr lang="en-US" sz="1300" dirty="0"/>
          </a:p>
          <a:p>
            <a:pPr marL="342900" indent="-342900">
              <a:spcAft>
                <a:spcPts val="600"/>
              </a:spcAft>
              <a:buSzPct val="100000"/>
              <a:buChar char="•"/>
            </a:pPr>
            <a:r>
              <a:rPr lang="en-US" sz="1300" b="1" dirty="0">
                <a:solidFill>
                  <a:srgbClr val="1F2A33"/>
                </a:solidFill>
                <a:latin typeface="Calibri" pitchFamily="34" charset="0"/>
                <a:ea typeface="Calibri" pitchFamily="34" charset="-122"/>
                <a:cs typeface="Calibri" pitchFamily="34" charset="-120"/>
              </a:rPr>
              <a:t>Read Me tab: </a:t>
            </a:r>
            <a:pPr indent="0" marL="0">
              <a:spcAft>
                <a:spcPts val="600"/>
              </a:spcAft>
              <a:buNone/>
            </a:pPr>
            <a:r>
              <a:rPr lang="en-US" sz="1300" dirty="0">
                <a:solidFill>
                  <a:srgbClr val="1F2A33"/>
                </a:solidFill>
                <a:latin typeface="Calibri" pitchFamily="34" charset="0"/>
                <a:ea typeface="Calibri" pitchFamily="34" charset="-122"/>
                <a:cs typeface="Calibri" pitchFamily="34" charset="-120"/>
              </a:rPr>
              <a:t>refresh steps, rules, tolerances, escalation.</a:t>
            </a:r>
            <a:endParaRPr lang="en-US" sz="1300" dirty="0"/>
          </a:p>
        </p:txBody>
      </p:sp>
      <p:sp>
        <p:nvSpPr>
          <p:cNvPr id="8" name="Shape 5"/>
          <p:cNvSpPr/>
          <p:nvPr/>
        </p:nvSpPr>
        <p:spPr>
          <a:xfrm>
            <a:off x="8458200" y="1508760"/>
            <a:ext cx="3184855" cy="4754880"/>
          </a:xfrm>
          <a:prstGeom prst="roundRect">
            <a:avLst>
              <a:gd name="adj" fmla="val 2297"/>
            </a:avLst>
          </a:prstGeom>
          <a:solidFill>
            <a:srgbClr val="EEF2F5"/>
          </a:solidFill>
          <a:ln w="12700">
            <a:solidFill>
              <a:srgbClr val="EEF2F5"/>
            </a:solidFill>
            <a:prstDash val="solid"/>
          </a:ln>
        </p:spPr>
      </p:sp>
      <p:sp>
        <p:nvSpPr>
          <p:cNvPr id="9" name="Text 6"/>
          <p:cNvSpPr txBox="1"/>
          <p:nvPr/>
        </p:nvSpPr>
        <p:spPr>
          <a:xfrm>
            <a:off x="8686800" y="1645920"/>
            <a:ext cx="2727655"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One tab per job</a:t>
            </a:r>
            <a:endParaRPr lang="en-US" sz="1600" dirty="0"/>
          </a:p>
        </p:txBody>
      </p:sp>
      <p:sp>
        <p:nvSpPr>
          <p:cNvPr id="10" name="Text 7"/>
          <p:cNvSpPr txBox="1"/>
          <p:nvPr/>
        </p:nvSpPr>
        <p:spPr>
          <a:xfrm>
            <a:off x="8686800" y="2103120"/>
            <a:ext cx="2727655" cy="4023360"/>
          </a:xfrm>
          <a:prstGeom prst="rect">
            <a:avLst/>
          </a:prstGeom>
          <a:noFill/>
          <a:ln/>
        </p:spPr>
        <p:txBody>
          <a:bodyPr wrap="square" lIns="0" tIns="0" rIns="0" bIns="0" rtlCol="0" anchor="t"/>
          <a:lstStyle/>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Buyer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Action List · Dropped &amp; Unconfirmed · Draft Emails</a:t>
            </a:r>
            <a:endParaRPr lang="en-US" sz="1100" dirty="0"/>
          </a:p>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AP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Price Variances</a:t>
            </a:r>
            <a:endParaRPr lang="en-US" sz="1100" dirty="0"/>
          </a:p>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Planner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Date Variances</a:t>
            </a:r>
            <a:endParaRPr lang="en-US" sz="1100" dirty="0"/>
          </a:p>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Receiving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Quantity Variances</a:t>
            </a:r>
            <a:endParaRPr lang="en-US" sz="1100" dirty="0"/>
          </a:p>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Master data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Unmatched Vendor Lines · PN Crosswalk</a:t>
            </a:r>
            <a:endParaRPr lang="en-US" sz="1100" dirty="0"/>
          </a:p>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Audit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All PO Lines · Documents · Review Required · Run Summary</a:t>
            </a:r>
            <a:endParaRPr lang="en-US" sz="1100" dirty="0"/>
          </a:p>
          <a:p>
            <a:pPr indent="0" marL="0">
              <a:spcAft>
                <a:spcPts val="500"/>
              </a:spcAft>
              <a:buNone/>
            </a:pPr>
            <a:r>
              <a:rPr lang="en-US" sz="1100" b="1" dirty="0">
                <a:solidFill>
                  <a:srgbClr val="D9622B"/>
                </a:solidFill>
                <a:latin typeface="Calibri" pitchFamily="34" charset="0"/>
                <a:ea typeface="Calibri" pitchFamily="34" charset="-122"/>
                <a:cs typeface="Calibri" pitchFamily="34" charset="-120"/>
              </a:rPr>
              <a:t>From the ERP
</a:t>
            </a:r>
            <a:pPr indent="0" marL="0">
              <a:spcAft>
                <a:spcPts val="500"/>
              </a:spcAft>
              <a:buNone/>
            </a:pPr>
            <a:r>
              <a:rPr lang="en-US" sz="1200" dirty="0">
                <a:solidFill>
                  <a:srgbClr val="1F2A33"/>
                </a:solidFill>
                <a:latin typeface="Calibri" pitchFamily="34" charset="0"/>
                <a:ea typeface="Calibri" pitchFamily="34" charset="-122"/>
                <a:cs typeface="Calibri" pitchFamily="34" charset="-120"/>
              </a:rPr>
              <a:t>Old Open Balances ($128k to chase or close)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RUN ON THIS WEEK'S 35 PDFS (AS OF 05/17/2026)</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23 things to do, worst first, and 22 lines Lisa can skip</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8229600" cy="914400"/>
        </p:xfrm>
        <a:graphic>
          <a:graphicData uri="http://schemas.openxmlformats.org/drawingml/2006/table">
            <a:tbl>
              <a:tblPr/>
              <a:tblGrid>
                <a:gridCol w="914400"/>
                <a:gridCol w="1234440"/>
                <a:gridCol w="1234440"/>
                <a:gridCol w="2834640"/>
                <a:gridCol w="2011680"/>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 / line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happened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29768">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Today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4500050001 / 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Line missing from acknowledgment (BAR-A286-250 × 1,500)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Ask if it ships, or receiving will be short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Today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4500060619</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Confirmation for a PO that is not open (probably meant for …0001)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Tell vendor not to ship against it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4500050007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Confirmed 1,425 of 1,500 (-75 pcs)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Balance later, or cancelled?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Apex</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4500050002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Price $3.9200 → $4.0102 (+2.3%)</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Push back before the invoice reaches AP</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Continental</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4500050022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Promise 21 days after we need it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Expedite, or warn planning</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Liberty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4500050019 / 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Acknowledged with no qty or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Ask for a firm qty and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This week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 (DE)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4500050027 / 1-2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Promise is a week range "KW 20-22", 16 days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Pin down a real date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29768">
                <a:tc>
                  <a:txBody>
                    <a:bodyPr/>
                    <a:lstStyle/>
                    <a:p>
                      <a:pPr indent="0" marL="0">
                        <a:buNone/>
                      </a:pPr>
                      <a:r>
                        <a:rPr lang="en-US" sz="1100" b="1" dirty="0">
                          <a:solidFill>
                            <a:srgbClr val="2E6DB4"/>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 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3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New vendor PNs APH-441-OS, OST-CAR-A-100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One-click approve (Review Required)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2E6DB4"/>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QuickShip</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4500050032</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Sent an invoice instead of an acknowledgment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Tell receiving; hold the invoice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
        <p:nvSpPr>
          <p:cNvPr id="6" name="Shape 3"/>
          <p:cNvSpPr/>
          <p:nvPr/>
        </p:nvSpPr>
        <p:spPr>
          <a:xfrm>
            <a:off x="9052560" y="1508760"/>
            <a:ext cx="2590495" cy="4617720"/>
          </a:xfrm>
          <a:prstGeom prst="roundRect">
            <a:avLst>
              <a:gd name="adj" fmla="val 2824"/>
            </a:avLst>
          </a:prstGeom>
          <a:solidFill>
            <a:srgbClr val="EEF2F5"/>
          </a:solidFill>
          <a:ln w="12700">
            <a:solidFill>
              <a:srgbClr val="EEF2F5"/>
            </a:solidFill>
            <a:prstDash val="solid"/>
          </a:ln>
        </p:spPr>
      </p:sp>
      <p:sp>
        <p:nvSpPr>
          <p:cNvPr id="7" name="Text 4"/>
          <p:cNvSpPr txBox="1"/>
          <p:nvPr/>
        </p:nvSpPr>
        <p:spPr>
          <a:xfrm>
            <a:off x="9281160" y="1645920"/>
            <a:ext cx="2133295" cy="594360"/>
          </a:xfrm>
          <a:prstGeom prst="rect">
            <a:avLst/>
          </a:prstGeom>
          <a:noFill/>
          <a:ln/>
        </p:spPr>
        <p:txBody>
          <a:bodyPr wrap="square" lIns="0" tIns="0" rIns="0" bIns="0" rtlCol="0" anchor="ctr"/>
          <a:lstStyle/>
          <a:p>
            <a:pPr indent="0" marL="0">
              <a:buNone/>
            </a:pPr>
            <a:r>
              <a:rPr lang="en-US" sz="2800" b="1" dirty="0">
                <a:solidFill>
                  <a:srgbClr val="1F2A33"/>
                </a:solidFill>
                <a:latin typeface="Cambria" pitchFamily="34" charset="0"/>
                <a:ea typeface="Cambria" pitchFamily="34" charset="-122"/>
                <a:cs typeface="Cambria" pitchFamily="34" charset="-120"/>
              </a:rPr>
              <a:t>2 · 8 · 13</a:t>
            </a:r>
            <a:endParaRPr lang="en-US" sz="2800" dirty="0"/>
          </a:p>
        </p:txBody>
      </p:sp>
      <p:sp>
        <p:nvSpPr>
          <p:cNvPr id="8" name="Text 5"/>
          <p:cNvSpPr txBox="1"/>
          <p:nvPr/>
        </p:nvSpPr>
        <p:spPr>
          <a:xfrm>
            <a:off x="9281160" y="224942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act today · this week · check</a:t>
            </a:r>
            <a:endParaRPr lang="en-US" sz="1200" dirty="0"/>
          </a:p>
        </p:txBody>
      </p:sp>
      <p:sp>
        <p:nvSpPr>
          <p:cNvPr id="9" name="Text 6"/>
          <p:cNvSpPr txBox="1"/>
          <p:nvPr/>
        </p:nvSpPr>
        <p:spPr>
          <a:xfrm>
            <a:off x="9281160" y="2697480"/>
            <a:ext cx="2133295" cy="594360"/>
          </a:xfrm>
          <a:prstGeom prst="rect">
            <a:avLst/>
          </a:prstGeom>
          <a:noFill/>
          <a:ln/>
        </p:spPr>
        <p:txBody>
          <a:bodyPr wrap="square" lIns="0" tIns="0" rIns="0" bIns="0" rtlCol="0" anchor="ctr"/>
          <a:lstStyle/>
          <a:p>
            <a:pPr indent="0" marL="0">
              <a:buNone/>
            </a:pPr>
            <a:r>
              <a:rPr lang="en-US" sz="2800" b="1" dirty="0">
                <a:solidFill>
                  <a:srgbClr val="2E7D4F"/>
                </a:solidFill>
                <a:latin typeface="Cambria" pitchFamily="34" charset="0"/>
                <a:ea typeface="Cambria" pitchFamily="34" charset="-122"/>
                <a:cs typeface="Cambria" pitchFamily="34" charset="-120"/>
              </a:rPr>
              <a:t>22</a:t>
            </a:r>
            <a:endParaRPr lang="en-US" sz="2800" dirty="0"/>
          </a:p>
        </p:txBody>
      </p:sp>
      <p:sp>
        <p:nvSpPr>
          <p:cNvPr id="10" name="Text 7"/>
          <p:cNvSpPr txBox="1"/>
          <p:nvPr/>
        </p:nvSpPr>
        <p:spPr>
          <a:xfrm>
            <a:off x="9281160" y="330098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fully clean: never shown on the Action List</a:t>
            </a:r>
            <a:endParaRPr lang="en-US" sz="1200" dirty="0"/>
          </a:p>
        </p:txBody>
      </p:sp>
      <p:sp>
        <p:nvSpPr>
          <p:cNvPr id="11" name="Text 8"/>
          <p:cNvSpPr txBox="1"/>
          <p:nvPr/>
        </p:nvSpPr>
        <p:spPr>
          <a:xfrm>
            <a:off x="9281160" y="3749040"/>
            <a:ext cx="2133295" cy="594360"/>
          </a:xfrm>
          <a:prstGeom prst="rect">
            <a:avLst/>
          </a:prstGeom>
          <a:noFill/>
          <a:ln/>
        </p:spPr>
        <p:txBody>
          <a:bodyPr wrap="square" lIns="0" tIns="0" rIns="0" bIns="0" rtlCol="0" anchor="ctr"/>
          <a:lstStyle/>
          <a:p>
            <a:pPr indent="0" marL="0">
              <a:buNone/>
            </a:pPr>
            <a:r>
              <a:rPr lang="en-US" sz="2800" b="1" dirty="0">
                <a:solidFill>
                  <a:srgbClr val="C98A06"/>
                </a:solidFill>
                <a:latin typeface="Cambria" pitchFamily="34" charset="0"/>
                <a:ea typeface="Cambria" pitchFamily="34" charset="-122"/>
                <a:cs typeface="Cambria" pitchFamily="34" charset="-120"/>
              </a:rPr>
              <a:t>11</a:t>
            </a:r>
            <a:endParaRPr lang="en-US" sz="2800" dirty="0"/>
          </a:p>
        </p:txBody>
      </p:sp>
      <p:sp>
        <p:nvSpPr>
          <p:cNvPr id="12" name="Text 9"/>
          <p:cNvSpPr txBox="1"/>
          <p:nvPr/>
        </p:nvSpPr>
        <p:spPr>
          <a:xfrm>
            <a:off x="9281160" y="4352544"/>
            <a:ext cx="195041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items on Review Required (incl. OCR'd scans)</a:t>
            </a:r>
            <a:endParaRPr lang="en-US" sz="1200" dirty="0"/>
          </a:p>
        </p:txBody>
      </p:sp>
      <p:sp>
        <p:nvSpPr>
          <p:cNvPr id="13" name="Text 10"/>
          <p:cNvSpPr txBox="1"/>
          <p:nvPr/>
        </p:nvSpPr>
        <p:spPr>
          <a:xfrm>
            <a:off x="9281160" y="5029200"/>
            <a:ext cx="2133295" cy="1051560"/>
          </a:xfrm>
          <a:prstGeom prst="rect">
            <a:avLst/>
          </a:prstGeom>
          <a:noFill/>
          <a:ln/>
        </p:spPr>
        <p:txBody>
          <a:bodyPr wrap="square" lIns="0" tIns="0" rIns="0" bIns="0" rtlCol="0" anchor="t"/>
          <a:lstStyle/>
          <a:p>
            <a:pPr indent="0" marL="0">
              <a:buNone/>
            </a:pPr>
            <a:r>
              <a:rPr lang="en-US" sz="1100" dirty="0">
                <a:solidFill>
                  <a:srgbClr val="4E5D6A"/>
                </a:solidFill>
                <a:latin typeface="Calibri" pitchFamily="34" charset="0"/>
                <a:ea typeface="Calibri" pitchFamily="34" charset="-122"/>
                <a:cs typeface="Calibri" pitchFamily="34" charset="-120"/>
              </a:rPr>
              <a:t>Built-in checks, every run:</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every PDF has a status</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every open PO line accounted for</a:t>
            </a:r>
            <a:endParaRPr lang="en-US" sz="1100" dirty="0"/>
          </a:p>
          <a:p>
            <a:pPr indent="0" marL="0">
              <a:buNone/>
            </a:pPr>
            <a:r>
              <a:rPr lang="en-US" sz="1100" dirty="0">
                <a:solidFill>
                  <a:srgbClr val="4E5D6A"/>
                </a:solidFill>
                <a:latin typeface="Calibri" pitchFamily="34" charset="0"/>
                <a:ea typeface="Calibri" pitchFamily="34" charset="-122"/>
                <a:cs typeface="Calibri" pitchFamily="34" charset="-120"/>
              </a:rPr>
              <a:t>✓ revision superseded original (QuickShip)</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1 · PAST FEEDS FUTURE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Fix it at the source: Beacon's own forms, pre-filled from the ERP</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9</a:t>
            </a:r>
            <a:endParaRPr lang="en-US" sz="900" dirty="0"/>
          </a:p>
        </p:txBody>
      </p:sp>
      <p:sp>
        <p:nvSpPr>
          <p:cNvPr id="5" name="Shape 3"/>
          <p:cNvSpPr/>
          <p:nvPr/>
        </p:nvSpPr>
        <p:spPr>
          <a:xfrm>
            <a:off x="548640" y="1463040"/>
            <a:ext cx="5120640" cy="2423160"/>
          </a:xfrm>
          <a:prstGeom prst="roundRect">
            <a:avLst>
              <a:gd name="adj" fmla="val 3019"/>
            </a:avLst>
          </a:prstGeom>
          <a:solidFill>
            <a:srgbClr val="EEF2F5"/>
          </a:solidFill>
          <a:ln w="12700">
            <a:solidFill>
              <a:srgbClr val="EEF2F5"/>
            </a:solidFill>
            <a:prstDash val="solid"/>
          </a:ln>
        </p:spPr>
      </p:sp>
      <p:sp>
        <p:nvSpPr>
          <p:cNvPr id="6" name="Text 4"/>
          <p:cNvSpPr txBox="1"/>
          <p:nvPr/>
        </p:nvSpPr>
        <p:spPr>
          <a:xfrm>
            <a:off x="777240" y="1572768"/>
            <a:ext cx="4663440" cy="347472"/>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PO acknowledgment form</a:t>
            </a:r>
            <a:endParaRPr lang="en-US" sz="1600" dirty="0"/>
          </a:p>
        </p:txBody>
      </p:sp>
      <p:sp>
        <p:nvSpPr>
          <p:cNvPr id="7" name="Text 5"/>
          <p:cNvSpPr txBox="1"/>
          <p:nvPr/>
        </p:nvSpPr>
        <p:spPr>
          <a:xfrm>
            <a:off x="777240" y="1901952"/>
            <a:ext cx="4663440" cy="274320"/>
          </a:xfrm>
          <a:prstGeom prst="rect">
            <a:avLst/>
          </a:prstGeom>
          <a:noFill/>
          <a:ln/>
        </p:spPr>
        <p:txBody>
          <a:bodyPr wrap="square" lIns="0" tIns="0" rIns="0" bIns="0" rtlCol="0" anchor="ctr"/>
          <a:lstStyle/>
          <a:p>
            <a:pPr indent="0" marL="0">
              <a:buNone/>
            </a:pPr>
            <a:r>
              <a:rPr lang="en-US" sz="1200" i="1" dirty="0">
                <a:solidFill>
                  <a:srgbClr val="D9622B"/>
                </a:solidFill>
                <a:latin typeface="Calibri" pitchFamily="34" charset="0"/>
                <a:ea typeface="Calibri" pitchFamily="34" charset="-122"/>
                <a:cs typeface="Calibri" pitchFamily="34" charset="-120"/>
              </a:rPr>
              <a:t>One Excel file per PO, sent with it</a:t>
            </a:r>
            <a:endParaRPr lang="en-US" sz="1200" dirty="0"/>
          </a:p>
        </p:txBody>
      </p:sp>
      <p:sp>
        <p:nvSpPr>
          <p:cNvPr id="8" name="Text 6"/>
          <p:cNvSpPr txBox="1"/>
          <p:nvPr/>
        </p:nvSpPr>
        <p:spPr>
          <a:xfrm>
            <a:off x="777240" y="2212848"/>
            <a:ext cx="4663440" cy="1600200"/>
          </a:xfrm>
          <a:prstGeom prst="rect">
            <a:avLst/>
          </a:prstGeom>
          <a:noFill/>
          <a:ln/>
        </p:spPr>
        <p:txBody>
          <a:bodyPr wrap="square" lIns="635" tIns="635" rIns="635" bIns="635" rtlCol="0" anchor="t"/>
          <a:lstStyle/>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Our lines locked; rows can't be deleted, so nothing drops silently</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Every line: Accept / Accept with changes / Cannot supply</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One real delivery date; Excel refuses "KW 20-22"</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Reason code for any qty or price change</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Returned file drops into the same check: HIGH match, no OCR</a:t>
            </a:r>
            <a:endParaRPr lang="en-US" sz="1200" dirty="0"/>
          </a:p>
        </p:txBody>
      </p:sp>
      <p:sp>
        <p:nvSpPr>
          <p:cNvPr id="9" name="Shape 7"/>
          <p:cNvSpPr/>
          <p:nvPr/>
        </p:nvSpPr>
        <p:spPr>
          <a:xfrm>
            <a:off x="548640" y="4023360"/>
            <a:ext cx="5120640" cy="2103120"/>
          </a:xfrm>
          <a:prstGeom prst="roundRect">
            <a:avLst>
              <a:gd name="adj" fmla="val 3478"/>
            </a:avLst>
          </a:prstGeom>
          <a:solidFill>
            <a:srgbClr val="EEF2F5"/>
          </a:solidFill>
          <a:ln w="12700">
            <a:solidFill>
              <a:srgbClr val="EEF2F5"/>
            </a:solidFill>
            <a:prstDash val="solid"/>
          </a:ln>
        </p:spPr>
      </p:sp>
      <p:sp>
        <p:nvSpPr>
          <p:cNvPr id="10" name="Text 8"/>
          <p:cNvSpPr txBox="1"/>
          <p:nvPr/>
        </p:nvSpPr>
        <p:spPr>
          <a:xfrm>
            <a:off x="777240" y="4133088"/>
            <a:ext cx="4663440" cy="347472"/>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Supplier information pack</a:t>
            </a:r>
            <a:endParaRPr lang="en-US" sz="1600" dirty="0"/>
          </a:p>
        </p:txBody>
      </p:sp>
      <p:sp>
        <p:nvSpPr>
          <p:cNvPr id="11" name="Text 9"/>
          <p:cNvSpPr txBox="1"/>
          <p:nvPr/>
        </p:nvSpPr>
        <p:spPr>
          <a:xfrm>
            <a:off x="777240" y="4462272"/>
            <a:ext cx="4663440" cy="274320"/>
          </a:xfrm>
          <a:prstGeom prst="rect">
            <a:avLst/>
          </a:prstGeom>
          <a:noFill/>
          <a:ln/>
        </p:spPr>
        <p:txBody>
          <a:bodyPr wrap="square" lIns="0" tIns="0" rIns="0" bIns="0" rtlCol="0" anchor="ctr"/>
          <a:lstStyle/>
          <a:p>
            <a:pPr indent="0" marL="0">
              <a:buNone/>
            </a:pPr>
            <a:r>
              <a:rPr lang="en-US" sz="1200" i="1" dirty="0">
                <a:solidFill>
                  <a:srgbClr val="D9622B"/>
                </a:solidFill>
                <a:latin typeface="Calibri" pitchFamily="34" charset="0"/>
                <a:ea typeface="Calibri" pitchFamily="34" charset="-122"/>
                <a:cs typeface="Calibri" pitchFamily="34" charset="-120"/>
              </a:rPr>
              <a:t>Once per vendor, pre-filled from 8 months of ERP</a:t>
            </a:r>
            <a:endParaRPr lang="en-US" sz="1200" dirty="0"/>
          </a:p>
        </p:txBody>
      </p:sp>
      <p:sp>
        <p:nvSpPr>
          <p:cNvPr id="12" name="Text 10"/>
          <p:cNvSpPr txBox="1"/>
          <p:nvPr/>
        </p:nvSpPr>
        <p:spPr>
          <a:xfrm>
            <a:off x="777240" y="4773168"/>
            <a:ext cx="4663440" cy="1280160"/>
          </a:xfrm>
          <a:prstGeom prst="rect">
            <a:avLst/>
          </a:prstGeom>
          <a:noFill/>
          <a:ln/>
        </p:spPr>
        <p:txBody>
          <a:bodyPr wrap="square" lIns="635" tIns="635" rIns="635" bIns="635" rtlCol="0" anchor="t"/>
          <a:lstStyle/>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Every part we buy from them, with planned / quoted / actual lead time</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They confirm their part numbers → Lisa's approval queue</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Standard lead times → gap report for planning</a:t>
            </a:r>
            <a:endParaRPr lang="en-US" sz="1200" dirty="0"/>
          </a:p>
          <a:p>
            <a:pPr marL="342900" indent="-342900">
              <a:spcAft>
                <a:spcPts val="200"/>
              </a:spcAft>
              <a:buSzPct val="100000"/>
              <a:buChar char="•"/>
            </a:pPr>
            <a:r>
              <a:rPr lang="en-US" sz="1200" dirty="0">
                <a:solidFill>
                  <a:srgbClr val="1F2A33"/>
                </a:solidFill>
                <a:latin typeface="Calibri" pitchFamily="34" charset="0"/>
                <a:ea typeface="Calibri" pitchFamily="34" charset="-122"/>
                <a:cs typeface="Calibri" pitchFamily="34" charset="-120"/>
              </a:rPr>
              <a:t>Contacts, turnaround, AS9100 / Nadcap expiry</a:t>
            </a:r>
            <a:endParaRPr lang="en-US" sz="1200" dirty="0"/>
          </a:p>
        </p:txBody>
      </p:sp>
      <p:sp>
        <p:nvSpPr>
          <p:cNvPr id="13" name="Text 11"/>
          <p:cNvSpPr txBox="1"/>
          <p:nvPr/>
        </p:nvSpPr>
        <p:spPr>
          <a:xfrm>
            <a:off x="5989320" y="1463040"/>
            <a:ext cx="5653735" cy="457200"/>
          </a:xfrm>
          <a:prstGeom prst="rect">
            <a:avLst/>
          </a:prstGeom>
          <a:noFill/>
          <a:ln/>
        </p:spPr>
        <p:txBody>
          <a:bodyPr wrap="square" lIns="0" tIns="0" rIns="0" bIns="0" rtlCol="0" anchor="t"/>
          <a:lstStyle/>
          <a:p>
            <a:pPr indent="0" marL="0">
              <a:buNone/>
            </a:pPr>
            <a:r>
              <a:rPr lang="en-US" sz="1200" b="1" dirty="0">
                <a:solidFill>
                  <a:srgbClr val="1F2A33"/>
                </a:solidFill>
                <a:latin typeface="Calibri" pitchFamily="34" charset="0"/>
                <a:ea typeface="Calibri" pitchFamily="34" charset="-122"/>
                <a:cs typeface="Calibri" pitchFamily="34" charset="-120"/>
              </a:rPr>
              <a:t>Ostmark answers on the form: line 2 is now "Vendor declined" (act today, with the reason), not a guess</a:t>
            </a:r>
            <a:endParaRPr lang="en-US" sz="1200" dirty="0"/>
          </a:p>
        </p:txBody>
      </p:sp>
      <p:pic>
        <p:nvPicPr>
          <p:cNvPr id="14" name="Image 0" descr="/home/user/BeaconFasteners/Beacon Superday-Submission/presentation/assets/today_after_form_c.png">    </p:cNvPr>
          <p:cNvPicPr>
            <a:picLocks noChangeAspect="1"/>
          </p:cNvPicPr>
          <p:nvPr/>
        </p:nvPicPr>
        <p:blipFill>
          <a:blip r:embed="rId1"/>
          <a:stretch>
            <a:fillRect/>
          </a:stretch>
        </p:blipFill>
        <p:spPr>
          <a:xfrm>
            <a:off x="5989320" y="1920240"/>
            <a:ext cx="5653735" cy="1638764"/>
          </a:xfrm>
          <a:prstGeom prst="rect">
            <a:avLst/>
          </a:prstGeom>
          <a:effectLst>
            <a:outerShdw sx="100000" sy="100000" kx="0" ky="0" algn="bl" rotWithShape="0" blurRad="76200" dist="25400" dir="5400000">
              <a:srgbClr val="000000">
                <a:alpha val="25000"/>
              </a:srgbClr>
            </a:outerShdw>
          </a:effectLst>
        </p:spPr>
      </p:pic>
      <p:sp>
        <p:nvSpPr>
          <p:cNvPr id="15" name="Text 12"/>
          <p:cNvSpPr txBox="1"/>
          <p:nvPr/>
        </p:nvSpPr>
        <p:spPr>
          <a:xfrm>
            <a:off x="5989320" y="3833324"/>
            <a:ext cx="5653735" cy="274320"/>
          </a:xfrm>
          <a:prstGeom prst="rect">
            <a:avLst/>
          </a:prstGeom>
          <a:noFill/>
          <a:ln/>
        </p:spPr>
        <p:txBody>
          <a:bodyPr wrap="square" lIns="0" tIns="0" rIns="0" bIns="0" rtlCol="0" anchor="ctr"/>
          <a:lstStyle/>
          <a:p>
            <a:pPr indent="0" marL="0">
              <a:buNone/>
            </a:pPr>
            <a:r>
              <a:rPr lang="en-US" sz="1200" b="1" dirty="0">
                <a:solidFill>
                  <a:srgbClr val="1F2A33"/>
                </a:solidFill>
                <a:latin typeface="Calibri" pitchFamily="34" charset="0"/>
                <a:ea typeface="Calibri" pitchFamily="34" charset="-122"/>
                <a:cs typeface="Calibri" pitchFamily="34" charset="-120"/>
              </a:rPr>
              <a:t>Continental returns its pack: MRP plans 19 days, their standard is 28</a:t>
            </a:r>
            <a:endParaRPr lang="en-US" sz="1200" dirty="0"/>
          </a:p>
        </p:txBody>
      </p:sp>
      <p:pic>
        <p:nvPicPr>
          <p:cNvPr id="16" name="Image 1" descr="/home/user/BeaconFasteners/Beacon Superday-Submission/presentation/assets/pack_gaps_c.png">    </p:cNvPr>
          <p:cNvPicPr>
            <a:picLocks noChangeAspect="1"/>
          </p:cNvPicPr>
          <p:nvPr/>
        </p:nvPicPr>
        <p:blipFill>
          <a:blip r:embed="rId2"/>
          <a:stretch>
            <a:fillRect/>
          </a:stretch>
        </p:blipFill>
        <p:spPr>
          <a:xfrm>
            <a:off x="5989320" y="4153364"/>
            <a:ext cx="5653735" cy="1761671"/>
          </a:xfrm>
          <a:prstGeom prst="rect">
            <a:avLst/>
          </a:prstGeom>
          <a:effectLst>
            <a:outerShdw sx="100000" sy="100000" kx="0" ky="0" algn="bl" rotWithShape="0" blurRad="76200" dist="25400" dir="5400000">
              <a:srgbClr val="000000">
                <a:alpha val="25000"/>
              </a:srgbClr>
            </a:outerShdw>
          </a:effectLst>
        </p:spPr>
      </p:pic>
      <p:sp>
        <p:nvSpPr>
          <p:cNvPr id="17" name="Text 13"/>
          <p:cNvSpPr txBox="1"/>
          <p:nvPr/>
        </p:nvSpPr>
        <p:spPr>
          <a:xfrm>
            <a:off x="5989320" y="5989320"/>
            <a:ext cx="5653735" cy="365760"/>
          </a:xfrm>
          <a:prstGeom prst="rect">
            <a:avLst/>
          </a:prstGeom>
          <a:noFill/>
          <a:ln/>
        </p:spPr>
        <p:txBody>
          <a:bodyPr wrap="square" lIns="0" tIns="0" rIns="0" bIns="0" rtlCol="0" anchor="ctr"/>
          <a:lstStyle/>
          <a:p>
            <a:pPr indent="0" marL="0">
              <a:buNone/>
            </a:pPr>
            <a:r>
              <a:rPr lang="en-US" sz="1100" i="1" dirty="0">
                <a:solidFill>
                  <a:srgbClr val="7D8B97"/>
                </a:solidFill>
                <a:latin typeface="Calibri" pitchFamily="34" charset="0"/>
                <a:ea typeface="Calibri" pitchFamily="34" charset="-122"/>
                <a:cs typeface="Calibri" pitchFamily="34" charset="-120"/>
              </a:rPr>
              <a:t>Vendor replies in the demo are synthetic. Plain Excel: no portal, no logins; PDFs keep working for everyone else.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METHOD</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Undocumented ERP: profiled first, 8 traps found</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10</a:t>
            </a:r>
            <a:endParaRPr lang="en-US" sz="900" dirty="0"/>
          </a:p>
        </p:txBody>
      </p:sp>
      <p:sp>
        <p:nvSpPr>
          <p:cNvPr id="5" name="Text 3"/>
          <p:cNvSpPr txBox="1"/>
          <p:nvPr/>
        </p:nvSpPr>
        <p:spPr>
          <a:xfrm>
            <a:off x="548640" y="1508760"/>
            <a:ext cx="6035040" cy="46634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Receipt dates are MM/DD/YYYY text: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SQLite date() returns NULL on every row.</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50 reversal pairs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(keyed in error, then reversed) plus 1 unreversed duplicate (txn 701546).</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po_line.qty_received is wrong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on 169 lines; receipts are used instead.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30 superseded confirmations: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only the latest is used.</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Confirmation feed stops 2026-04-03: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promise metrics use POs to 03/30 only.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Ostmark PO prices are already USD: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converting again adds about $76k.</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qc_hold dates are unreliable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(16 before the PO existed): shown as counts only.</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5 decoy tables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with no link to vendor performance (GL, MRP, users, …).</a:t>
            </a:r>
            <a:endParaRPr lang="en-US" sz="1400" dirty="0"/>
          </a:p>
        </p:txBody>
      </p:sp>
      <p:graphicFrame>
        <p:nvGraphicFramePr>
          <p:cNvPr id="6" name="Chart 0" descr=""/>
          <p:cNvGraphicFramePr/>
          <p:nvPr/>
        </p:nvGraphicFramePr>
        <p:xfrm>
          <a:off x="6858000" y="1463040"/>
          <a:ext cx="4785055"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0" y="5486400"/>
            <a:ext cx="4785055" cy="731520"/>
          </a:xfrm>
          <a:prstGeom prst="rect">
            <a:avLst/>
          </a:prstGeom>
          <a:noFill/>
          <a:ln/>
        </p:spPr>
        <p:txBody>
          <a:bodyPr wrap="square" lIns="0" tIns="0" rIns="0" bIns="0" rtlCol="0" anchor="ctr"/>
          <a:lstStyle/>
          <a:p>
            <a:pPr indent="0" marL="0">
              <a:buNone/>
            </a:pPr>
            <a:r>
              <a:rPr lang="en-US" sz="1300" i="1" dirty="0">
                <a:solidFill>
                  <a:srgbClr val="4E5D6A"/>
                </a:solidFill>
                <a:latin typeface="Calibri" pitchFamily="34" charset="0"/>
                <a:ea typeface="Calibri" pitchFamily="34" charset="-122"/>
                <a:cs typeface="Calibri" pitchFamily="34" charset="-120"/>
              </a:rPr>
              <a:t>The naive answers are wrong by +$1.3M and -$2.9M. Every number in the readout says which records it counts (Definitions tab).</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RECEIVED VALUE BY MONTH</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$28.2M received in 8 months, 85% of it from Apex</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11</a:t>
            </a:r>
            <a:endParaRPr lang="en-US" sz="900" dirty="0"/>
          </a:p>
        </p:txBody>
      </p:sp>
      <p:graphicFrame>
        <p:nvGraphicFramePr>
          <p:cNvPr id="5" name="Chart 0" descr=""/>
          <p:cNvGraphicFramePr/>
          <p:nvPr/>
        </p:nvGraphicFramePr>
        <p:xfrm>
          <a:off x="548640" y="1463040"/>
          <a:ext cx="7863840" cy="46634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778240" y="164592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$28.19M</a:t>
            </a:r>
            <a:endParaRPr lang="en-US" sz="3600" dirty="0"/>
          </a:p>
        </p:txBody>
      </p:sp>
      <p:sp>
        <p:nvSpPr>
          <p:cNvPr id="7" name="Text 4"/>
          <p:cNvSpPr txBox="1"/>
          <p:nvPr/>
        </p:nvSpPr>
        <p:spPr>
          <a:xfrm>
            <a:off x="8778240" y="224942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received value, 09/06/2025 to 05/17/2026</a:t>
            </a:r>
            <a:endParaRPr lang="en-US" sz="1200" dirty="0"/>
          </a:p>
        </p:txBody>
      </p:sp>
      <p:sp>
        <p:nvSpPr>
          <p:cNvPr id="8" name="Text 5"/>
          <p:cNvSpPr txBox="1"/>
          <p:nvPr/>
        </p:nvSpPr>
        <p:spPr>
          <a:xfrm>
            <a:off x="8778240" y="274320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85%</a:t>
            </a:r>
            <a:endParaRPr lang="en-US" sz="3600" dirty="0"/>
          </a:p>
        </p:txBody>
      </p:sp>
      <p:sp>
        <p:nvSpPr>
          <p:cNvPr id="9" name="Text 6"/>
          <p:cNvSpPr txBox="1"/>
          <p:nvPr/>
        </p:nvSpPr>
        <p:spPr>
          <a:xfrm>
            <a:off x="8778240" y="334670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Apex Bar &amp; Tube ($23.98M): a concentration question, not only a performance one</a:t>
            </a:r>
            <a:endParaRPr lang="en-US" sz="1200" dirty="0"/>
          </a:p>
        </p:txBody>
      </p:sp>
      <p:sp>
        <p:nvSpPr>
          <p:cNvPr id="10" name="Text 7"/>
          <p:cNvSpPr txBox="1"/>
          <p:nvPr/>
        </p:nvSpPr>
        <p:spPr>
          <a:xfrm>
            <a:off x="8778240" y="3977640"/>
            <a:ext cx="2864815" cy="594360"/>
          </a:xfrm>
          <a:prstGeom prst="rect">
            <a:avLst/>
          </a:prstGeom>
          <a:noFill/>
          <a:ln/>
        </p:spPr>
        <p:txBody>
          <a:bodyPr wrap="square" lIns="0" tIns="0" rIns="0" bIns="0" rtlCol="0" anchor="ctr"/>
          <a:lstStyle/>
          <a:p>
            <a:pPr indent="0" marL="0">
              <a:buNone/>
            </a:pPr>
            <a:r>
              <a:rPr lang="en-US" sz="3600" b="1" dirty="0">
                <a:solidFill>
                  <a:srgbClr val="1F2A33"/>
                </a:solidFill>
                <a:latin typeface="Cambria" pitchFamily="34" charset="0"/>
                <a:ea typeface="Cambria" pitchFamily="34" charset="-122"/>
                <a:cs typeface="Cambria" pitchFamily="34" charset="-120"/>
              </a:rPr>
              <a:t>$3.1-5.1M</a:t>
            </a:r>
            <a:endParaRPr lang="en-US" sz="3600" dirty="0"/>
          </a:p>
        </p:txBody>
      </p:sp>
      <p:sp>
        <p:nvSpPr>
          <p:cNvPr id="11" name="Text 8"/>
          <p:cNvSpPr txBox="1"/>
          <p:nvPr/>
        </p:nvSpPr>
        <p:spPr>
          <a:xfrm>
            <a:off x="8778240" y="4581144"/>
            <a:ext cx="2681935"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range across full months (Oct to Apr); no clear trend</a:t>
            </a:r>
            <a:endParaRPr lang="en-US" sz="1200" dirty="0"/>
          </a:p>
        </p:txBody>
      </p:sp>
      <p:sp>
        <p:nvSpPr>
          <p:cNvPr id="12" name="Text 9"/>
          <p:cNvSpPr txBox="1"/>
          <p:nvPr/>
        </p:nvSpPr>
        <p:spPr>
          <a:xfrm>
            <a:off x="8778240" y="5394960"/>
            <a:ext cx="2864815" cy="548640"/>
          </a:xfrm>
          <a:prstGeom prst="rect">
            <a:avLst/>
          </a:prstGeom>
          <a:noFill/>
          <a:ln/>
        </p:spPr>
        <p:txBody>
          <a:bodyPr wrap="square" lIns="0" tIns="0" rIns="0" bIns="0" rtlCol="0" anchor="ctr"/>
          <a:lstStyle/>
          <a:p>
            <a:pPr indent="0" marL="0">
              <a:buNone/>
            </a:pPr>
            <a:r>
              <a:rPr lang="en-US" sz="1100" dirty="0">
                <a:solidFill>
                  <a:srgbClr val="7D8B97"/>
                </a:solidFill>
                <a:latin typeface="Calibri" pitchFamily="34" charset="0"/>
                <a:ea typeface="Calibri" pitchFamily="34" charset="-122"/>
                <a:cs typeface="Calibri" pitchFamily="34" charset="-120"/>
              </a:rPr>
              <a:t>* Sep and May are partial months. Reversals netted, 1 duplicate excluded.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VENDOR-BY-VENDOR</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Continental stands out on delivery; Apex on dollars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14600"/>
                <a:gridCol w="960120"/>
                <a:gridCol w="777240"/>
                <a:gridCol w="822960"/>
                <a:gridCol w="1005840"/>
                <a:gridCol w="1371600"/>
                <a:gridCol w="1188720"/>
                <a:gridCol w="1188720"/>
                <a:gridCol w="126187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Received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Share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 time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Lines &gt;7d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days late (when late)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Promised after need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Past-due open $</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On time Sep-Dec → Jan-May</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Apex Bar &amp; Tube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$23.98M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85.1%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$76.7k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87% → 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Heritage Cold Heading</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$1.71M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$4.1k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70% → 74%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33"/>
                          </a:solidFill>
                          <a:latin typeface="Calibri" pitchFamily="34" charset="0"/>
                          <a:ea typeface="Calibri" pitchFamily="34" charset="-122"/>
                          <a:cs typeface="Calibri" pitchFamily="34" charset="-120"/>
                        </a:rPr>
                        <a:t>Continental Quality Heat Treat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$1.51M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42%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$14.0k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c>
                  <a:txBody>
                    <a:bodyPr/>
                    <a:lstStyle/>
                    <a:p>
                      <a:pPr indent="0" marL="0">
                        <a:buNone/>
                      </a:pPr>
                      <a:r>
                        <a:rPr lang="en-US" sz="1300" b="1" dirty="0">
                          <a:solidFill>
                            <a:srgbClr val="B83227"/>
                          </a:solidFill>
                          <a:latin typeface="Calibri" pitchFamily="34" charset="0"/>
                          <a:ea typeface="Calibri" pitchFamily="34" charset="-122"/>
                          <a:cs typeface="Calibri" pitchFamily="34" charset="-120"/>
                        </a:rPr>
                        <a:t>45% → 40%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BEAE8"/>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Ostmark Werkzeug (DE)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$0.87M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$31.9k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71% → 68%</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Liberty Surface Finishing</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$0.11M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0.4%</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$1.1k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95% → 87%</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QuickShip Industrial</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$0.01M</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99%</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$0.04k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98% → 100%</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029200"/>
            <a:ext cx="11094415" cy="1097280"/>
          </a:xfrm>
          <a:prstGeom prst="rect">
            <a:avLst/>
          </a:prstGeom>
          <a:noFill/>
          <a:ln/>
        </p:spPr>
        <p:txBody>
          <a:bodyPr wrap="square" lIns="0" tIns="0" rIns="0" bIns="0" rtlCol="0" anchor="t"/>
          <a:lstStyle/>
          <a:p>
            <a:pPr indent="0" marL="0">
              <a:buNone/>
            </a:pPr>
            <a:r>
              <a:rPr lang="en-US" sz="1200" b="1" dirty="0">
                <a:solidFill>
                  <a:srgbClr val="4E5D6A"/>
                </a:solidFill>
                <a:latin typeface="Calibri" pitchFamily="34" charset="0"/>
                <a:ea typeface="Calibri" pitchFamily="34" charset="-122"/>
                <a:cs typeface="Calibri" pitchFamily="34" charset="-120"/>
              </a:rPr>
              <a:t>On time </a:t>
            </a:r>
            <a:pPr indent="0" marL="0">
              <a:buNone/>
            </a:pPr>
            <a:r>
              <a:rPr lang="en-US" sz="1200" dirty="0">
                <a:solidFill>
                  <a:srgbClr val="4E5D6A"/>
                </a:solidFill>
                <a:latin typeface="Calibri" pitchFamily="34" charset="0"/>
                <a:ea typeface="Calibri" pitchFamily="34" charset="-122"/>
                <a:cs typeface="Calibri" pitchFamily="34" charset="-120"/>
              </a:rPr>
              <a:t>= the last receipt that completes the line arrives on or before our required date. Denominators: due lines with a receipt (Apex 222, Heritage 205, Continental 134, Ostmark 55, Liberty 189, QuickShip 110). </a:t>
            </a:r>
            <a:pPr indent="0" marL="0">
              <a:buNone/>
            </a:pPr>
            <a:r>
              <a:rPr lang="en-US" sz="1200" b="1" dirty="0">
                <a:solidFill>
                  <a:srgbClr val="4E5D6A"/>
                </a:solidFill>
                <a:latin typeface="Calibri" pitchFamily="34" charset="0"/>
                <a:ea typeface="Calibri" pitchFamily="34" charset="-122"/>
                <a:cs typeface="Calibri" pitchFamily="34" charset="-120"/>
              </a:rPr>
              <a:t>Trend </a:t>
            </a:r>
            <a:pPr indent="0" marL="0">
              <a:buNone/>
            </a:pPr>
            <a:r>
              <a:rPr lang="en-US" sz="1200" dirty="0">
                <a:solidFill>
                  <a:srgbClr val="4E5D6A"/>
                </a:solidFill>
                <a:latin typeface="Calibri" pitchFamily="34" charset="0"/>
                <a:ea typeface="Calibri" pitchFamily="34" charset="-122"/>
                <a:cs typeface="Calibri" pitchFamily="34" charset="-120"/>
              </a:rPr>
              <a:t>= Fisher exact test; no vendor's change is statistically significant (Liberty p=0.13). </a:t>
            </a:r>
            <a:pPr indent="0" marL="0">
              <a:buNone/>
            </a:pPr>
            <a:r>
              <a:rPr lang="en-US" sz="1200" b="1" dirty="0">
                <a:solidFill>
                  <a:srgbClr val="4E5D6A"/>
                </a:solidFill>
                <a:latin typeface="Calibri" pitchFamily="34" charset="0"/>
                <a:ea typeface="Calibri" pitchFamily="34" charset="-122"/>
                <a:cs typeface="Calibri" pitchFamily="34" charset="-120"/>
              </a:rPr>
              <a:t>Not ranked: </a:t>
            </a:r>
            <a:pPr indent="0" marL="0">
              <a:buNone/>
            </a:pPr>
            <a:r>
              <a:rPr lang="en-US" sz="1200" dirty="0">
                <a:solidFill>
                  <a:srgbClr val="4E5D6A"/>
                </a:solidFill>
                <a:latin typeface="Calibri" pitchFamily="34" charset="0"/>
                <a:ea typeface="Calibri" pitchFamily="34" charset="-122"/>
                <a:cs typeface="Calibri" pitchFamily="34" charset="-120"/>
              </a:rPr>
              <a:t>QC holds (dates unreliable). No composite score: the weights would be invented.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WHO TO CALL FIRST</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Call Continental first: late most often and by the most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13</a:t>
            </a:r>
            <a:endParaRPr lang="en-US" sz="900" dirty="0"/>
          </a:p>
        </p:txBody>
      </p:sp>
      <p:sp>
        <p:nvSpPr>
          <p:cNvPr id="5" name="Text 3"/>
          <p:cNvSpPr txBox="1"/>
          <p:nvPr/>
        </p:nvSpPr>
        <p:spPr>
          <a:xfrm>
            <a:off x="54864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42%</a:t>
            </a:r>
            <a:endParaRPr lang="en-US" sz="4000" dirty="0"/>
          </a:p>
        </p:txBody>
      </p:sp>
      <p:sp>
        <p:nvSpPr>
          <p:cNvPr id="6" name="Text 4"/>
          <p:cNvSpPr txBox="1"/>
          <p:nvPr/>
        </p:nvSpPr>
        <p:spPr>
          <a:xfrm>
            <a:off x="54864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134 due lines on time (others 69-99%)</a:t>
            </a:r>
            <a:endParaRPr lang="en-US" sz="1200" dirty="0"/>
          </a:p>
        </p:txBody>
      </p:sp>
      <p:sp>
        <p:nvSpPr>
          <p:cNvPr id="7" name="Text 5"/>
          <p:cNvSpPr txBox="1"/>
          <p:nvPr/>
        </p:nvSpPr>
        <p:spPr>
          <a:xfrm>
            <a:off x="269748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61/63</a:t>
            </a:r>
            <a:endParaRPr lang="en-US" sz="4000" dirty="0"/>
          </a:p>
        </p:txBody>
      </p:sp>
      <p:sp>
        <p:nvSpPr>
          <p:cNvPr id="8" name="Text 6"/>
          <p:cNvSpPr txBox="1"/>
          <p:nvPr/>
        </p:nvSpPr>
        <p:spPr>
          <a:xfrm>
            <a:off x="269748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&gt;7 days late across all vendors are theirs ($660k)</a:t>
            </a:r>
            <a:endParaRPr lang="en-US" sz="1200" dirty="0"/>
          </a:p>
        </p:txBody>
      </p:sp>
      <p:sp>
        <p:nvSpPr>
          <p:cNvPr id="9" name="Text 7"/>
          <p:cNvSpPr txBox="1"/>
          <p:nvPr/>
        </p:nvSpPr>
        <p:spPr>
          <a:xfrm>
            <a:off x="4846320" y="1554480"/>
            <a:ext cx="2148840" cy="594360"/>
          </a:xfrm>
          <a:prstGeom prst="rect">
            <a:avLst/>
          </a:prstGeom>
          <a:noFill/>
          <a:ln/>
        </p:spPr>
        <p:txBody>
          <a:bodyPr wrap="square" lIns="0" tIns="0" rIns="0" bIns="0" rtlCol="0" anchor="ctr"/>
          <a:lstStyle/>
          <a:p>
            <a:pPr indent="0" marL="0">
              <a:buNone/>
            </a:pPr>
            <a:r>
              <a:rPr lang="en-US" sz="4000" b="1" dirty="0">
                <a:solidFill>
                  <a:srgbClr val="B83227"/>
                </a:solidFill>
                <a:latin typeface="Cambria" pitchFamily="34" charset="0"/>
                <a:ea typeface="Cambria" pitchFamily="34" charset="-122"/>
                <a:cs typeface="Cambria" pitchFamily="34" charset="-120"/>
              </a:rPr>
              <a:t>91%</a:t>
            </a:r>
            <a:endParaRPr lang="en-US" sz="4000" dirty="0"/>
          </a:p>
        </p:txBody>
      </p:sp>
      <p:sp>
        <p:nvSpPr>
          <p:cNvPr id="10" name="Text 8"/>
          <p:cNvSpPr txBox="1"/>
          <p:nvPr/>
        </p:nvSpPr>
        <p:spPr>
          <a:xfrm>
            <a:off x="484632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of their confirmations promise after our need date</a:t>
            </a:r>
            <a:endParaRPr lang="en-US" sz="1200" dirty="0"/>
          </a:p>
        </p:txBody>
      </p:sp>
      <p:sp>
        <p:nvSpPr>
          <p:cNvPr id="11" name="Text 9"/>
          <p:cNvSpPr txBox="1"/>
          <p:nvPr/>
        </p:nvSpPr>
        <p:spPr>
          <a:xfrm>
            <a:off x="548640" y="2834640"/>
            <a:ext cx="6263640" cy="219456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How bad: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median 17 days late when late, worst 28. Every other vendor lands 99%+ of lines within 7 days.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Not a recent slip: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45% on time Sep-Dec (n=56) vs 40% Jan-May (n=78).</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Misses its own dates: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meets only 58% of its own promises.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Material: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$1.51M of heat treat; 7 open lines past due today ($14k).</a:t>
            </a:r>
            <a:endParaRPr lang="en-US" sz="1400" dirty="0"/>
          </a:p>
        </p:txBody>
      </p:sp>
      <p:sp>
        <p:nvSpPr>
          <p:cNvPr id="12" name="Shape 10"/>
          <p:cNvSpPr/>
          <p:nvPr/>
        </p:nvSpPr>
        <p:spPr>
          <a:xfrm>
            <a:off x="548640" y="5074920"/>
            <a:ext cx="6263640" cy="1097280"/>
          </a:xfrm>
          <a:prstGeom prst="roundRect">
            <a:avLst>
              <a:gd name="adj" fmla="val 6667"/>
            </a:avLst>
          </a:prstGeom>
          <a:solidFill>
            <a:srgbClr val="FBE9DF"/>
          </a:solidFill>
          <a:ln w="12700">
            <a:solidFill>
              <a:srgbClr val="FBE9DF"/>
            </a:solidFill>
            <a:prstDash val="solid"/>
          </a:ln>
        </p:spPr>
      </p:sp>
      <p:sp>
        <p:nvSpPr>
          <p:cNvPr id="13" name="Text 11"/>
          <p:cNvSpPr txBox="1"/>
          <p:nvPr/>
        </p:nvSpPr>
        <p:spPr>
          <a:xfrm>
            <a:off x="731520" y="5138928"/>
            <a:ext cx="5897880" cy="960120"/>
          </a:xfrm>
          <a:prstGeom prst="rect">
            <a:avLst/>
          </a:prstGeom>
          <a:noFill/>
          <a:ln/>
        </p:spPr>
        <p:txBody>
          <a:bodyPr wrap="square" lIns="0" tIns="0" rIns="0" bIns="0" rtlCol="0" anchor="ctr"/>
          <a:lstStyle/>
          <a:p>
            <a:pPr indent="0" marL="0">
              <a:buNone/>
            </a:pPr>
            <a:r>
              <a:rPr lang="en-US" sz="1300" b="1" dirty="0">
                <a:solidFill>
                  <a:srgbClr val="D9622B"/>
                </a:solidFill>
                <a:latin typeface="Calibri" pitchFamily="34" charset="0"/>
                <a:ea typeface="Calibri" pitchFamily="34" charset="-122"/>
                <a:cs typeface="Calibri" pitchFamily="34" charset="-120"/>
              </a:rPr>
              <a:t>Beacon's side too: </a:t>
            </a:r>
            <a:pPr indent="0" marL="0">
              <a:buNone/>
            </a:pPr>
            <a:r>
              <a:rPr lang="en-US" sz="1300" dirty="0">
                <a:solidFill>
                  <a:srgbClr val="1F2A33"/>
                </a:solidFill>
                <a:latin typeface="Calibri" pitchFamily="34" charset="0"/>
                <a:ea typeface="Calibri" pitchFamily="34" charset="-122"/>
                <a:cs typeface="Calibri" pitchFamily="34" charset="-120"/>
              </a:rPr>
              <a:t>we plan 19 days for heat treat, they quote 28 and deliver in 24.5 (medians). Part of this lateness is our planning. Take that to the call.</a:t>
            </a:r>
            <a:endParaRPr lang="en-US" sz="1300" dirty="0"/>
          </a:p>
        </p:txBody>
      </p:sp>
      <p:graphicFrame>
        <p:nvGraphicFramePr>
          <p:cNvPr id="14" name="Chart 0" descr=""/>
          <p:cNvGraphicFramePr/>
          <p:nvPr/>
        </p:nvGraphicFramePr>
        <p:xfrm>
          <a:off x="7178040" y="1463040"/>
          <a:ext cx="4465015" cy="4754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LOOKING AHEAD</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From rear-view to a watch list for open orders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14</a:t>
            </a:r>
            <a:endParaRPr lang="en-US" sz="900" dirty="0"/>
          </a:p>
        </p:txBody>
      </p:sp>
      <p:sp>
        <p:nvSpPr>
          <p:cNvPr id="5" name="Text 3"/>
          <p:cNvSpPr txBox="1"/>
          <p:nvPr/>
        </p:nvSpPr>
        <p:spPr>
          <a:xfrm>
            <a:off x="548640" y="1554480"/>
            <a:ext cx="2148840" cy="594360"/>
          </a:xfrm>
          <a:prstGeom prst="rect">
            <a:avLst/>
          </a:prstGeom>
          <a:noFill/>
          <a:ln/>
        </p:spPr>
        <p:txBody>
          <a:bodyPr wrap="square" lIns="0" tIns="0" rIns="0" bIns="0" rtlCol="0" anchor="ctr"/>
          <a:lstStyle/>
          <a:p>
            <a:pPr indent="0" marL="0">
              <a:buNone/>
            </a:pPr>
            <a:r>
              <a:rPr lang="en-US" sz="3200" b="1" dirty="0">
                <a:solidFill>
                  <a:srgbClr val="1F2A33"/>
                </a:solidFill>
                <a:latin typeface="Cambria" pitchFamily="34" charset="0"/>
                <a:ea typeface="Cambria" pitchFamily="34" charset="-122"/>
                <a:cs typeface="Cambria" pitchFamily="34" charset="-120"/>
              </a:rPr>
              <a:t>$3.32M</a:t>
            </a:r>
            <a:endParaRPr lang="en-US" sz="3200" dirty="0"/>
          </a:p>
        </p:txBody>
      </p:sp>
      <p:sp>
        <p:nvSpPr>
          <p:cNvPr id="6" name="Text 4"/>
          <p:cNvSpPr txBox="1"/>
          <p:nvPr/>
        </p:nvSpPr>
        <p:spPr>
          <a:xfrm>
            <a:off x="54864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80 open lines due in the next 60 days</a:t>
            </a:r>
            <a:endParaRPr lang="en-US" sz="1200" dirty="0"/>
          </a:p>
        </p:txBody>
      </p:sp>
      <p:sp>
        <p:nvSpPr>
          <p:cNvPr id="7" name="Text 5"/>
          <p:cNvSpPr txBox="1"/>
          <p:nvPr/>
        </p:nvSpPr>
        <p:spPr>
          <a:xfrm>
            <a:off x="2697480" y="1554480"/>
            <a:ext cx="2148840" cy="594360"/>
          </a:xfrm>
          <a:prstGeom prst="rect">
            <a:avLst/>
          </a:prstGeom>
          <a:noFill/>
          <a:ln/>
        </p:spPr>
        <p:txBody>
          <a:bodyPr wrap="square" lIns="0" tIns="0" rIns="0" bIns="0" rtlCol="0" anchor="ctr"/>
          <a:lstStyle/>
          <a:p>
            <a:pPr indent="0" marL="0">
              <a:buNone/>
            </a:pPr>
            <a:r>
              <a:rPr lang="en-US" sz="3200" b="1" dirty="0">
                <a:solidFill>
                  <a:srgbClr val="C98A06"/>
                </a:solidFill>
                <a:latin typeface="Cambria" pitchFamily="34" charset="0"/>
                <a:ea typeface="Cambria" pitchFamily="34" charset="-122"/>
                <a:cs typeface="Cambria" pitchFamily="34" charset="-120"/>
              </a:rPr>
              <a:t>$1.84M</a:t>
            </a:r>
            <a:endParaRPr lang="en-US" sz="3200" dirty="0"/>
          </a:p>
        </p:txBody>
      </p:sp>
      <p:sp>
        <p:nvSpPr>
          <p:cNvPr id="8" name="Text 6"/>
          <p:cNvSpPr txBox="1"/>
          <p:nvPr/>
        </p:nvSpPr>
        <p:spPr>
          <a:xfrm>
            <a:off x="2697480" y="215798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26 lines due in 14 days, no acknowledgment</a:t>
            </a:r>
            <a:endParaRPr lang="en-US" sz="1200" dirty="0"/>
          </a:p>
        </p:txBody>
      </p:sp>
      <p:sp>
        <p:nvSpPr>
          <p:cNvPr id="9" name="Text 7"/>
          <p:cNvSpPr txBox="1"/>
          <p:nvPr/>
        </p:nvSpPr>
        <p:spPr>
          <a:xfrm>
            <a:off x="548640" y="2788920"/>
            <a:ext cx="2148840" cy="594360"/>
          </a:xfrm>
          <a:prstGeom prst="rect">
            <a:avLst/>
          </a:prstGeom>
          <a:noFill/>
          <a:ln/>
        </p:spPr>
        <p:txBody>
          <a:bodyPr wrap="square" lIns="0" tIns="0" rIns="0" bIns="0" rtlCol="0" anchor="ctr"/>
          <a:lstStyle/>
          <a:p>
            <a:pPr indent="0" marL="0">
              <a:buNone/>
            </a:pPr>
            <a:r>
              <a:rPr lang="en-US" sz="3200" b="1" dirty="0">
                <a:solidFill>
                  <a:srgbClr val="B83227"/>
                </a:solidFill>
                <a:latin typeface="Cambria" pitchFamily="34" charset="0"/>
                <a:ea typeface="Cambria" pitchFamily="34" charset="-122"/>
                <a:cs typeface="Cambria" pitchFamily="34" charset="-120"/>
              </a:rPr>
              <a:t>3</a:t>
            </a:r>
            <a:endParaRPr lang="en-US" sz="3200" dirty="0"/>
          </a:p>
        </p:txBody>
      </p:sp>
      <p:sp>
        <p:nvSpPr>
          <p:cNvPr id="10" name="Text 8"/>
          <p:cNvSpPr txBox="1"/>
          <p:nvPr/>
        </p:nvSpPr>
        <p:spPr>
          <a:xfrm>
            <a:off x="548640" y="339242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lines at high risk (2 Continental, 1 Heritage)</a:t>
            </a:r>
            <a:endParaRPr lang="en-US" sz="1200" dirty="0"/>
          </a:p>
        </p:txBody>
      </p:sp>
      <p:sp>
        <p:nvSpPr>
          <p:cNvPr id="11" name="Text 9"/>
          <p:cNvSpPr txBox="1"/>
          <p:nvPr/>
        </p:nvSpPr>
        <p:spPr>
          <a:xfrm>
            <a:off x="2697480" y="2788920"/>
            <a:ext cx="2148840" cy="594360"/>
          </a:xfrm>
          <a:prstGeom prst="rect">
            <a:avLst/>
          </a:prstGeom>
          <a:noFill/>
          <a:ln/>
        </p:spPr>
        <p:txBody>
          <a:bodyPr wrap="square" lIns="0" tIns="0" rIns="0" bIns="0" rtlCol="0" anchor="ctr"/>
          <a:lstStyle/>
          <a:p>
            <a:pPr indent="0" marL="0">
              <a:buNone/>
            </a:pPr>
            <a:r>
              <a:rPr lang="en-US" sz="3200" b="1" dirty="0">
                <a:solidFill>
                  <a:srgbClr val="2E7D4F"/>
                </a:solidFill>
                <a:latin typeface="Cambria" pitchFamily="34" charset="0"/>
                <a:ea typeface="Cambria" pitchFamily="34" charset="-122"/>
                <a:cs typeface="Cambria" pitchFamily="34" charset="-120"/>
              </a:rPr>
              <a:t>59 of 63</a:t>
            </a:r>
            <a:endParaRPr lang="en-US" sz="3200" dirty="0"/>
          </a:p>
        </p:txBody>
      </p:sp>
      <p:sp>
        <p:nvSpPr>
          <p:cNvPr id="12" name="Text 10"/>
          <p:cNvSpPr txBox="1"/>
          <p:nvPr/>
        </p:nvSpPr>
        <p:spPr>
          <a:xfrm>
            <a:off x="2697480" y="3392424"/>
            <a:ext cx="1965960" cy="50292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past lines &gt;7 days late the rule would have flagged</a:t>
            </a:r>
            <a:endParaRPr lang="en-US" sz="1200" dirty="0"/>
          </a:p>
        </p:txBody>
      </p:sp>
      <p:sp>
        <p:nvSpPr>
          <p:cNvPr id="13" name="Shape 11"/>
          <p:cNvSpPr/>
          <p:nvPr/>
        </p:nvSpPr>
        <p:spPr>
          <a:xfrm>
            <a:off x="548640" y="4069080"/>
            <a:ext cx="4114800" cy="2240280"/>
          </a:xfrm>
          <a:prstGeom prst="roundRect">
            <a:avLst>
              <a:gd name="adj" fmla="val 3265"/>
            </a:avLst>
          </a:prstGeom>
          <a:solidFill>
            <a:srgbClr val="EEF2F5"/>
          </a:solidFill>
          <a:ln w="12700">
            <a:solidFill>
              <a:srgbClr val="EEF2F5"/>
            </a:solidFill>
            <a:prstDash val="solid"/>
          </a:ln>
        </p:spPr>
      </p:sp>
      <p:sp>
        <p:nvSpPr>
          <p:cNvPr id="14" name="Text 12"/>
          <p:cNvSpPr txBox="1"/>
          <p:nvPr/>
        </p:nvSpPr>
        <p:spPr>
          <a:xfrm>
            <a:off x="731520" y="4160520"/>
            <a:ext cx="3749040" cy="320040"/>
          </a:xfrm>
          <a:prstGeom prst="rect">
            <a:avLst/>
          </a:prstGeom>
          <a:noFill/>
          <a:ln/>
        </p:spPr>
        <p:txBody>
          <a:bodyPr wrap="square" lIns="0" tIns="0" rIns="0" bIns="0" rtlCol="0" anchor="ctr"/>
          <a:lstStyle/>
          <a:p>
            <a:pPr indent="0" marL="0">
              <a:buNone/>
            </a:pPr>
            <a:r>
              <a:rPr lang="en-US" sz="1300" b="1" dirty="0">
                <a:solidFill>
                  <a:srgbClr val="1F2A33"/>
                </a:solidFill>
                <a:latin typeface="Cambria" pitchFamily="34" charset="0"/>
                <a:ea typeface="Cambria" pitchFamily="34" charset="-122"/>
                <a:cs typeface="Cambria" pitchFamily="34" charset="-120"/>
              </a:rPr>
              <a:t>The rule (checkable by hand)</a:t>
            </a:r>
            <a:endParaRPr lang="en-US" sz="1300" dirty="0"/>
          </a:p>
        </p:txBody>
      </p:sp>
      <p:sp>
        <p:nvSpPr>
          <p:cNvPr id="15" name="Text 13"/>
          <p:cNvSpPr txBox="1"/>
          <p:nvPr/>
        </p:nvSpPr>
        <p:spPr>
          <a:xfrm>
            <a:off x="731520" y="4526280"/>
            <a:ext cx="3749040" cy="1737360"/>
          </a:xfrm>
          <a:prstGeom prst="rect">
            <a:avLst/>
          </a:prstGeom>
          <a:noFill/>
          <a:ln/>
        </p:spPr>
        <p:txBody>
          <a:bodyPr wrap="square" lIns="635" tIns="635" rIns="635" bIns="635" rtlCol="0" anchor="t"/>
          <a:lstStyle/>
          <a:p>
            <a:pPr marL="342900" indent="-342900">
              <a:spcAft>
                <a:spcPts val="300"/>
              </a:spcAft>
              <a:buSzPct val="100000"/>
              <a:buChar char="•"/>
            </a:pPr>
            <a:r>
              <a:rPr lang="en-US" sz="1100" dirty="0">
                <a:solidFill>
                  <a:srgbClr val="1F2A33"/>
                </a:solidFill>
                <a:latin typeface="Calibri" pitchFamily="34" charset="0"/>
                <a:ea typeface="Calibri" pitchFamily="34" charset="-122"/>
                <a:cs typeface="Calibri" pitchFamily="34" charset="-120"/>
              </a:rPr>
              <a:t>Flag if the vendor already promises after our need date, or delivers this part on time &lt;60% (5+ past lines).</a:t>
            </a:r>
            <a:endParaRPr lang="en-US" sz="1100" dirty="0"/>
          </a:p>
          <a:p>
            <a:pPr marL="342900" indent="-342900">
              <a:spcAft>
                <a:spcPts val="300"/>
              </a:spcAft>
              <a:buSzPct val="100000"/>
              <a:buChar char="•"/>
            </a:pPr>
            <a:r>
              <a:rPr lang="en-US" sz="1100" dirty="0">
                <a:solidFill>
                  <a:srgbClr val="1F2A33"/>
                </a:solidFill>
                <a:latin typeface="Calibri" pitchFamily="34" charset="0"/>
                <a:ea typeface="Calibri" pitchFamily="34" charset="-122"/>
                <a:cs typeface="Calibri" pitchFamily="34" charset="-120"/>
              </a:rPr>
              <a:t>Backtested on 8 months, no look-ahead: 33% of flagged lines were late vs 22% overall. A watch list, not a forecast.</a:t>
            </a:r>
            <a:endParaRPr lang="en-US" sz="1100" dirty="0"/>
          </a:p>
          <a:p>
            <a:pPr marL="342900" indent="-342900">
              <a:spcAft>
                <a:spcPts val="300"/>
              </a:spcAft>
              <a:buSzPct val="100000"/>
              <a:buChar char="•"/>
            </a:pPr>
            <a:r>
              <a:rPr lang="en-US" sz="1100" dirty="0">
                <a:solidFill>
                  <a:srgbClr val="1F2A33"/>
                </a:solidFill>
                <a:latin typeface="Calibri" pitchFamily="34" charset="0"/>
                <a:ea typeface="Calibri" pitchFamily="34" charset="-122"/>
                <a:cs typeface="Calibri" pitchFamily="34" charset="-120"/>
              </a:rPr>
              <a:t>Promise dates come from the ERP and from this week's PDFs read by Task 1.</a:t>
            </a:r>
            <a:endParaRPr lang="en-US" sz="1100" dirty="0"/>
          </a:p>
        </p:txBody>
      </p:sp>
      <p:pic>
        <p:nvPicPr>
          <p:cNvPr id="16" name="Image 0" descr="/home/user/BeaconFasteners/Beacon Superday-Submission/presentation/assets/readout_lookahead.png">    </p:cNvPr>
          <p:cNvPicPr>
            <a:picLocks noChangeAspect="1"/>
          </p:cNvPicPr>
          <p:nvPr/>
        </p:nvPicPr>
        <p:blipFill>
          <a:blip r:embed="rId1"/>
          <a:stretch>
            <a:fillRect/>
          </a:stretch>
        </p:blipFill>
        <p:spPr>
          <a:xfrm>
            <a:off x="5815025" y="1463040"/>
            <a:ext cx="5042206" cy="4800600"/>
          </a:xfrm>
          <a:prstGeom prst="rect">
            <a:avLst/>
          </a:prstGeom>
          <a:effectLst>
            <a:outerShdw sx="100000" sy="100000" kx="0" ky="0" algn="bl" rotWithShape="0" blurRad="76200" dist="25400" dir="5400000">
              <a:srgbClr val="000000">
                <a:alpha val="2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TASK 2 · TOWARD THE PART-NUMBER CLEANUP</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The crosswalk grows from daily work and seeds the part master</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15</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914400"/>
                <a:gridCol w="1828800"/>
                <a:gridCol w="1920240"/>
                <a:gridCol w="1600200"/>
                <a:gridCol w="1417320"/>
              </a:tblGrid>
              <a:tr h="5029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Vendor PN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Beacon PN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APH-441-OS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CHB-9472-4</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This week's PDF (qty+price)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PENDING: ERP had APH-4411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OST-CAR-A-100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TOOL-INS-CAR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This week's PDF (qty+price)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b="1" dirty="0">
                          <a:solidFill>
                            <a:srgbClr val="C98A06"/>
                          </a:solidFill>
                          <a:latin typeface="Calibri" pitchFamily="34" charset="0"/>
                          <a:ea typeface="Calibri" pitchFamily="34" charset="-122"/>
                          <a:cs typeface="Calibri" pitchFamily="34" charset="-120"/>
                        </a:rPr>
                        <a:t>PENDING: ERP had WZ-HM-EIN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APH-125 / 318 / 441 / 4411</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CHB-3301 / 7715 / 9472-3 / 9472-4</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30-44 times each</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Heritage</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K-1050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CHB-5520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41 times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b="1" dirty="0">
                          <a:solidFill>
                            <a:srgbClr val="B83227"/>
                          </a:solidFill>
                          <a:latin typeface="Calibri" pitchFamily="34" charset="0"/>
                          <a:ea typeface="Calibri" pitchFamily="34" charset="-122"/>
                          <a:cs typeface="Calibri" pitchFamily="34" charset="-120"/>
                        </a:rPr>
                        <a:t>K-1050</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TOOL-PUNCH-STD</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Same PN, different part!</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02920">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Ostmark</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WZ-9472-DS / WZ-HM-EIN</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TOOL-DIE-9472 / TOOL-INS-CAR</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ERP confirmations × PO lines</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F2A33"/>
                          </a:solidFill>
                          <a:latin typeface="Calibri" pitchFamily="34" charset="0"/>
                          <a:ea typeface="Calibri" pitchFamily="34" charset="-122"/>
                          <a:cs typeface="Calibri" pitchFamily="34" charset="-120"/>
                        </a:rPr>
                        <a:t>Seen 17-20 times each</a:t>
                      </a:r>
                      <a:endParaRPr lang="en-US" sz="11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1508760"/>
            <a:ext cx="3047695" cy="4663440"/>
          </a:xfrm>
          <a:prstGeom prst="roundRect">
            <a:avLst>
              <a:gd name="adj" fmla="val 2400"/>
            </a:avLst>
          </a:prstGeom>
          <a:solidFill>
            <a:srgbClr val="EEF2F5"/>
          </a:solidFill>
          <a:ln w="12700">
            <a:solidFill>
              <a:srgbClr val="EEF2F5"/>
            </a:solidFill>
            <a:prstDash val="solid"/>
          </a:ln>
        </p:spPr>
      </p:sp>
      <p:sp>
        <p:nvSpPr>
          <p:cNvPr id="7" name="Text 4"/>
          <p:cNvSpPr txBox="1"/>
          <p:nvPr/>
        </p:nvSpPr>
        <p:spPr>
          <a:xfrm>
            <a:off x="8869680" y="1691640"/>
            <a:ext cx="2499055"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For the cleanup</a:t>
            </a:r>
            <a:endParaRPr lang="en-US" sz="1600" dirty="0"/>
          </a:p>
        </p:txBody>
      </p:sp>
      <p:sp>
        <p:nvSpPr>
          <p:cNvPr id="8" name="Text 5"/>
          <p:cNvSpPr txBox="1"/>
          <p:nvPr/>
        </p:nvSpPr>
        <p:spPr>
          <a:xfrm>
            <a:off x="8869680" y="2103120"/>
            <a:ext cx="2499055" cy="4023360"/>
          </a:xfrm>
          <a:prstGeom prst="rect">
            <a:avLst/>
          </a:prstGeom>
          <a:noFill/>
          <a:ln/>
        </p:spPr>
        <p:txBody>
          <a:bodyPr wrap="square" lIns="635" tIns="635" rIns="635" bIns="635" rtlCol="0" anchor="t"/>
          <a:lstStyle/>
          <a:p>
            <a:pPr marL="342900" indent="-342900">
              <a:spcAft>
                <a:spcPts val="400"/>
              </a:spcAft>
              <a:buSzPct val="100000"/>
              <a:buChar char="•"/>
            </a:pPr>
            <a:r>
              <a:rPr lang="en-US" sz="1200" b="1" dirty="0">
                <a:solidFill>
                  <a:srgbClr val="1F2A33"/>
                </a:solidFill>
                <a:latin typeface="Calibri" pitchFamily="34" charset="0"/>
                <a:ea typeface="Calibri" pitchFamily="34" charset="-122"/>
                <a:cs typeface="Calibri" pitchFamily="34" charset="-120"/>
              </a:rPr>
              <a:t>Key on (vendor, vendor PN): </a:t>
            </a:r>
            <a:pPr indent="0" marL="0">
              <a:spcAft>
                <a:spcPts val="400"/>
              </a:spcAft>
              <a:buNone/>
            </a:pPr>
            <a:r>
              <a:rPr lang="en-US" sz="1200" dirty="0">
                <a:solidFill>
                  <a:srgbClr val="1F2A33"/>
                </a:solidFill>
                <a:latin typeface="Calibri" pitchFamily="34" charset="0"/>
                <a:ea typeface="Calibri" pitchFamily="34" charset="-122"/>
                <a:cs typeface="Calibri" pitchFamily="34" charset="-120"/>
              </a:rPr>
              <a:t>K-1050 is two different parts.</a:t>
            </a:r>
            <a:endParaRPr lang="en-US" sz="1200" dirty="0"/>
          </a:p>
          <a:p>
            <a:pPr marL="342900" indent="-342900">
              <a:spcAft>
                <a:spcPts val="400"/>
              </a:spcAft>
              <a:buSzPct val="100000"/>
              <a:buChar char="•"/>
            </a:pPr>
            <a:r>
              <a:rPr lang="en-US" sz="1200" b="1" dirty="0">
                <a:solidFill>
                  <a:srgbClr val="1F2A33"/>
                </a:solidFill>
                <a:latin typeface="Calibri" pitchFamily="34" charset="0"/>
                <a:ea typeface="Calibri" pitchFamily="34" charset="-122"/>
                <a:cs typeface="Calibri" pitchFamily="34" charset="-120"/>
              </a:rPr>
              <a:t>Vendors renumber quietly: </a:t>
            </a:r>
            <a:pPr indent="0" marL="0">
              <a:spcAft>
                <a:spcPts val="400"/>
              </a:spcAft>
              <a:buNone/>
            </a:pPr>
            <a:r>
              <a:rPr lang="en-US" sz="1200" dirty="0">
                <a:solidFill>
                  <a:srgbClr val="1F2A33"/>
                </a:solidFill>
                <a:latin typeface="Calibri" pitchFamily="34" charset="0"/>
                <a:ea typeface="Calibri" pitchFamily="34" charset="-122"/>
                <a:cs typeface="Calibri" pitchFamily="34" charset="-120"/>
              </a:rPr>
              <a:t>2 caught this week.</a:t>
            </a:r>
            <a:endParaRPr lang="en-US" sz="1200" dirty="0"/>
          </a:p>
          <a:p>
            <a:pPr marL="342900" indent="-342900">
              <a:spcAft>
                <a:spcPts val="400"/>
              </a:spcAft>
              <a:buSzPct val="100000"/>
              <a:buChar char="•"/>
            </a:pPr>
            <a:r>
              <a:rPr lang="en-US" sz="1200" b="1" dirty="0">
                <a:solidFill>
                  <a:srgbClr val="1F2A33"/>
                </a:solidFill>
                <a:latin typeface="Calibri" pitchFamily="34" charset="0"/>
                <a:ea typeface="Calibri" pitchFamily="34" charset="-122"/>
                <a:cs typeface="Calibri" pitchFamily="34" charset="-120"/>
              </a:rPr>
              <a:t>Governed: </a:t>
            </a:r>
            <a:pPr indent="0" marL="0">
              <a:spcAft>
                <a:spcPts val="400"/>
              </a:spcAft>
              <a:buNone/>
            </a:pPr>
            <a:r>
              <a:rPr lang="en-US" sz="1200" dirty="0">
                <a:solidFill>
                  <a:srgbClr val="1F2A33"/>
                </a:solidFill>
                <a:latin typeface="Calibri" pitchFamily="34" charset="0"/>
                <a:ea typeface="Calibri" pitchFamily="34" charset="-122"/>
                <a:cs typeface="Calibri" pitchFamily="34" charset="-120"/>
              </a:rPr>
              <a:t>source, confidence, status, approver and date on every row.</a:t>
            </a:r>
            <a:endParaRPr lang="en-US" sz="1200" dirty="0"/>
          </a:p>
          <a:p>
            <a:pPr marL="342900" indent="-342900">
              <a:spcAft>
                <a:spcPts val="400"/>
              </a:spcAft>
              <a:buSzPct val="100000"/>
              <a:buChar char="•"/>
            </a:pPr>
            <a:r>
              <a:rPr lang="en-US" sz="1200" b="1" dirty="0">
                <a:solidFill>
                  <a:srgbClr val="1F2A33"/>
                </a:solidFill>
                <a:latin typeface="Calibri" pitchFamily="34" charset="0"/>
                <a:ea typeface="Calibri" pitchFamily="34" charset="-122"/>
                <a:cs typeface="Calibri" pitchFamily="34" charset="-120"/>
              </a:rPr>
              <a:t>Proposed, not imposed: </a:t>
            </a:r>
            <a:pPr indent="0" marL="0">
              <a:spcAft>
                <a:spcPts val="400"/>
              </a:spcAft>
              <a:buNone/>
            </a:pPr>
            <a:r>
              <a:rPr lang="en-US" sz="1200" dirty="0">
                <a:solidFill>
                  <a:srgbClr val="1F2A33"/>
                </a:solidFill>
                <a:latin typeface="Calibri" pitchFamily="34" charset="0"/>
                <a:ea typeface="Calibri" pitchFamily="34" charset="-122"/>
                <a:cs typeface="Calibri" pitchFamily="34" charset="-120"/>
              </a:rPr>
              <a:t>a buyer approves; only approved rows match.</a:t>
            </a:r>
            <a:endParaRPr lang="en-US" sz="1200" dirty="0"/>
          </a:p>
          <a:p>
            <a:pPr marL="342900" indent="-342900">
              <a:spcAft>
                <a:spcPts val="400"/>
              </a:spcAft>
              <a:buSzPct val="100000"/>
              <a:buChar char="•"/>
            </a:pPr>
            <a:r>
              <a:rPr lang="en-US" sz="1200" b="1" dirty="0">
                <a:solidFill>
                  <a:srgbClr val="1F2A33"/>
                </a:solidFill>
                <a:latin typeface="Calibri" pitchFamily="34" charset="0"/>
                <a:ea typeface="Calibri" pitchFamily="34" charset="-122"/>
                <a:cs typeface="Calibri" pitchFamily="34" charset="-120"/>
              </a:rPr>
              <a:t>Never overwrite: </a:t>
            </a:r>
            <a:pPr indent="0" marL="0">
              <a:spcAft>
                <a:spcPts val="400"/>
              </a:spcAft>
              <a:buNone/>
            </a:pPr>
            <a:r>
              <a:rPr lang="en-US" sz="1200" dirty="0">
                <a:solidFill>
                  <a:srgbClr val="1F2A33"/>
                </a:solidFill>
                <a:latin typeface="Calibri" pitchFamily="34" charset="0"/>
                <a:ea typeface="Calibri" pitchFamily="34" charset="-122"/>
                <a:cs typeface="Calibri" pitchFamily="34" charset="-120"/>
              </a:rPr>
              <a:t>old numbers retire, history still joins.</a:t>
            </a:r>
            <a:endParaRPr lang="en-US" sz="1200" dirty="0"/>
          </a:p>
        </p:txBody>
      </p:sp>
      <p:sp>
        <p:nvSpPr>
          <p:cNvPr id="9" name="Text 6"/>
          <p:cNvSpPr txBox="1"/>
          <p:nvPr/>
        </p:nvSpPr>
        <p:spPr>
          <a:xfrm>
            <a:off x="548640" y="5303520"/>
            <a:ext cx="7680960" cy="731520"/>
          </a:xfrm>
          <a:prstGeom prst="rect">
            <a:avLst/>
          </a:prstGeom>
          <a:noFill/>
          <a:ln/>
        </p:spPr>
        <p:txBody>
          <a:bodyPr wrap="square" lIns="0" tIns="0" rIns="0" bIns="0" rtlCol="0" anchor="ctr"/>
          <a:lstStyle/>
          <a:p>
            <a:pPr indent="0" marL="0">
              <a:buNone/>
            </a:pPr>
            <a:r>
              <a:rPr lang="en-US" sz="1200" i="1" dirty="0">
                <a:solidFill>
                  <a:srgbClr val="4E5D6A"/>
                </a:solidFill>
                <a:latin typeface="Calibri" pitchFamily="34" charset="0"/>
                <a:ea typeface="Calibri" pitchFamily="34" charset="-122"/>
                <a:cs typeface="Calibri" pitchFamily="34" charset="-120"/>
              </a:rPr>
              <a:t>Mined from the ERP: 8 mappings. Task 1 adds new ones as Lisa approves them (output/pn_crosswalk_updated.csv).</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I deliberately did not build, and why</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16</a:t>
            </a:r>
            <a:endParaRPr lang="en-US" sz="900" dirty="0"/>
          </a:p>
        </p:txBody>
      </p:sp>
      <p:sp>
        <p:nvSpPr>
          <p:cNvPr id="5" name="Shape 3"/>
          <p:cNvSpPr/>
          <p:nvPr/>
        </p:nvSpPr>
        <p:spPr>
          <a:xfrm>
            <a:off x="548640" y="1554480"/>
            <a:ext cx="3515258" cy="2148840"/>
          </a:xfrm>
          <a:prstGeom prst="roundRect">
            <a:avLst>
              <a:gd name="adj" fmla="val 3404"/>
            </a:avLst>
          </a:prstGeom>
          <a:solidFill>
            <a:srgbClr val="EEF2F5"/>
          </a:solidFill>
          <a:ln w="12700">
            <a:solidFill>
              <a:srgbClr val="EEF2F5"/>
            </a:solidFill>
            <a:prstDash val="solid"/>
          </a:ln>
        </p:spPr>
      </p:sp>
      <p:sp>
        <p:nvSpPr>
          <p:cNvPr id="6" name="Shape 4"/>
          <p:cNvSpPr/>
          <p:nvPr/>
        </p:nvSpPr>
        <p:spPr>
          <a:xfrm>
            <a:off x="777240" y="1810512"/>
            <a:ext cx="329184" cy="329184"/>
          </a:xfrm>
          <a:prstGeom prst="ellipse">
            <a:avLst/>
          </a:prstGeom>
          <a:solidFill>
            <a:srgbClr val="FFFFFF"/>
          </a:solidFill>
          <a:ln w="19050">
            <a:solidFill>
              <a:srgbClr val="7D8B97"/>
            </a:solidFill>
            <a:prstDash val="solid"/>
          </a:ln>
        </p:spPr>
      </p:sp>
      <p:sp>
        <p:nvSpPr>
          <p:cNvPr id="7" name="Text 5"/>
          <p:cNvSpPr txBox="1"/>
          <p:nvPr/>
        </p:nvSpPr>
        <p:spPr>
          <a:xfrm>
            <a:off x="777240"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8" name="Text 6"/>
          <p:cNvSpPr txBox="1"/>
          <p:nvPr/>
        </p:nvSpPr>
        <p:spPr>
          <a:xfrm>
            <a:off x="1234440"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ERP integration or write-back</a:t>
            </a:r>
            <a:endParaRPr lang="en-US" sz="1500" dirty="0"/>
          </a:p>
        </p:txBody>
      </p:sp>
      <p:sp>
        <p:nvSpPr>
          <p:cNvPr id="9" name="Text 7"/>
          <p:cNvSpPr txBox="1"/>
          <p:nvPr/>
        </p:nvSpPr>
        <p:spPr>
          <a:xfrm>
            <a:off x="777240"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No API access, and a wrong write is expensive. The CSV export is the contract; integration comes after trust.</a:t>
            </a:r>
            <a:endParaRPr lang="en-US" sz="1300" dirty="0"/>
          </a:p>
        </p:txBody>
      </p:sp>
      <p:sp>
        <p:nvSpPr>
          <p:cNvPr id="10" name="Shape 8"/>
          <p:cNvSpPr/>
          <p:nvPr/>
        </p:nvSpPr>
        <p:spPr>
          <a:xfrm>
            <a:off x="4338218" y="1554480"/>
            <a:ext cx="3515258" cy="2148840"/>
          </a:xfrm>
          <a:prstGeom prst="roundRect">
            <a:avLst>
              <a:gd name="adj" fmla="val 3404"/>
            </a:avLst>
          </a:prstGeom>
          <a:solidFill>
            <a:srgbClr val="EEF2F5"/>
          </a:solidFill>
          <a:ln w="12700">
            <a:solidFill>
              <a:srgbClr val="EEF2F5"/>
            </a:solidFill>
            <a:prstDash val="solid"/>
          </a:ln>
        </p:spPr>
      </p:sp>
      <p:sp>
        <p:nvSpPr>
          <p:cNvPr id="11" name="Shape 9"/>
          <p:cNvSpPr/>
          <p:nvPr/>
        </p:nvSpPr>
        <p:spPr>
          <a:xfrm>
            <a:off x="4566818" y="1810512"/>
            <a:ext cx="329184" cy="329184"/>
          </a:xfrm>
          <a:prstGeom prst="ellipse">
            <a:avLst/>
          </a:prstGeom>
          <a:solidFill>
            <a:srgbClr val="FFFFFF"/>
          </a:solidFill>
          <a:ln w="19050">
            <a:solidFill>
              <a:srgbClr val="7D8B97"/>
            </a:solidFill>
            <a:prstDash val="solid"/>
          </a:ln>
        </p:spPr>
      </p:sp>
      <p:sp>
        <p:nvSpPr>
          <p:cNvPr id="12" name="Text 10"/>
          <p:cNvSpPr txBox="1"/>
          <p:nvPr/>
        </p:nvSpPr>
        <p:spPr>
          <a:xfrm>
            <a:off x="4566818"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13" name="Text 11"/>
          <p:cNvSpPr txBox="1"/>
          <p:nvPr/>
        </p:nvSpPr>
        <p:spPr>
          <a:xfrm>
            <a:off x="5024018"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Auto-emailing vendors</a:t>
            </a:r>
            <a:endParaRPr lang="en-US" sz="1500" dirty="0"/>
          </a:p>
        </p:txBody>
      </p:sp>
      <p:sp>
        <p:nvSpPr>
          <p:cNvPr id="14" name="Text 12"/>
          <p:cNvSpPr txBox="1"/>
          <p:nvPr/>
        </p:nvSpPr>
        <p:spPr>
          <a:xfrm>
            <a:off x="4566818"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tool drafts emails; Lisa sends them. Vendor relationships are hers.</a:t>
            </a:r>
            <a:endParaRPr lang="en-US" sz="1300" dirty="0"/>
          </a:p>
        </p:txBody>
      </p:sp>
      <p:sp>
        <p:nvSpPr>
          <p:cNvPr id="15" name="Shape 13"/>
          <p:cNvSpPr/>
          <p:nvPr/>
        </p:nvSpPr>
        <p:spPr>
          <a:xfrm>
            <a:off x="8127797" y="1554480"/>
            <a:ext cx="3515258" cy="2148840"/>
          </a:xfrm>
          <a:prstGeom prst="roundRect">
            <a:avLst>
              <a:gd name="adj" fmla="val 3404"/>
            </a:avLst>
          </a:prstGeom>
          <a:solidFill>
            <a:srgbClr val="EEF2F5"/>
          </a:solidFill>
          <a:ln w="12700">
            <a:solidFill>
              <a:srgbClr val="EEF2F5"/>
            </a:solidFill>
            <a:prstDash val="solid"/>
          </a:ln>
        </p:spPr>
      </p:sp>
      <p:sp>
        <p:nvSpPr>
          <p:cNvPr id="16" name="Shape 14"/>
          <p:cNvSpPr/>
          <p:nvPr/>
        </p:nvSpPr>
        <p:spPr>
          <a:xfrm>
            <a:off x="8356397" y="1810512"/>
            <a:ext cx="329184" cy="329184"/>
          </a:xfrm>
          <a:prstGeom prst="ellipse">
            <a:avLst/>
          </a:prstGeom>
          <a:solidFill>
            <a:srgbClr val="FFFFFF"/>
          </a:solidFill>
          <a:ln w="19050">
            <a:solidFill>
              <a:srgbClr val="7D8B97"/>
            </a:solidFill>
            <a:prstDash val="solid"/>
          </a:ln>
        </p:spPr>
      </p:sp>
      <p:sp>
        <p:nvSpPr>
          <p:cNvPr id="17" name="Text 15"/>
          <p:cNvSpPr txBox="1"/>
          <p:nvPr/>
        </p:nvSpPr>
        <p:spPr>
          <a:xfrm>
            <a:off x="8356397" y="181051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8813597" y="175564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LLM-first extraction</a:t>
            </a:r>
            <a:endParaRPr lang="en-US" sz="1500" dirty="0"/>
          </a:p>
        </p:txBody>
      </p:sp>
      <p:sp>
        <p:nvSpPr>
          <p:cNvPr id="19" name="Text 17"/>
          <p:cNvSpPr txBox="1"/>
          <p:nvPr/>
        </p:nvSpPr>
        <p:spPr>
          <a:xfrm>
            <a:off x="8356397" y="237744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6 stable layouts parse deterministically and auditably. The AI reader is a fallback, off by default.</a:t>
            </a:r>
            <a:endParaRPr lang="en-US" sz="1300" dirty="0"/>
          </a:p>
        </p:txBody>
      </p:sp>
      <p:sp>
        <p:nvSpPr>
          <p:cNvPr id="20" name="Shape 18"/>
          <p:cNvSpPr/>
          <p:nvPr/>
        </p:nvSpPr>
        <p:spPr>
          <a:xfrm>
            <a:off x="548640" y="3977640"/>
            <a:ext cx="3515258" cy="2148840"/>
          </a:xfrm>
          <a:prstGeom prst="roundRect">
            <a:avLst>
              <a:gd name="adj" fmla="val 3404"/>
            </a:avLst>
          </a:prstGeom>
          <a:solidFill>
            <a:srgbClr val="EEF2F5"/>
          </a:solidFill>
          <a:ln w="12700">
            <a:solidFill>
              <a:srgbClr val="EEF2F5"/>
            </a:solidFill>
            <a:prstDash val="solid"/>
          </a:ln>
        </p:spPr>
      </p:sp>
      <p:sp>
        <p:nvSpPr>
          <p:cNvPr id="21" name="Shape 19"/>
          <p:cNvSpPr/>
          <p:nvPr/>
        </p:nvSpPr>
        <p:spPr>
          <a:xfrm>
            <a:off x="777240" y="4233672"/>
            <a:ext cx="329184" cy="329184"/>
          </a:xfrm>
          <a:prstGeom prst="ellipse">
            <a:avLst/>
          </a:prstGeom>
          <a:solidFill>
            <a:srgbClr val="FFFFFF"/>
          </a:solidFill>
          <a:ln w="19050">
            <a:solidFill>
              <a:srgbClr val="7D8B97"/>
            </a:solidFill>
            <a:prstDash val="solid"/>
          </a:ln>
        </p:spPr>
      </p:sp>
      <p:sp>
        <p:nvSpPr>
          <p:cNvPr id="22" name="Text 20"/>
          <p:cNvSpPr txBox="1"/>
          <p:nvPr/>
        </p:nvSpPr>
        <p:spPr>
          <a:xfrm>
            <a:off x="777240"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23" name="Text 21"/>
          <p:cNvSpPr txBox="1"/>
          <p:nvPr/>
        </p:nvSpPr>
        <p:spPr>
          <a:xfrm>
            <a:off x="1234440"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Full master-data (MDM) platform</a:t>
            </a:r>
            <a:endParaRPr lang="en-US" sz="1500" dirty="0"/>
          </a:p>
        </p:txBody>
      </p:sp>
      <p:sp>
        <p:nvSpPr>
          <p:cNvPr id="24" name="Text 22"/>
          <p:cNvSpPr txBox="1"/>
          <p:nvPr/>
        </p:nvSpPr>
        <p:spPr>
          <a:xfrm>
            <a:off x="777240"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crosswalk file, with source, confidence and review status, is the seed. The platform comes later.</a:t>
            </a:r>
            <a:endParaRPr lang="en-US" sz="1300" dirty="0"/>
          </a:p>
        </p:txBody>
      </p:sp>
      <p:sp>
        <p:nvSpPr>
          <p:cNvPr id="25" name="Shape 23"/>
          <p:cNvSpPr/>
          <p:nvPr/>
        </p:nvSpPr>
        <p:spPr>
          <a:xfrm>
            <a:off x="4338218" y="3977640"/>
            <a:ext cx="3515258" cy="2148840"/>
          </a:xfrm>
          <a:prstGeom prst="roundRect">
            <a:avLst>
              <a:gd name="adj" fmla="val 3404"/>
            </a:avLst>
          </a:prstGeom>
          <a:solidFill>
            <a:srgbClr val="EEF2F5"/>
          </a:solidFill>
          <a:ln w="12700">
            <a:solidFill>
              <a:srgbClr val="EEF2F5"/>
            </a:solidFill>
            <a:prstDash val="solid"/>
          </a:ln>
        </p:spPr>
      </p:sp>
      <p:sp>
        <p:nvSpPr>
          <p:cNvPr id="26" name="Shape 24"/>
          <p:cNvSpPr/>
          <p:nvPr/>
        </p:nvSpPr>
        <p:spPr>
          <a:xfrm>
            <a:off x="4566818" y="4233672"/>
            <a:ext cx="329184" cy="329184"/>
          </a:xfrm>
          <a:prstGeom prst="ellipse">
            <a:avLst/>
          </a:prstGeom>
          <a:solidFill>
            <a:srgbClr val="FFFFFF"/>
          </a:solidFill>
          <a:ln w="19050">
            <a:solidFill>
              <a:srgbClr val="7D8B97"/>
            </a:solidFill>
            <a:prstDash val="solid"/>
          </a:ln>
        </p:spPr>
      </p:sp>
      <p:sp>
        <p:nvSpPr>
          <p:cNvPr id="27" name="Text 25"/>
          <p:cNvSpPr txBox="1"/>
          <p:nvPr/>
        </p:nvSpPr>
        <p:spPr>
          <a:xfrm>
            <a:off x="4566818"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28" name="Text 26"/>
          <p:cNvSpPr txBox="1"/>
          <p:nvPr/>
        </p:nvSpPr>
        <p:spPr>
          <a:xfrm>
            <a:off x="5024018"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 0-100 vendor score</a:t>
            </a:r>
            <a:endParaRPr lang="en-US" sz="1500" dirty="0"/>
          </a:p>
        </p:txBody>
      </p:sp>
      <p:sp>
        <p:nvSpPr>
          <p:cNvPr id="29" name="Text 27"/>
          <p:cNvSpPr txBox="1"/>
          <p:nvPr/>
        </p:nvSpPr>
        <p:spPr>
          <a:xfrm>
            <a:off x="4566818"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The weights would be invented. An evidence table with denominators is more honest.</a:t>
            </a:r>
            <a:endParaRPr lang="en-US" sz="1300" dirty="0"/>
          </a:p>
        </p:txBody>
      </p:sp>
      <p:sp>
        <p:nvSpPr>
          <p:cNvPr id="30" name="Shape 28"/>
          <p:cNvSpPr/>
          <p:nvPr/>
        </p:nvSpPr>
        <p:spPr>
          <a:xfrm>
            <a:off x="8127797" y="3977640"/>
            <a:ext cx="3515258" cy="2148840"/>
          </a:xfrm>
          <a:prstGeom prst="roundRect">
            <a:avLst>
              <a:gd name="adj" fmla="val 3404"/>
            </a:avLst>
          </a:prstGeom>
          <a:solidFill>
            <a:srgbClr val="EEF2F5"/>
          </a:solidFill>
          <a:ln w="12700">
            <a:solidFill>
              <a:srgbClr val="EEF2F5"/>
            </a:solidFill>
            <a:prstDash val="solid"/>
          </a:ln>
        </p:spPr>
      </p:sp>
      <p:sp>
        <p:nvSpPr>
          <p:cNvPr id="31" name="Shape 29"/>
          <p:cNvSpPr/>
          <p:nvPr/>
        </p:nvSpPr>
        <p:spPr>
          <a:xfrm>
            <a:off x="8356397" y="4233672"/>
            <a:ext cx="329184" cy="329184"/>
          </a:xfrm>
          <a:prstGeom prst="ellipse">
            <a:avLst/>
          </a:prstGeom>
          <a:solidFill>
            <a:srgbClr val="FFFFFF"/>
          </a:solidFill>
          <a:ln w="19050">
            <a:solidFill>
              <a:srgbClr val="7D8B97"/>
            </a:solidFill>
            <a:prstDash val="solid"/>
          </a:ln>
        </p:spPr>
      </p:sp>
      <p:sp>
        <p:nvSpPr>
          <p:cNvPr id="32" name="Text 30"/>
          <p:cNvSpPr txBox="1"/>
          <p:nvPr/>
        </p:nvSpPr>
        <p:spPr>
          <a:xfrm>
            <a:off x="8356397" y="4233672"/>
            <a:ext cx="329184" cy="329184"/>
          </a:xfrm>
          <a:prstGeom prst="rect">
            <a:avLst/>
          </a:prstGeom>
          <a:noFill/>
          <a:ln/>
        </p:spPr>
        <p:txBody>
          <a:bodyPr wrap="square" lIns="0" tIns="0" rIns="0" bIns="0" rtlCol="0" anchor="ctr"/>
          <a:lstStyle/>
          <a:p>
            <a:pPr algn="ctr" indent="0" marL="0">
              <a:buNone/>
            </a:pPr>
            <a:r>
              <a:rPr lang="en-US" sz="1300" b="1" dirty="0">
                <a:solidFill>
                  <a:srgbClr val="7D8B97"/>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8813597" y="4178808"/>
            <a:ext cx="2646578" cy="457200"/>
          </a:xfrm>
          <a:prstGeom prst="rect">
            <a:avLst/>
          </a:prstGeom>
          <a:noFill/>
          <a:ln/>
        </p:spPr>
        <p:txBody>
          <a:bodyPr wrap="square" lIns="0" tIns="0" rIns="0" bIns="0" rtlCol="0" anchor="ctr"/>
          <a:lstStyle/>
          <a:p>
            <a:pPr indent="0" marL="0">
              <a:buNone/>
            </a:pPr>
            <a:r>
              <a:rPr lang="en-US" sz="1500" b="1" dirty="0">
                <a:solidFill>
                  <a:srgbClr val="1F2A33"/>
                </a:solidFill>
                <a:latin typeface="Calibri" pitchFamily="34" charset="0"/>
                <a:ea typeface="Calibri" pitchFamily="34" charset="-122"/>
                <a:cs typeface="Calibri" pitchFamily="34" charset="-120"/>
              </a:rPr>
              <a:t>A chatbot or a big web app</a:t>
            </a:r>
            <a:endParaRPr lang="en-US" sz="1500" dirty="0"/>
          </a:p>
        </p:txBody>
      </p:sp>
      <p:sp>
        <p:nvSpPr>
          <p:cNvPr id="34" name="Text 32"/>
          <p:cNvSpPr txBox="1"/>
          <p:nvPr/>
        </p:nvSpPr>
        <p:spPr>
          <a:xfrm>
            <a:off x="8356397" y="4800600"/>
            <a:ext cx="3058058" cy="118872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Lisa needs a morning action queue, not another interface. Excel is where she works; the small app is optional.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LIMITS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Where this falls over, and what catches it when it does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108960"/>
                <a:gridCol w="3749040"/>
                <a:gridCol w="4233672"/>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Failure mode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happens today</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 / next step</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new vendor or a changed layout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 parser matches; the PDF shows as unreadable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Beacon's acknowledgment form removes the layout problem; meanwhile manual form or AI reader (off by default)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Vendors don't use the form</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They keep sending their own PDFs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PDFs keep working; start with the 3 vendors that cost the most reading time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poor scan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OCR can misread a digit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Every OCR'd doc goes to Needs your OK, shown next to the image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Two PO lines with the same qty and price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An L4 inference could pair the wrong lines</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L4 is never HIGH; always goes to review</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A stale open-PO CSV</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False "PO not open" or "possible dropped line"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Pull the export each morning; show its as-of date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FX and price tolerance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EUR checked at the ERP monthly rate, 1% band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Confirm with Lisa and AP what counts as a real difference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value at PO price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Not invoiced cost; no AP data in the extract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Add invoice lines, then true price variance</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the confirmation feed ends 04/03</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Promise metrics use POs to 03/30 only</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Ask why the feed stopped</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33"/>
                          </a:solidFill>
                          <a:latin typeface="Calibri" pitchFamily="34" charset="0"/>
                          <a:ea typeface="Calibri" pitchFamily="34" charset="-122"/>
                          <a:cs typeface="Calibri" pitchFamily="34" charset="-120"/>
                        </a:rPr>
                        <a:t>Task 2: no production-impact data</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Can rank exposure, but can't prove cost</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200" dirty="0">
                          <a:solidFill>
                            <a:srgbClr val="1F2A33"/>
                          </a:solidFill>
                          <a:latin typeface="Calibri" pitchFamily="34" charset="0"/>
                          <a:ea typeface="Calibri" pitchFamily="34" charset="-122"/>
                          <a:cs typeface="Calibri" pitchFamily="34" charset="-120"/>
                        </a:rPr>
                        <a:t>Link to expedites and downtime; no causal claims until then</a:t>
                      </a:r>
                      <a:endParaRPr lang="en-US" sz="12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WHAT I WISH I'D ASKED</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Questions for Lisa and the plant manager, each tied to the data</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18</a:t>
            </a:r>
            <a:endParaRPr lang="en-US" sz="900" dirty="0"/>
          </a:p>
        </p:txBody>
      </p:sp>
      <p:sp>
        <p:nvSpPr>
          <p:cNvPr id="5" name="Shape 3"/>
          <p:cNvSpPr/>
          <p:nvPr/>
        </p:nvSpPr>
        <p:spPr>
          <a:xfrm>
            <a:off x="548640" y="1463040"/>
            <a:ext cx="5364328" cy="4800600"/>
          </a:xfrm>
          <a:prstGeom prst="roundRect">
            <a:avLst>
              <a:gd name="adj" fmla="val 1524"/>
            </a:avLst>
          </a:prstGeom>
          <a:solidFill>
            <a:srgbClr val="EEF2F5"/>
          </a:solidFill>
          <a:ln w="12700">
            <a:solidFill>
              <a:srgbClr val="EEF2F5"/>
            </a:solidFill>
            <a:prstDash val="solid"/>
          </a:ln>
        </p:spPr>
      </p:sp>
      <p:sp>
        <p:nvSpPr>
          <p:cNvPr id="6" name="Text 4"/>
          <p:cNvSpPr txBox="1"/>
          <p:nvPr/>
        </p:nvSpPr>
        <p:spPr>
          <a:xfrm>
            <a:off x="822960" y="1600200"/>
            <a:ext cx="4815688"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LISA</a:t>
            </a:r>
            <a:endParaRPr lang="en-US" sz="1200" dirty="0"/>
          </a:p>
        </p:txBody>
      </p:sp>
      <p:sp>
        <p:nvSpPr>
          <p:cNvPr id="7" name="Text 5"/>
          <p:cNvSpPr txBox="1"/>
          <p:nvPr/>
        </p:nvSpPr>
        <p:spPr>
          <a:xfrm>
            <a:off x="822960" y="1920240"/>
            <a:ext cx="4815688" cy="4251960"/>
          </a:xfrm>
          <a:prstGeom prst="rect">
            <a:avLst/>
          </a:prstGeom>
          <a:noFill/>
          <a:ln/>
        </p:spPr>
        <p:txBody>
          <a:bodyPr wrap="square" lIns="381" tIns="381" rIns="381" bIns="381" rtlCol="0" anchor="t"/>
          <a:lstStyle/>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When a line is missing from an acknowledgment, what do you do today, and how often was it really dropped vs. confirmed later?</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Which miss cost you most last quarter: a short, a price or a date? That sets the priority order.</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Apex CRES bar confirmed +1-2% since Feb while POs stayed $3.92: a negotiated alloy surcharge that never reached the PO?</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What price difference do you let through without a call? Is 1% right for EUR? Is it different for services?</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Who approves a new vendor part number: you or engineering? Do vendors warn you before renumbering?</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Which date is authoritative when they disagree: our required date, the vendor's promise, or the MRP need date?</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What would you need to see for two weeks before you stop opening every PDF yourself?</a:t>
            </a:r>
            <a:endParaRPr lang="en-US" sz="1250" dirty="0"/>
          </a:p>
        </p:txBody>
      </p:sp>
      <p:sp>
        <p:nvSpPr>
          <p:cNvPr id="8" name="Shape 6"/>
          <p:cNvSpPr/>
          <p:nvPr/>
        </p:nvSpPr>
        <p:spPr>
          <a:xfrm>
            <a:off x="6278728" y="1463040"/>
            <a:ext cx="5364328" cy="4800600"/>
          </a:xfrm>
          <a:prstGeom prst="roundRect">
            <a:avLst>
              <a:gd name="adj" fmla="val 1524"/>
            </a:avLst>
          </a:prstGeom>
          <a:solidFill>
            <a:srgbClr val="EEF2F5"/>
          </a:solidFill>
          <a:ln w="12700">
            <a:solidFill>
              <a:srgbClr val="EEF2F5"/>
            </a:solidFill>
            <a:prstDash val="solid"/>
          </a:ln>
        </p:spPr>
      </p:sp>
      <p:sp>
        <p:nvSpPr>
          <p:cNvPr id="9" name="Text 7"/>
          <p:cNvSpPr txBox="1"/>
          <p:nvPr/>
        </p:nvSpPr>
        <p:spPr>
          <a:xfrm>
            <a:off x="6553048" y="1600200"/>
            <a:ext cx="4815688"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PLANT MANAGER</a:t>
            </a:r>
            <a:endParaRPr lang="en-US" sz="1200" dirty="0"/>
          </a:p>
        </p:txBody>
      </p:sp>
      <p:sp>
        <p:nvSpPr>
          <p:cNvPr id="10" name="Text 8"/>
          <p:cNvSpPr txBox="1"/>
          <p:nvPr/>
        </p:nvSpPr>
        <p:spPr>
          <a:xfrm>
            <a:off x="6553048" y="1920240"/>
            <a:ext cx="4815688" cy="4251960"/>
          </a:xfrm>
          <a:prstGeom prst="rect">
            <a:avLst/>
          </a:prstGeom>
          <a:noFill/>
          <a:ln/>
        </p:spPr>
        <p:txBody>
          <a:bodyPr wrap="square" lIns="381" tIns="381" rIns="381" bIns="381" rtlCol="0" anchor="t"/>
          <a:lstStyle/>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What does a late heat-treat lot actually cost: downtime, overtime, a customer expedite? That turns on-time % into dollars.</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Who set the 19-day heat-treat lead time in MRP? Continental quotes 28.</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Is Continental the only qualified (e.g. Nadcap) heat treater for these parts, or is there a second source?</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Is Apex at 85% of spend a deliberate single-source decision? Is there a contract price for CRES bar?</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Should months-old short-ship balances be closed? Who can short-close a PO?</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Which parts are single-sourced or on customer-critical programs? That turns lateness into risk.</a:t>
            </a:r>
            <a:endParaRPr lang="en-US" sz="1250" dirty="0"/>
          </a:p>
          <a:p>
            <a:pPr marL="342900" indent="-342900">
              <a:spcAft>
                <a:spcPts val="500"/>
              </a:spcAft>
              <a:buSzPct val="100000"/>
              <a:buFont typeface="+mj-lt"/>
              <a:buAutoNum type="arabicPeriod" startAt="1"/>
            </a:pPr>
            <a:r>
              <a:rPr lang="en-US" sz="1250" dirty="0">
                <a:solidFill>
                  <a:srgbClr val="1F2A33"/>
                </a:solidFill>
                <a:latin typeface="Calibri" pitchFamily="34" charset="0"/>
                <a:ea typeface="Calibri" pitchFamily="34" charset="-122"/>
                <a:cs typeface="Calibri" pitchFamily="34" charset="-120"/>
              </a:rPr>
              <a:t>Which decision should this readout drive: re-source, renegotiate or re-plan? How often: monthly?</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DATA I WISH I'D HAD · 30 / 60 / 90</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What would sharpen the answers, and how this goes into use</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19</a:t>
            </a:r>
            <a:endParaRPr lang="en-US" sz="900" dirty="0"/>
          </a:p>
        </p:txBody>
      </p:sp>
      <p:sp>
        <p:nvSpPr>
          <p:cNvPr id="5" name="Text 3"/>
          <p:cNvSpPr txBox="1"/>
          <p:nvPr/>
        </p:nvSpPr>
        <p:spPr>
          <a:xfrm>
            <a:off x="548640" y="1463040"/>
            <a:ext cx="5669280" cy="365760"/>
          </a:xfrm>
          <a:prstGeom prst="rect">
            <a:avLst/>
          </a:prstGeom>
          <a:noFill/>
          <a:ln/>
        </p:spPr>
        <p:txBody>
          <a:bodyPr wrap="square" lIns="0" tIns="0" rIns="0" bIns="0" rtlCol="0" anchor="ctr"/>
          <a:lstStyle/>
          <a:p>
            <a:pPr indent="0" marL="0">
              <a:buNone/>
            </a:pPr>
            <a:r>
              <a:rPr lang="en-US" sz="1600" b="1" dirty="0">
                <a:solidFill>
                  <a:srgbClr val="1F2A33"/>
                </a:solidFill>
                <a:latin typeface="Cambria" pitchFamily="34" charset="0"/>
                <a:ea typeface="Cambria" pitchFamily="34" charset="-122"/>
                <a:cs typeface="Cambria" pitchFamily="34" charset="-120"/>
              </a:rPr>
              <a:t>Data I wish I'd had (absent from the extract)</a:t>
            </a:r>
            <a:endParaRPr lang="en-US" sz="1600" dirty="0"/>
          </a:p>
        </p:txBody>
      </p:sp>
      <p:sp>
        <p:nvSpPr>
          <p:cNvPr id="6" name="Text 4"/>
          <p:cNvSpPr txBox="1"/>
          <p:nvPr/>
        </p:nvSpPr>
        <p:spPr>
          <a:xfrm>
            <a:off x="548640" y="1874520"/>
            <a:ext cx="5669280" cy="429768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Invoice / AP lines: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actual price paid, and therefore true price variance</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Production impact: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downtime, expedites, late customer shipments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Quality / NCR data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with dates we can trust (qc_hold dates can't be)</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The full vendor master: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6 vendors in the files vs ~30 active suppliers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PO change and cancel history,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the confirmation feed after 04/03</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Supplier agreements: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lead-time commitments, surcharge clauses, strategic status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The MRP lead-time master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and who changes it</a:t>
            </a:r>
            <a:endParaRPr lang="en-US" sz="1400" dirty="0"/>
          </a:p>
        </p:txBody>
      </p:sp>
      <p:sp>
        <p:nvSpPr>
          <p:cNvPr id="7" name="Shape 5"/>
          <p:cNvSpPr/>
          <p:nvPr/>
        </p:nvSpPr>
        <p:spPr>
          <a:xfrm>
            <a:off x="6583680" y="1463040"/>
            <a:ext cx="5059375" cy="1051560"/>
          </a:xfrm>
          <a:prstGeom prst="roundRect">
            <a:avLst>
              <a:gd name="adj" fmla="val 6957"/>
            </a:avLst>
          </a:prstGeom>
          <a:solidFill>
            <a:srgbClr val="FBE9DF"/>
          </a:solidFill>
          <a:ln w="12700">
            <a:solidFill>
              <a:srgbClr val="FBE9DF"/>
            </a:solidFill>
            <a:prstDash val="solid"/>
          </a:ln>
        </p:spPr>
      </p:sp>
      <p:sp>
        <p:nvSpPr>
          <p:cNvPr id="8" name="Text 6"/>
          <p:cNvSpPr txBox="1"/>
          <p:nvPr/>
        </p:nvSpPr>
        <p:spPr>
          <a:xfrm>
            <a:off x="6812280" y="1572768"/>
            <a:ext cx="1188720" cy="365760"/>
          </a:xfrm>
          <a:prstGeom prst="rect">
            <a:avLst/>
          </a:prstGeom>
          <a:noFill/>
          <a:ln/>
        </p:spPr>
        <p:txBody>
          <a:bodyPr wrap="square" lIns="0" tIns="0" rIns="0" bIns="0" rtlCol="0" anchor="ctr"/>
          <a:lstStyle/>
          <a:p>
            <a:pPr indent="0" marL="0">
              <a:buNone/>
            </a:pPr>
            <a:r>
              <a:rPr lang="en-US" sz="1400" b="1" dirty="0">
                <a:solidFill>
                  <a:srgbClr val="D9622B"/>
                </a:solidFill>
                <a:latin typeface="Cambria" pitchFamily="34" charset="0"/>
                <a:ea typeface="Cambria" pitchFamily="34" charset="-122"/>
                <a:cs typeface="Cambria" pitchFamily="34" charset="-120"/>
              </a:rPr>
              <a:t>Days 1-30</a:t>
            </a:r>
            <a:endParaRPr lang="en-US" sz="1400" dirty="0"/>
          </a:p>
        </p:txBody>
      </p:sp>
      <p:sp>
        <p:nvSpPr>
          <p:cNvPr id="9" name="Text 7"/>
          <p:cNvSpPr txBox="1"/>
          <p:nvPr/>
        </p:nvSpPr>
        <p:spPr>
          <a:xfrm>
            <a:off x="8001000" y="155448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Shadow week with Lisa (target: zero misses, time saved measured); schedule the 6am run; Continental call with the lead-time data.</a:t>
            </a:r>
            <a:endParaRPr lang="en-US" sz="1300" dirty="0"/>
          </a:p>
        </p:txBody>
      </p:sp>
      <p:sp>
        <p:nvSpPr>
          <p:cNvPr id="10" name="Shape 8"/>
          <p:cNvSpPr/>
          <p:nvPr/>
        </p:nvSpPr>
        <p:spPr>
          <a:xfrm>
            <a:off x="6583680" y="2651760"/>
            <a:ext cx="5059375" cy="1051560"/>
          </a:xfrm>
          <a:prstGeom prst="roundRect">
            <a:avLst>
              <a:gd name="adj" fmla="val 6957"/>
            </a:avLst>
          </a:prstGeom>
          <a:solidFill>
            <a:srgbClr val="EEF2F5"/>
          </a:solidFill>
          <a:ln w="12700">
            <a:solidFill>
              <a:srgbClr val="EEF2F5"/>
            </a:solidFill>
            <a:prstDash val="solid"/>
          </a:ln>
        </p:spPr>
      </p:sp>
      <p:sp>
        <p:nvSpPr>
          <p:cNvPr id="11" name="Text 9"/>
          <p:cNvSpPr txBox="1"/>
          <p:nvPr/>
        </p:nvSpPr>
        <p:spPr>
          <a:xfrm>
            <a:off x="6812280" y="2761488"/>
            <a:ext cx="1188720" cy="365760"/>
          </a:xfrm>
          <a:prstGeom prst="rect">
            <a:avLst/>
          </a:prstGeom>
          <a:noFill/>
          <a:ln/>
        </p:spPr>
        <p:txBody>
          <a:bodyPr wrap="square" lIns="0" tIns="0" rIns="0" bIns="0" rtlCol="0" anchor="ctr"/>
          <a:lstStyle/>
          <a:p>
            <a:pPr indent="0" marL="0">
              <a:buNone/>
            </a:pPr>
            <a:r>
              <a:rPr lang="en-US" sz="1400" b="1" dirty="0">
                <a:solidFill>
                  <a:srgbClr val="D9622B"/>
                </a:solidFill>
                <a:latin typeface="Cambria" pitchFamily="34" charset="0"/>
                <a:ea typeface="Cambria" pitchFamily="34" charset="-122"/>
                <a:cs typeface="Cambria" pitchFamily="34" charset="-120"/>
              </a:rPr>
              <a:t>Days 31-60</a:t>
            </a:r>
            <a:endParaRPr lang="en-US" sz="1400" dirty="0"/>
          </a:p>
        </p:txBody>
      </p:sp>
      <p:sp>
        <p:nvSpPr>
          <p:cNvPr id="12" name="Text 10"/>
          <p:cNvSpPr txBox="1"/>
          <p:nvPr/>
        </p:nvSpPr>
        <p:spPr>
          <a:xfrm>
            <a:off x="8001000" y="274320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Supplier packs and acknowledgment forms to Continental, Ostmark, Heritage; planning fixes MRP lead times; clear the $128k backlog.</a:t>
            </a:r>
            <a:endParaRPr lang="en-US" sz="1300" dirty="0"/>
          </a:p>
        </p:txBody>
      </p:sp>
      <p:sp>
        <p:nvSpPr>
          <p:cNvPr id="13" name="Shape 11"/>
          <p:cNvSpPr/>
          <p:nvPr/>
        </p:nvSpPr>
        <p:spPr>
          <a:xfrm>
            <a:off x="6583680" y="3840480"/>
            <a:ext cx="5059375" cy="1051560"/>
          </a:xfrm>
          <a:prstGeom prst="roundRect">
            <a:avLst>
              <a:gd name="adj" fmla="val 6957"/>
            </a:avLst>
          </a:prstGeom>
          <a:solidFill>
            <a:srgbClr val="EEF2F5"/>
          </a:solidFill>
          <a:ln w="12700">
            <a:solidFill>
              <a:srgbClr val="EEF2F5"/>
            </a:solidFill>
            <a:prstDash val="solid"/>
          </a:ln>
        </p:spPr>
      </p:sp>
      <p:sp>
        <p:nvSpPr>
          <p:cNvPr id="14" name="Text 12"/>
          <p:cNvSpPr txBox="1"/>
          <p:nvPr/>
        </p:nvSpPr>
        <p:spPr>
          <a:xfrm>
            <a:off x="6812280" y="3950208"/>
            <a:ext cx="1188720" cy="365760"/>
          </a:xfrm>
          <a:prstGeom prst="rect">
            <a:avLst/>
          </a:prstGeom>
          <a:noFill/>
          <a:ln/>
        </p:spPr>
        <p:txBody>
          <a:bodyPr wrap="square" lIns="0" tIns="0" rIns="0" bIns="0" rtlCol="0" anchor="ctr"/>
          <a:lstStyle/>
          <a:p>
            <a:pPr indent="0" marL="0">
              <a:buNone/>
            </a:pPr>
            <a:r>
              <a:rPr lang="en-US" sz="1400" b="1" dirty="0">
                <a:solidFill>
                  <a:srgbClr val="D9622B"/>
                </a:solidFill>
                <a:latin typeface="Cambria" pitchFamily="34" charset="0"/>
                <a:ea typeface="Cambria" pitchFamily="34" charset="-122"/>
                <a:cs typeface="Cambria" pitchFamily="34" charset="-120"/>
              </a:rPr>
              <a:t>Days 61-90</a:t>
            </a:r>
            <a:endParaRPr lang="en-US" sz="1400" dirty="0"/>
          </a:p>
        </p:txBody>
      </p:sp>
      <p:sp>
        <p:nvSpPr>
          <p:cNvPr id="15" name="Text 13"/>
          <p:cNvSpPr txBox="1"/>
          <p:nvPr/>
        </p:nvSpPr>
        <p:spPr>
          <a:xfrm>
            <a:off x="8001000" y="393192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Approved crosswalk loaded as the ERP vendor-part cross-reference; readout refreshed monthly; decide on a portal or EDI 855.</a:t>
            </a:r>
            <a:endParaRPr lang="en-US" sz="1300" dirty="0"/>
          </a:p>
        </p:txBody>
      </p:sp>
      <p:sp>
        <p:nvSpPr>
          <p:cNvPr id="16" name="Shape 14"/>
          <p:cNvSpPr/>
          <p:nvPr/>
        </p:nvSpPr>
        <p:spPr>
          <a:xfrm>
            <a:off x="6583680" y="5029200"/>
            <a:ext cx="5059375" cy="1051560"/>
          </a:xfrm>
          <a:prstGeom prst="roundRect">
            <a:avLst>
              <a:gd name="adj" fmla="val 6957"/>
            </a:avLst>
          </a:prstGeom>
          <a:solidFill>
            <a:srgbClr val="EEF2F5"/>
          </a:solidFill>
          <a:ln w="12700">
            <a:solidFill>
              <a:srgbClr val="EEF2F5"/>
            </a:solidFill>
            <a:prstDash val="solid"/>
          </a:ln>
        </p:spPr>
      </p:sp>
      <p:sp>
        <p:nvSpPr>
          <p:cNvPr id="17" name="Text 15"/>
          <p:cNvSpPr txBox="1"/>
          <p:nvPr/>
        </p:nvSpPr>
        <p:spPr>
          <a:xfrm>
            <a:off x="6812280" y="5138928"/>
            <a:ext cx="1188720" cy="365760"/>
          </a:xfrm>
          <a:prstGeom prst="rect">
            <a:avLst/>
          </a:prstGeom>
          <a:noFill/>
          <a:ln/>
        </p:spPr>
        <p:txBody>
          <a:bodyPr wrap="square" lIns="0" tIns="0" rIns="0" bIns="0" rtlCol="0" anchor="ctr"/>
          <a:lstStyle/>
          <a:p>
            <a:pPr indent="0" marL="0">
              <a:buNone/>
            </a:pPr>
            <a:r>
              <a:rPr lang="en-US" sz="1400" b="1" dirty="0">
                <a:solidFill>
                  <a:srgbClr val="D9622B"/>
                </a:solidFill>
                <a:latin typeface="Cambria" pitchFamily="34" charset="0"/>
                <a:ea typeface="Cambria" pitchFamily="34" charset="-122"/>
                <a:cs typeface="Cambria" pitchFamily="34" charset="-120"/>
              </a:rPr>
              <a:t>Portfolio</a:t>
            </a:r>
            <a:endParaRPr lang="en-US" sz="1400" dirty="0"/>
          </a:p>
        </p:txBody>
      </p:sp>
      <p:sp>
        <p:nvSpPr>
          <p:cNvPr id="18" name="Text 16"/>
          <p:cNvSpPr txBox="1"/>
          <p:nvPr/>
        </p:nvSpPr>
        <p:spPr>
          <a:xfrm>
            <a:off x="8001000" y="5120640"/>
            <a:ext cx="3459175" cy="868680"/>
          </a:xfrm>
          <a:prstGeom prst="rect">
            <a:avLst/>
          </a:prstGeom>
          <a:noFill/>
          <a:ln/>
        </p:spPr>
        <p:txBody>
          <a:bodyPr wrap="square" lIns="0" tIns="0" rIns="0" bIns="0" rtlCol="0" anchor="ctr"/>
          <a:lstStyle/>
          <a:p>
            <a:pPr indent="0" marL="0">
              <a:buNone/>
            </a:pPr>
            <a:r>
              <a:rPr lang="en-US" sz="1300" dirty="0">
                <a:solidFill>
                  <a:srgbClr val="1F2A33"/>
                </a:solidFill>
                <a:latin typeface="Calibri" pitchFamily="34" charset="0"/>
                <a:ea typeface="Calibri" pitchFamily="34" charset="-122"/>
                <a:cs typeface="Calibri" pitchFamily="34" charset="-120"/>
              </a:rPr>
              <a:t>Package the pattern (parsers + rules + workbook) for the next Tinicum company with the same supplier-paperwork problem.</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2A33"/>
        </a:solidFill>
      </p:bgPr>
    </p:bg>
    <p:spTree>
      <p:nvGrpSpPr>
        <p:cNvPr id="1" name=""/>
        <p:cNvGrpSpPr/>
        <p:nvPr/>
      </p:nvGrpSpPr>
      <p:grpSpPr>
        <a:xfrm>
          <a:off x="0" y="0"/>
          <a:ext cx="0" cy="0"/>
          <a:chOff x="0" y="0"/>
          <a:chExt cx="0" cy="0"/>
        </a:xfrm>
      </p:grpSpPr>
      <p:sp>
        <p:nvSpPr>
          <p:cNvPr id="2" name="Text 0"/>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9AA7B2"/>
                </a:solidFill>
                <a:latin typeface="Calibri" pitchFamily="34" charset="0"/>
                <a:ea typeface="Calibri" pitchFamily="34" charset="-122"/>
                <a:cs typeface="Calibri" pitchFamily="34" charset="-120"/>
              </a:rPr>
              <a:t>Beacon Fasteners · FDE case   20</a:t>
            </a:r>
            <a:endParaRPr lang="en-US" sz="900" dirty="0"/>
          </a:p>
        </p:txBody>
      </p:sp>
      <p:sp>
        <p:nvSpPr>
          <p:cNvPr id="3" name="Text 1"/>
          <p:cNvSpPr txBox="1"/>
          <p:nvPr/>
        </p:nvSpPr>
        <p:spPr>
          <a:xfrm>
            <a:off x="548640" y="1188720"/>
            <a:ext cx="7315200" cy="320040"/>
          </a:xfrm>
          <a:prstGeom prst="rect">
            <a:avLst/>
          </a:prstGeom>
          <a:noFill/>
          <a:ln/>
        </p:spPr>
        <p:txBody>
          <a:bodyPr wrap="square" lIns="0" tIns="0" rIns="0" bIns="0" rtlCol="0" anchor="ctr"/>
          <a:lstStyle/>
          <a:p>
            <a:pPr indent="0" marL="0">
              <a:buNone/>
            </a:pPr>
            <a:r>
              <a:rPr lang="en-US" sz="1300" b="1" spc="300" kern="0" dirty="0">
                <a:solidFill>
                  <a:srgbClr val="D9622B"/>
                </a:solidFill>
                <a:latin typeface="Calibri" pitchFamily="34" charset="0"/>
                <a:ea typeface="Calibri" pitchFamily="34" charset="-122"/>
                <a:cs typeface="Calibri" pitchFamily="34" charset="-120"/>
              </a:rPr>
              <a:t>CLOSING</a:t>
            </a:r>
            <a:endParaRPr lang="en-US" sz="1300" dirty="0"/>
          </a:p>
        </p:txBody>
      </p:sp>
      <p:sp>
        <p:nvSpPr>
          <p:cNvPr id="4" name="Text 2"/>
          <p:cNvSpPr txBox="1"/>
          <p:nvPr/>
        </p:nvSpPr>
        <p:spPr>
          <a:xfrm>
            <a:off x="548640" y="160020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From a stack of PDFs to a controlled daily workflow</a:t>
            </a:r>
            <a:endParaRPr lang="en-US" sz="3400" dirty="0"/>
          </a:p>
        </p:txBody>
      </p:sp>
      <p:sp>
        <p:nvSpPr>
          <p:cNvPr id="5" name="Text 3"/>
          <p:cNvSpPr txBox="1"/>
          <p:nvPr/>
        </p:nvSpPr>
        <p:spPr>
          <a:xfrm>
            <a:off x="548640" y="2697480"/>
            <a:ext cx="10515600" cy="3108960"/>
          </a:xfrm>
          <a:prstGeom prst="rect">
            <a:avLst/>
          </a:prstGeom>
          <a:noFill/>
          <a:ln/>
        </p:spPr>
        <p:txBody>
          <a:bodyPr wrap="square" lIns="635" tIns="635" rIns="635" bIns="635" rtlCol="0" anchor="t"/>
          <a:lstStyle/>
          <a:p>
            <a:pPr marL="342900" indent="-342900">
              <a:spcAft>
                <a:spcPts val="1000"/>
              </a:spcAft>
              <a:buSzPct val="100000"/>
              <a:buChar char="•"/>
            </a:pPr>
            <a:r>
              <a:rPr lang="en-US" sz="1700" b="1" dirty="0">
                <a:solidFill>
                  <a:srgbClr val="FFFFFF"/>
                </a:solidFill>
                <a:latin typeface="Calibri" pitchFamily="34" charset="0"/>
                <a:ea typeface="Calibri" pitchFamily="34" charset="-122"/>
                <a:cs typeface="Calibri" pitchFamily="34" charset="-120"/>
              </a:rPr>
              <a:t>Lisa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gets a prioritised, auditable exception queue instead of 35 PDFs.</a:t>
            </a:r>
            <a:endParaRPr lang="en-US" sz="1700" dirty="0"/>
          </a:p>
          <a:p>
            <a:pPr marL="342900" indent="-342900">
              <a:spcAft>
                <a:spcPts val="1000"/>
              </a:spcAft>
              <a:buSzPct val="100000"/>
              <a:buChar char="•"/>
            </a:pPr>
            <a:r>
              <a:rPr lang="en-US" sz="1700" b="1" dirty="0">
                <a:solidFill>
                  <a:srgbClr val="FFFFFF"/>
                </a:solidFill>
                <a:latin typeface="Calibri" pitchFamily="34" charset="0"/>
                <a:ea typeface="Calibri" pitchFamily="34" charset="-122"/>
                <a:cs typeface="Calibri" pitchFamily="34" charset="-120"/>
              </a:rPr>
              <a:t>The plant manager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gets a supplier view tied to business impact, not anecdote, and a watch list for what's coming.</a:t>
            </a:r>
            <a:endParaRPr lang="en-US" sz="1700" dirty="0"/>
          </a:p>
          <a:p>
            <a:pPr marL="342900" indent="-342900">
              <a:spcAft>
                <a:spcPts val="1000"/>
              </a:spcAft>
              <a:buSzPct val="100000"/>
              <a:buChar char="•"/>
            </a:pPr>
            <a:r>
              <a:rPr lang="en-US" sz="1700" b="1" dirty="0">
                <a:solidFill>
                  <a:srgbClr val="FFFFFF"/>
                </a:solidFill>
                <a:latin typeface="Calibri" pitchFamily="34" charset="0"/>
                <a:ea typeface="Calibri" pitchFamily="34" charset="-122"/>
                <a:cs typeface="Calibri" pitchFamily="34" charset="-120"/>
              </a:rPr>
              <a:t>Humans stay in control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where commercial judgment or low-confidence extraction matters.</a:t>
            </a:r>
            <a:endParaRPr lang="en-US" sz="1700" dirty="0"/>
          </a:p>
          <a:p>
            <a:pPr marL="342900" indent="-342900">
              <a:spcAft>
                <a:spcPts val="1000"/>
              </a:spcAft>
              <a:buSzPct val="100000"/>
              <a:buChar char="•"/>
            </a:pPr>
            <a:r>
              <a:rPr lang="en-US" sz="1700" b="1" dirty="0">
                <a:solidFill>
                  <a:srgbClr val="FFFFFF"/>
                </a:solidFill>
                <a:latin typeface="Calibri" pitchFamily="34" charset="0"/>
                <a:ea typeface="Calibri" pitchFamily="34" charset="-122"/>
                <a:cs typeface="Calibri" pitchFamily="34" charset="-120"/>
              </a:rPr>
              <a:t>Next is not a bigger dashboard: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one shadow week with Lisa, measure time saved and misses caught, then productionise what earned it.</a:t>
            </a:r>
            <a:endParaRPr lang="en-US" sz="1700" dirty="0"/>
          </a:p>
          <a:p>
            <a:pPr marL="342900" indent="-342900">
              <a:spcAft>
                <a:spcPts val="1000"/>
              </a:spcAft>
              <a:buSzPct val="100000"/>
              <a:buChar char="•"/>
            </a:pPr>
            <a:r>
              <a:rPr lang="en-US" sz="1700" b="1" dirty="0">
                <a:solidFill>
                  <a:srgbClr val="FFFFFF"/>
                </a:solidFill>
                <a:latin typeface="Calibri" pitchFamily="34" charset="0"/>
                <a:ea typeface="Calibri" pitchFamily="34" charset="-122"/>
                <a:cs typeface="Calibri" pitchFamily="34" charset="-120"/>
              </a:rPr>
              <a:t>Reusable across the portfolio: </a:t>
            </a:r>
            <a:pPr indent="0" marL="0">
              <a:spcAft>
                <a:spcPts val="1000"/>
              </a:spcAft>
              <a:buNone/>
            </a:pPr>
            <a:r>
              <a:rPr lang="en-US" sz="1700" dirty="0">
                <a:solidFill>
                  <a:srgbClr val="FFFFFF"/>
                </a:solidFill>
                <a:latin typeface="Calibri" pitchFamily="34" charset="0"/>
                <a:ea typeface="Calibri" pitchFamily="34" charset="-122"/>
                <a:cs typeface="Calibri" pitchFamily="34" charset="-120"/>
              </a:rPr>
              <a:t>any company that receives unstructured supplier paperwork has the same shape of problem.</a:t>
            </a:r>
            <a:endParaRPr lang="en-US" sz="1700" dirty="0"/>
          </a:p>
        </p:txBody>
      </p:sp>
      <p:sp>
        <p:nvSpPr>
          <p:cNvPr id="6" name="Text 4"/>
          <p:cNvSpPr txBox="1"/>
          <p:nvPr/>
        </p:nvSpPr>
        <p:spPr>
          <a:xfrm>
            <a:off x="548640" y="5897880"/>
            <a:ext cx="7315200" cy="365760"/>
          </a:xfrm>
          <a:prstGeom prst="rect">
            <a:avLst/>
          </a:prstGeom>
          <a:noFill/>
          <a:ln/>
        </p:spPr>
        <p:txBody>
          <a:bodyPr wrap="square" lIns="0" tIns="0" rIns="0" bIns="0" rtlCol="0" anchor="ctr"/>
          <a:lstStyle/>
          <a:p>
            <a:pPr indent="0" marL="0">
              <a:buNone/>
            </a:pPr>
            <a:r>
              <a:rPr lang="en-US" sz="1800" i="1" dirty="0">
                <a:solidFill>
                  <a:srgbClr val="CFD8DF"/>
                </a:solidFill>
                <a:latin typeface="Cambria" pitchFamily="34" charset="0"/>
                <a:ea typeface="Cambria" pitchFamily="34" charset="-122"/>
                <a:cs typeface="Cambria" pitchFamily="34" charset="-120"/>
              </a:rPr>
              <a:t>Thank you  ·  questions?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APPENDIX · SECOND CALL AND WATCH LIST</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Call Apex second, about money not delivery; watch three others</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21</a:t>
            </a:r>
            <a:endParaRPr lang="en-US" sz="900" dirty="0"/>
          </a:p>
        </p:txBody>
      </p:sp>
      <p:sp>
        <p:nvSpPr>
          <p:cNvPr id="5" name="Shape 3"/>
          <p:cNvSpPr/>
          <p:nvPr/>
        </p:nvSpPr>
        <p:spPr>
          <a:xfrm>
            <a:off x="548640" y="1508760"/>
            <a:ext cx="5669280" cy="4663440"/>
          </a:xfrm>
          <a:prstGeom prst="roundRect">
            <a:avLst>
              <a:gd name="adj" fmla="val 1569"/>
            </a:avLst>
          </a:prstGeom>
          <a:solidFill>
            <a:srgbClr val="FBE9DF"/>
          </a:solidFill>
          <a:ln w="12700">
            <a:solidFill>
              <a:srgbClr val="FBE9DF"/>
            </a:solidFill>
            <a:prstDash val="solid"/>
          </a:ln>
        </p:spPr>
      </p:sp>
      <p:sp>
        <p:nvSpPr>
          <p:cNvPr id="6" name="Text 4"/>
          <p:cNvSpPr txBox="1"/>
          <p:nvPr/>
        </p:nvSpPr>
        <p:spPr>
          <a:xfrm>
            <a:off x="822960" y="1691640"/>
            <a:ext cx="5120640" cy="365760"/>
          </a:xfrm>
          <a:prstGeom prst="rect">
            <a:avLst/>
          </a:prstGeom>
          <a:noFill/>
          <a:ln/>
        </p:spPr>
        <p:txBody>
          <a:bodyPr wrap="square" lIns="0" tIns="0" rIns="0" bIns="0" rtlCol="0" anchor="ctr"/>
          <a:lstStyle/>
          <a:p>
            <a:pPr indent="0" marL="0">
              <a:buNone/>
            </a:pPr>
            <a:r>
              <a:rPr lang="en-US" sz="1800" b="1" dirty="0">
                <a:solidFill>
                  <a:srgbClr val="1F2A33"/>
                </a:solidFill>
                <a:latin typeface="Cambria" pitchFamily="34" charset="0"/>
                <a:ea typeface="Cambria" pitchFamily="34" charset="-122"/>
                <a:cs typeface="Cambria" pitchFamily="34" charset="-120"/>
              </a:rPr>
              <a:t>Apex Bar &amp; Tube: a commercial call</a:t>
            </a:r>
            <a:endParaRPr lang="en-US" sz="1800" dirty="0"/>
          </a:p>
        </p:txBody>
      </p:sp>
      <p:sp>
        <p:nvSpPr>
          <p:cNvPr id="7" name="Text 5"/>
          <p:cNvSpPr txBox="1"/>
          <p:nvPr/>
        </p:nvSpPr>
        <p:spPr>
          <a:xfrm>
            <a:off x="822960" y="2103120"/>
            <a:ext cx="5120640" cy="548640"/>
          </a:xfrm>
          <a:prstGeom prst="rect">
            <a:avLst/>
          </a:prstGeom>
          <a:noFill/>
          <a:ln/>
        </p:spPr>
        <p:txBody>
          <a:bodyPr wrap="square" lIns="0" tIns="0" rIns="0" bIns="0" rtlCol="0" anchor="ctr"/>
          <a:lstStyle/>
          <a:p>
            <a:pPr indent="0" marL="0">
              <a:buNone/>
            </a:pPr>
            <a:r>
              <a:rPr lang="en-US" sz="1300" dirty="0">
                <a:solidFill>
                  <a:srgbClr val="4E5D6A"/>
                </a:solidFill>
                <a:latin typeface="Calibri" pitchFamily="34" charset="0"/>
                <a:ea typeface="Calibri" pitchFamily="34" charset="-122"/>
                <a:cs typeface="Calibri" pitchFamily="34" charset="-120"/>
              </a:rPr>
              <a:t>85% of received value ($23.98M). 87% on time, and when late the median is 1 day.</a:t>
            </a:r>
            <a:endParaRPr lang="en-US" sz="1300" dirty="0"/>
          </a:p>
        </p:txBody>
      </p:sp>
      <p:sp>
        <p:nvSpPr>
          <p:cNvPr id="8" name="Text 6"/>
          <p:cNvSpPr txBox="1"/>
          <p:nvPr/>
        </p:nvSpPr>
        <p:spPr>
          <a:xfrm>
            <a:off x="822960" y="2743200"/>
            <a:ext cx="5120640" cy="32918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Price creep: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BAR-CRES-250 confirmed +1% from February and +2% from March, while every PO stayed at $3.92. 11 lines, $8.5k over PO, and nothing in the ERP flags it.</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Short-ships left open: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8 balances, $77k, the largest past-due exposure of any vendor (oldest 215 days).</a:t>
            </a:r>
            <a:endParaRPr lang="en-US" sz="1400" dirty="0"/>
          </a:p>
          <a:p>
            <a:pPr marL="342900" indent="-342900">
              <a:spcAft>
                <a:spcPts val="600"/>
              </a:spcAft>
              <a:buSzPct val="100000"/>
              <a:buChar char="•"/>
            </a:pPr>
            <a:r>
              <a:rPr lang="en-US" sz="1400" b="1" dirty="0">
                <a:solidFill>
                  <a:srgbClr val="1F2A33"/>
                </a:solidFill>
                <a:latin typeface="Calibri" pitchFamily="34" charset="0"/>
                <a:ea typeface="Calibri" pitchFamily="34" charset="-122"/>
                <a:cs typeface="Calibri" pitchFamily="34" charset="-120"/>
              </a:rPr>
              <a:t>Same pattern this week: </a:t>
            </a:r>
            <a:pPr indent="0" marL="0">
              <a:spcAft>
                <a:spcPts val="600"/>
              </a:spcAft>
              <a:buNone/>
            </a:pPr>
            <a:r>
              <a:rPr lang="en-US" sz="1400" dirty="0">
                <a:solidFill>
                  <a:srgbClr val="1F2A33"/>
                </a:solidFill>
                <a:latin typeface="Calibri" pitchFamily="34" charset="0"/>
                <a:ea typeface="Calibri" pitchFamily="34" charset="-122"/>
                <a:cs typeface="Calibri" pitchFamily="34" charset="-120"/>
              </a:rPr>
              <a:t>a dropped line, a 75-pc short and a +2.3% price on its acknowledgments.</a:t>
            </a:r>
            <a:endParaRPr lang="en-US" sz="1400" dirty="0"/>
          </a:p>
        </p:txBody>
      </p:sp>
      <p:sp>
        <p:nvSpPr>
          <p:cNvPr id="9" name="Shape 7"/>
          <p:cNvSpPr/>
          <p:nvPr/>
        </p:nvSpPr>
        <p:spPr>
          <a:xfrm>
            <a:off x="6583680" y="1508760"/>
            <a:ext cx="5059375" cy="1051560"/>
          </a:xfrm>
          <a:prstGeom prst="roundRect">
            <a:avLst>
              <a:gd name="adj" fmla="val 6957"/>
            </a:avLst>
          </a:prstGeom>
          <a:solidFill>
            <a:srgbClr val="EEF2F5"/>
          </a:solidFill>
          <a:ln w="12700">
            <a:solidFill>
              <a:srgbClr val="EEF2F5"/>
            </a:solidFill>
            <a:prstDash val="solid"/>
          </a:ln>
        </p:spPr>
      </p:sp>
      <p:sp>
        <p:nvSpPr>
          <p:cNvPr id="10" name="Shape 8"/>
          <p:cNvSpPr/>
          <p:nvPr/>
        </p:nvSpPr>
        <p:spPr>
          <a:xfrm>
            <a:off x="6784848" y="1691640"/>
            <a:ext cx="182880" cy="182880"/>
          </a:xfrm>
          <a:prstGeom prst="ellipse">
            <a:avLst/>
          </a:prstGeom>
          <a:solidFill>
            <a:srgbClr val="C98A06"/>
          </a:solidFill>
          <a:ln w="12700">
            <a:solidFill>
              <a:srgbClr val="C98A06"/>
            </a:solidFill>
            <a:prstDash val="solid"/>
          </a:ln>
        </p:spPr>
      </p:sp>
      <p:sp>
        <p:nvSpPr>
          <p:cNvPr id="11" name="Text 9"/>
          <p:cNvSpPr txBox="1"/>
          <p:nvPr/>
        </p:nvSpPr>
        <p:spPr>
          <a:xfrm>
            <a:off x="7086600" y="160020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Heritage Cold Heading</a:t>
            </a:r>
            <a:endParaRPr lang="en-US" sz="1400" dirty="0"/>
          </a:p>
        </p:txBody>
      </p:sp>
      <p:sp>
        <p:nvSpPr>
          <p:cNvPr id="12" name="Text 10"/>
          <p:cNvSpPr txBox="1"/>
          <p:nvPr/>
        </p:nvSpPr>
        <p:spPr>
          <a:xfrm>
            <a:off x="7086600" y="192938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72% on time; 60% of promises after need date. Delays short (median 3 days). 10 short-ship balances open.</a:t>
            </a:r>
            <a:endParaRPr lang="en-US" sz="1200" dirty="0"/>
          </a:p>
        </p:txBody>
      </p:sp>
      <p:sp>
        <p:nvSpPr>
          <p:cNvPr id="13" name="Shape 11"/>
          <p:cNvSpPr/>
          <p:nvPr/>
        </p:nvSpPr>
        <p:spPr>
          <a:xfrm>
            <a:off x="6583680" y="2697480"/>
            <a:ext cx="5059375" cy="1051560"/>
          </a:xfrm>
          <a:prstGeom prst="roundRect">
            <a:avLst>
              <a:gd name="adj" fmla="val 6957"/>
            </a:avLst>
          </a:prstGeom>
          <a:solidFill>
            <a:srgbClr val="EEF2F5"/>
          </a:solidFill>
          <a:ln w="12700">
            <a:solidFill>
              <a:srgbClr val="EEF2F5"/>
            </a:solidFill>
            <a:prstDash val="solid"/>
          </a:ln>
        </p:spPr>
      </p:sp>
      <p:sp>
        <p:nvSpPr>
          <p:cNvPr id="14" name="Shape 12"/>
          <p:cNvSpPr/>
          <p:nvPr/>
        </p:nvSpPr>
        <p:spPr>
          <a:xfrm>
            <a:off x="6784848" y="2880360"/>
            <a:ext cx="182880" cy="182880"/>
          </a:xfrm>
          <a:prstGeom prst="ellipse">
            <a:avLst/>
          </a:prstGeom>
          <a:solidFill>
            <a:srgbClr val="C98A06"/>
          </a:solidFill>
          <a:ln w="12700">
            <a:solidFill>
              <a:srgbClr val="C98A06"/>
            </a:solidFill>
            <a:prstDash val="solid"/>
          </a:ln>
        </p:spPr>
      </p:sp>
      <p:sp>
        <p:nvSpPr>
          <p:cNvPr id="15" name="Text 13"/>
          <p:cNvSpPr txBox="1"/>
          <p:nvPr/>
        </p:nvSpPr>
        <p:spPr>
          <a:xfrm>
            <a:off x="7086600" y="278892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Liberty Surface Finishing</a:t>
            </a:r>
            <a:endParaRPr lang="en-US" sz="1400" dirty="0"/>
          </a:p>
        </p:txBody>
      </p:sp>
      <p:sp>
        <p:nvSpPr>
          <p:cNvPr id="16" name="Text 14"/>
          <p:cNvSpPr txBox="1"/>
          <p:nvPr/>
        </p:nvSpPr>
        <p:spPr>
          <a:xfrm>
            <a:off x="7086600" y="311810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95% → 87% on time, but not significant (p=0.13) and misses are 1-3 days. Watch, don't call.</a:t>
            </a:r>
            <a:endParaRPr lang="en-US" sz="1200" dirty="0"/>
          </a:p>
        </p:txBody>
      </p:sp>
      <p:sp>
        <p:nvSpPr>
          <p:cNvPr id="17" name="Shape 15"/>
          <p:cNvSpPr/>
          <p:nvPr/>
        </p:nvSpPr>
        <p:spPr>
          <a:xfrm>
            <a:off x="6583680" y="3886200"/>
            <a:ext cx="5059375" cy="1051560"/>
          </a:xfrm>
          <a:prstGeom prst="roundRect">
            <a:avLst>
              <a:gd name="adj" fmla="val 6957"/>
            </a:avLst>
          </a:prstGeom>
          <a:solidFill>
            <a:srgbClr val="EEF2F5"/>
          </a:solidFill>
          <a:ln w="12700">
            <a:solidFill>
              <a:srgbClr val="EEF2F5"/>
            </a:solidFill>
            <a:prstDash val="solid"/>
          </a:ln>
        </p:spPr>
      </p:sp>
      <p:sp>
        <p:nvSpPr>
          <p:cNvPr id="18" name="Shape 16"/>
          <p:cNvSpPr/>
          <p:nvPr/>
        </p:nvSpPr>
        <p:spPr>
          <a:xfrm>
            <a:off x="6784848" y="4069080"/>
            <a:ext cx="182880" cy="182880"/>
          </a:xfrm>
          <a:prstGeom prst="ellipse">
            <a:avLst/>
          </a:prstGeom>
          <a:solidFill>
            <a:srgbClr val="C98A06"/>
          </a:solidFill>
          <a:ln w="12700">
            <a:solidFill>
              <a:srgbClr val="C98A06"/>
            </a:solidFill>
            <a:prstDash val="solid"/>
          </a:ln>
        </p:spPr>
      </p:sp>
      <p:sp>
        <p:nvSpPr>
          <p:cNvPr id="19" name="Text 17"/>
          <p:cNvSpPr txBox="1"/>
          <p:nvPr/>
        </p:nvSpPr>
        <p:spPr>
          <a:xfrm>
            <a:off x="7086600" y="397764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Ostmark Werkzeug (DE)</a:t>
            </a:r>
            <a:endParaRPr lang="en-US" sz="1400" dirty="0"/>
          </a:p>
        </p:txBody>
      </p:sp>
      <p:sp>
        <p:nvSpPr>
          <p:cNvPr id="20" name="Text 18"/>
          <p:cNvSpPr txBox="1"/>
          <p:nvPr/>
        </p:nvSpPr>
        <p:spPr>
          <a:xfrm>
            <a:off x="7086600" y="430682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69% on time, never &gt;6 days late. Open die set PO-4500050027: $31k, due 05/15, nothing received; ack says only "KW 20-22".</a:t>
            </a:r>
            <a:endParaRPr lang="en-US" sz="1200" dirty="0"/>
          </a:p>
        </p:txBody>
      </p:sp>
      <p:sp>
        <p:nvSpPr>
          <p:cNvPr id="21" name="Shape 19"/>
          <p:cNvSpPr/>
          <p:nvPr/>
        </p:nvSpPr>
        <p:spPr>
          <a:xfrm>
            <a:off x="6583680" y="5074920"/>
            <a:ext cx="5059375" cy="1051560"/>
          </a:xfrm>
          <a:prstGeom prst="roundRect">
            <a:avLst>
              <a:gd name="adj" fmla="val 6957"/>
            </a:avLst>
          </a:prstGeom>
          <a:solidFill>
            <a:srgbClr val="EEF2F5"/>
          </a:solidFill>
          <a:ln w="12700">
            <a:solidFill>
              <a:srgbClr val="EEF2F5"/>
            </a:solidFill>
            <a:prstDash val="solid"/>
          </a:ln>
        </p:spPr>
      </p:sp>
      <p:sp>
        <p:nvSpPr>
          <p:cNvPr id="22" name="Shape 20"/>
          <p:cNvSpPr/>
          <p:nvPr/>
        </p:nvSpPr>
        <p:spPr>
          <a:xfrm>
            <a:off x="6784848" y="5257800"/>
            <a:ext cx="182880" cy="182880"/>
          </a:xfrm>
          <a:prstGeom prst="ellipse">
            <a:avLst/>
          </a:prstGeom>
          <a:solidFill>
            <a:srgbClr val="2E7D4F"/>
          </a:solidFill>
          <a:ln w="12700">
            <a:solidFill>
              <a:srgbClr val="2E7D4F"/>
            </a:solidFill>
            <a:prstDash val="solid"/>
          </a:ln>
        </p:spPr>
      </p:sp>
      <p:sp>
        <p:nvSpPr>
          <p:cNvPr id="23" name="Text 21"/>
          <p:cNvSpPr txBox="1"/>
          <p:nvPr/>
        </p:nvSpPr>
        <p:spPr>
          <a:xfrm>
            <a:off x="7086600" y="5166360"/>
            <a:ext cx="4373575" cy="347472"/>
          </a:xfrm>
          <a:prstGeom prst="rect">
            <a:avLst/>
          </a:prstGeom>
          <a:noFill/>
          <a:ln/>
        </p:spPr>
        <p:txBody>
          <a:bodyPr wrap="square" lIns="0" tIns="0" rIns="0" bIns="0" rtlCol="0" anchor="ctr"/>
          <a:lstStyle/>
          <a:p>
            <a:pPr indent="0" marL="0">
              <a:buNone/>
            </a:pPr>
            <a:r>
              <a:rPr lang="en-US" sz="1400" b="1" dirty="0">
                <a:solidFill>
                  <a:srgbClr val="1F2A33"/>
                </a:solidFill>
                <a:latin typeface="Calibri" pitchFamily="34" charset="0"/>
                <a:ea typeface="Calibri" pitchFamily="34" charset="-122"/>
                <a:cs typeface="Calibri" pitchFamily="34" charset="-120"/>
              </a:rPr>
              <a:t>QuickShip Industrial</a:t>
            </a:r>
            <a:endParaRPr lang="en-US" sz="1400" dirty="0"/>
          </a:p>
        </p:txBody>
      </p:sp>
      <p:sp>
        <p:nvSpPr>
          <p:cNvPr id="24" name="Text 22"/>
          <p:cNvSpPr txBox="1"/>
          <p:nvPr/>
        </p:nvSpPr>
        <p:spPr>
          <a:xfrm>
            <a:off x="7086600" y="5495544"/>
            <a:ext cx="4373575" cy="59436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The benchmark: 99% on time, but only $13k of spend.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APPENDIX · THE PAST AND FUTURE PROBLEM</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A desk that remembers: tomorrow's list shows only what's new</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223760" cy="914400"/>
        </p:xfrm>
        <a:graphic>
          <a:graphicData uri="http://schemas.openxmlformats.org/drawingml/2006/table">
            <a:tbl>
              <a:tblPr/>
              <a:tblGrid>
                <a:gridCol w="3108960"/>
                <a:gridCol w="411480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Situation</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 tool does</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1F2A33"/>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Same PDF emailed twice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Recognised by its content hash and ignored</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Lisa marks an item Done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Stays done tomorrow, with her note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Vendor sends a corrected acknowledgment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The open item closes by itself, with the reason</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A new problem appears on a line she had closed</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Reopens it and says why</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Vendor keeps moving the promise date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The FIRST promise is never overwritten, so the history stays honest</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6F8FA"/>
                    </a:solidFill>
                  </a:tcPr>
                </a:tc>
              </a:tr>
              <a:tr h="566928">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Lisa approves a vendor part number once</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300" dirty="0">
                          <a:solidFill>
                            <a:srgbClr val="1F2A33"/>
                          </a:solidFill>
                          <a:latin typeface="Calibri" pitchFamily="34" charset="0"/>
                          <a:ea typeface="Calibri" pitchFamily="34" charset="-122"/>
                          <a:cs typeface="Calibri" pitchFamily="34" charset="-120"/>
                        </a:rPr>
                        <a:t>Matches automatically from then on and joins the part-number crosswalk</a:t>
                      </a:r>
                      <a:endParaRPr lang="en-US" sz="1300" dirty="0">
                        <a:latin typeface="Calibri" charset="0"/>
                        <a:ea typeface="Calibri" charset="0"/>
                        <a:cs typeface="Calibri" charset="0"/>
                      </a:endParaRPr>
                    </a:p>
                  </a:txBody>
                  <a:tcPr marL="45720" marR="45720" marT="45720" marB="45720" anchor="ctr">
                    <a:lnL w="6350" cap="flat" cmpd="sng" algn="ctr">
                      <a:solidFill>
                        <a:srgbClr val="D5DCE2"/>
                      </a:solidFill>
                      <a:prstDash val="solid"/>
                      <a:round/>
                      <a:headEnd type="none" w="med" len="med"/>
                      <a:tailEnd type="none" w="med" len="med"/>
                    </a:lnL>
                    <a:lnR w="6350" cap="flat" cmpd="sng" algn="ctr">
                      <a:solidFill>
                        <a:srgbClr val="D5DCE2"/>
                      </a:solidFill>
                      <a:prstDash val="solid"/>
                      <a:round/>
                      <a:headEnd type="none" w="med" len="med"/>
                      <a:tailEnd type="none" w="med" len="med"/>
                    </a:lnR>
                    <a:lnT w="6350" cap="flat" cmpd="sng" algn="ctr">
                      <a:solidFill>
                        <a:srgbClr val="D5DCE2"/>
                      </a:solidFill>
                      <a:prstDash val="solid"/>
                      <a:round/>
                      <a:headEnd type="none" w="med" len="med"/>
                      <a:tailEnd type="none" w="med" len="med"/>
                    </a:lnT>
                    <a:lnB w="6350" cap="flat" cmpd="sng" algn="ctr">
                      <a:solidFill>
                        <a:srgbClr val="D5DCE2"/>
                      </a:solidFill>
                      <a:prstDash val="solid"/>
                      <a:round/>
                      <a:headEnd type="none" w="med" len="med"/>
                      <a:tailEnd type="none" w="med" len="med"/>
                    </a:lnB>
                    <a:solidFill>
                      <a:srgbClr val="FFFFFF"/>
                    </a:solidFill>
                  </a:tcPr>
                </a:tc>
              </a:tr>
            </a:tbl>
          </a:graphicData>
        </a:graphic>
      </p:graphicFrame>
      <p:sp>
        <p:nvSpPr>
          <p:cNvPr id="6" name="Shape 3"/>
          <p:cNvSpPr/>
          <p:nvPr/>
        </p:nvSpPr>
        <p:spPr>
          <a:xfrm>
            <a:off x="8138160" y="1554480"/>
            <a:ext cx="3504895" cy="4526280"/>
          </a:xfrm>
          <a:prstGeom prst="roundRect">
            <a:avLst>
              <a:gd name="adj" fmla="val 2087"/>
            </a:avLst>
          </a:prstGeom>
          <a:solidFill>
            <a:srgbClr val="EEF2F5"/>
          </a:solidFill>
          <a:ln w="12700">
            <a:solidFill>
              <a:srgbClr val="EEF2F5"/>
            </a:solidFill>
            <a:prstDash val="solid"/>
          </a:ln>
        </p:spPr>
      </p:sp>
      <p:sp>
        <p:nvSpPr>
          <p:cNvPr id="7" name="Text 4"/>
          <p:cNvSpPr txBox="1"/>
          <p:nvPr/>
        </p:nvSpPr>
        <p:spPr>
          <a:xfrm>
            <a:off x="8412480" y="1737360"/>
            <a:ext cx="2956255" cy="36576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Why keep the first promise</a:t>
            </a:r>
            <a:endParaRPr lang="en-US" sz="1700" dirty="0"/>
          </a:p>
        </p:txBody>
      </p:sp>
      <p:sp>
        <p:nvSpPr>
          <p:cNvPr id="8" name="Text 5"/>
          <p:cNvSpPr txBox="1"/>
          <p:nvPr/>
        </p:nvSpPr>
        <p:spPr>
          <a:xfrm>
            <a:off x="8412480" y="2514600"/>
            <a:ext cx="2956255" cy="128016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If every revised date overwrites the last one, every PO ends up looking on time and vendor performance can't be measured. The same trap is in the ERP: 30 confirmations were superseded.</a:t>
            </a:r>
            <a:endParaRPr lang="en-US" sz="1300" dirty="0"/>
          </a:p>
        </p:txBody>
      </p:sp>
      <p:sp>
        <p:nvSpPr>
          <p:cNvPr id="9" name="Text 6"/>
          <p:cNvSpPr txBox="1"/>
          <p:nvPr/>
        </p:nvSpPr>
        <p:spPr>
          <a:xfrm>
            <a:off x="8412480" y="3840480"/>
            <a:ext cx="2956255" cy="320040"/>
          </a:xfrm>
          <a:prstGeom prst="rect">
            <a:avLst/>
          </a:prstGeom>
          <a:noFill/>
          <a:ln/>
        </p:spPr>
        <p:txBody>
          <a:bodyPr wrap="square" lIns="0" tIns="0" rIns="0" bIns="0" rtlCol="0" anchor="ctr"/>
          <a:lstStyle/>
          <a:p>
            <a:pPr indent="0" marL="0">
              <a:buNone/>
            </a:pPr>
            <a:r>
              <a:rPr lang="en-US" sz="1700" b="1" dirty="0">
                <a:solidFill>
                  <a:srgbClr val="1F2A33"/>
                </a:solidFill>
                <a:latin typeface="Cambria" pitchFamily="34" charset="0"/>
                <a:ea typeface="Cambria" pitchFamily="34" charset="-122"/>
                <a:cs typeface="Cambria" pitchFamily="34" charset="-120"/>
              </a:rPr>
              <a:t>Tested</a:t>
            </a:r>
            <a:endParaRPr lang="en-US" sz="1700" dirty="0"/>
          </a:p>
        </p:txBody>
      </p:sp>
      <p:sp>
        <p:nvSpPr>
          <p:cNvPr id="10" name="Text 7"/>
          <p:cNvSpPr txBox="1"/>
          <p:nvPr/>
        </p:nvSpPr>
        <p:spPr>
          <a:xfrm>
            <a:off x="8412480" y="4206240"/>
            <a:ext cx="2956255" cy="1737360"/>
          </a:xfrm>
          <a:prstGeom prst="rect">
            <a:avLst/>
          </a:prstGeom>
          <a:noFill/>
          <a:ln/>
        </p:spPr>
        <p:txBody>
          <a:bodyPr wrap="square" lIns="0" tIns="0" rIns="0" bIns="0" rtlCol="0" anchor="t"/>
          <a:lstStyle/>
          <a:p>
            <a:pPr indent="0" marL="0">
              <a:buNone/>
            </a:pPr>
            <a:r>
              <a:rPr lang="en-US" sz="1300" dirty="0">
                <a:solidFill>
                  <a:srgbClr val="4E5D6A"/>
                </a:solidFill>
                <a:latin typeface="Calibri" pitchFamily="34" charset="0"/>
                <a:ea typeface="Calibri" pitchFamily="34" charset="-122"/>
                <a:cs typeface="Calibri" pitchFamily="34" charset="-120"/>
              </a:rPr>
              <a:t>59 automated tests. TestDayTwo runs day 1 on the real PDFs, applies Lisa's Excel edits, then feeds a revised vendor PDF on day 2 and checks each row above.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D9622B"/>
                </a:solidFill>
                <a:latin typeface="Calibri" pitchFamily="34" charset="0"/>
                <a:ea typeface="Calibri" pitchFamily="34" charset="-122"/>
                <a:cs typeface="Calibri" pitchFamily="34" charset="-120"/>
              </a:rPr>
              <a:t>APPENDIX · WHAT LISA SEES</a:t>
            </a:r>
            <a:endParaRPr lang="en-US" sz="1200" dirty="0"/>
          </a:p>
        </p:txBody>
      </p:sp>
      <p:sp>
        <p:nvSpPr>
          <p:cNvPr id="3" name="Text 1"/>
          <p:cNvSpPr txBox="1"/>
          <p:nvPr/>
        </p:nvSpPr>
        <p:spPr>
          <a:xfrm>
            <a:off x="548640" y="594360"/>
            <a:ext cx="11094415" cy="685800"/>
          </a:xfrm>
          <a:prstGeom prst="rect">
            <a:avLst/>
          </a:prstGeom>
          <a:noFill/>
          <a:ln/>
        </p:spPr>
        <p:txBody>
          <a:bodyPr wrap="square" lIns="0" tIns="0" rIns="0" bIns="0" rtlCol="0" anchor="t"/>
          <a:lstStyle/>
          <a:p>
            <a:pPr indent="0" marL="0">
              <a:buNone/>
            </a:pPr>
            <a:r>
              <a:rPr lang="en-US" sz="2400" b="1" dirty="0">
                <a:solidFill>
                  <a:srgbClr val="1F2A33"/>
                </a:solidFill>
                <a:latin typeface="Cambria" pitchFamily="34" charset="0"/>
                <a:ea typeface="Cambria" pitchFamily="34" charset="-122"/>
                <a:cs typeface="Cambria" pitchFamily="34" charset="-120"/>
              </a:rPr>
              <a:t>Today's list, plus the things the tool is not sure about</a:t>
            </a:r>
            <a:endParaRPr lang="en-US" sz="2400" dirty="0"/>
          </a:p>
        </p:txBody>
      </p:sp>
      <p:sp>
        <p:nvSpPr>
          <p:cNvPr id="4" name="Text 2"/>
          <p:cNvSpPr txBox="1"/>
          <p:nvPr/>
        </p:nvSpPr>
        <p:spPr>
          <a:xfrm>
            <a:off x="7985455" y="6473952"/>
            <a:ext cx="3657600" cy="228600"/>
          </a:xfrm>
          <a:prstGeom prst="rect">
            <a:avLst/>
          </a:prstGeom>
          <a:noFill/>
          <a:ln/>
        </p:spPr>
        <p:txBody>
          <a:bodyPr wrap="square" lIns="0" tIns="0" rIns="0" bIns="0" rtlCol="0" anchor="ctr"/>
          <a:lstStyle/>
          <a:p>
            <a:pPr algn="r" indent="0" marL="0">
              <a:buNone/>
            </a:pPr>
            <a:r>
              <a:rPr lang="en-US" sz="900" dirty="0">
                <a:solidFill>
                  <a:srgbClr val="7D8B97"/>
                </a:solidFill>
                <a:latin typeface="Calibri" pitchFamily="34" charset="0"/>
                <a:ea typeface="Calibri" pitchFamily="34" charset="-122"/>
                <a:cs typeface="Calibri" pitchFamily="34" charset="-120"/>
              </a:rPr>
              <a:t>Beacon Fasteners · FDE case   23</a:t>
            </a:r>
            <a:endParaRPr lang="en-US" sz="900" dirty="0"/>
          </a:p>
        </p:txBody>
      </p:sp>
      <p:pic>
        <p:nvPicPr>
          <p:cNvPr id="5" name="Image 0" descr="/home/user/BeaconFasteners/Beacon Superday-Submission/presentation/assets/today_c.png">    </p:cNvPr>
          <p:cNvPicPr>
            <a:picLocks noChangeAspect="1"/>
          </p:cNvPicPr>
          <p:nvPr/>
        </p:nvPicPr>
        <p:blipFill>
          <a:blip r:embed="rId1"/>
          <a:stretch>
            <a:fillRect/>
          </a:stretch>
        </p:blipFill>
        <p:spPr>
          <a:xfrm>
            <a:off x="548640" y="1463040"/>
            <a:ext cx="6310466" cy="4800600"/>
          </a:xfrm>
          <a:prstGeom prst="rect">
            <a:avLst/>
          </a:prstGeom>
          <a:effectLst>
            <a:outerShdw sx="100000" sy="100000" kx="0" ky="0" algn="bl" rotWithShape="0" blurRad="76200" dist="25400" dir="5400000">
              <a:srgbClr val="000000">
                <a:alpha val="25000"/>
              </a:srgbClr>
            </a:outerShdw>
          </a:effectLst>
        </p:spPr>
      </p:pic>
      <p:pic>
        <p:nvPicPr>
          <p:cNvPr id="6" name="Image 1" descr="/home/user/BeaconFasteners/Beacon Superday-Submission/presentation/assets/review_c.png">    </p:cNvPr>
          <p:cNvPicPr>
            <a:picLocks noChangeAspect="1"/>
          </p:cNvPicPr>
          <p:nvPr/>
        </p:nvPicPr>
        <p:blipFill>
          <a:blip r:embed="rId2"/>
          <a:stretch>
            <a:fillRect/>
          </a:stretch>
        </p:blipFill>
        <p:spPr>
          <a:xfrm>
            <a:off x="7224866" y="1463040"/>
            <a:ext cx="4418189" cy="2005804"/>
          </a:xfrm>
          <a:prstGeom prst="rect">
            <a:avLst/>
          </a:prstGeom>
          <a:effectLst>
            <a:outerShdw sx="100000" sy="100000" kx="0" ky="0" algn="bl" rotWithShape="0" blurRad="76200" dist="25400" dir="5400000">
              <a:srgbClr val="000000">
                <a:alpha val="25000"/>
              </a:srgbClr>
            </a:outerShdw>
          </a:effectLst>
        </p:spPr>
      </p:pic>
      <p:sp>
        <p:nvSpPr>
          <p:cNvPr id="7" name="Text 3"/>
          <p:cNvSpPr txBox="1"/>
          <p:nvPr/>
        </p:nvSpPr>
        <p:spPr>
          <a:xfrm>
            <a:off x="7224866" y="3560284"/>
            <a:ext cx="4418189" cy="91440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Needs your OK: the vendor renamed a part. The tool shows why it thinks so and what our history calls it. One click approves it for good.</a:t>
            </a:r>
            <a:endParaRPr lang="en-US" sz="1200" dirty="0"/>
          </a:p>
        </p:txBody>
      </p:sp>
      <p:pic>
        <p:nvPicPr>
          <p:cNvPr id="8" name="Image 2" descr="/home/user/BeaconFasteners/Beacon Superday-Submission/presentation/assets/review_ocr_c.png">    </p:cNvPr>
          <p:cNvPicPr>
            <a:picLocks noChangeAspect="1"/>
          </p:cNvPicPr>
          <p:nvPr/>
        </p:nvPicPr>
        <p:blipFill>
          <a:blip r:embed="rId3"/>
          <a:stretch>
            <a:fillRect/>
          </a:stretch>
        </p:blipFill>
        <p:spPr>
          <a:xfrm>
            <a:off x="7224866" y="4657564"/>
            <a:ext cx="4418189" cy="1436589"/>
          </a:xfrm>
          <a:prstGeom prst="rect">
            <a:avLst/>
          </a:prstGeom>
          <a:effectLst>
            <a:outerShdw sx="100000" sy="100000" kx="0" ky="0" algn="bl" rotWithShape="0" blurRad="76200" dist="25400" dir="5400000">
              <a:srgbClr val="000000">
                <a:alpha val="25000"/>
              </a:srgbClr>
            </a:outerShdw>
          </a:effectLst>
        </p:spPr>
      </p:pic>
      <p:sp>
        <p:nvSpPr>
          <p:cNvPr id="9" name="Text 4"/>
          <p:cNvSpPr txBox="1"/>
          <p:nvPr/>
        </p:nvSpPr>
        <p:spPr>
          <a:xfrm>
            <a:off x="7224866" y="6185593"/>
            <a:ext cx="4418189" cy="548640"/>
          </a:xfrm>
          <a:prstGeom prst="rect">
            <a:avLst/>
          </a:prstGeom>
          <a:noFill/>
          <a:ln/>
        </p:spPr>
        <p:txBody>
          <a:bodyPr wrap="square" lIns="0" tIns="0" rIns="0" bIns="0" rtlCol="0" anchor="t"/>
          <a:lstStyle/>
          <a:p>
            <a:pPr indent="0" marL="0">
              <a:buNone/>
            </a:pPr>
            <a:r>
              <a:rPr lang="en-US" sz="1200" dirty="0">
                <a:solidFill>
                  <a:srgbClr val="4E5D6A"/>
                </a:solidFill>
                <a:latin typeface="Calibri" pitchFamily="34" charset="0"/>
                <a:ea typeface="Calibri" pitchFamily="34" charset="-122"/>
                <a:cs typeface="Calibri" pitchFamily="34" charset="-120"/>
              </a:rPr>
              <a:t>Scans are shown next to what OCR read, so checking takes seconds, not retyping.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Beacon PO Confirmation Control Tower</dc:title>
  <dc:subject>PptxGenJS Presentation</dc:subject>
  <dc:creator>PptxGenJS</dc:creator>
  <cp:lastModifiedBy>PptxGenJS</cp:lastModifiedBy>
  <cp:revision>1</cp:revision>
  <dcterms:created xsi:type="dcterms:W3CDTF">2026-09-30T19:40:11Z</dcterms:created>
  <dcterms:modified xsi:type="dcterms:W3CDTF">2026-09-30T19:40:11Z</dcterms:modified>
</cp:coreProperties>
</file>