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3"/>
                </a:solidFill>
                <a:latin typeface="Calibri"/>
              </a:defRPr>
            </a:pPr>
            <a:r>
              <a:rPr sz="1400" b="0" i="0" u="none" strike="noStrike">
                <a:solidFill>
                  <a:srgbClr val="1F2A33"/>
                </a:solidFill>
                <a:latin typeface="Calibri"/>
              </a:rPr>
              <a:t>Received value, Sep 2025 to May 2026, three ways</a:t>
            </a:r>
          </a:p>
        </c:rich>
      </c:tx>
      <c:layout/>
      <c:overlay val="0"/>
    </c:title>
    <c:autoTitleDeleted val="0"/>
    <c:plotArea>
      <c:layout/>
      <c:barChart>
        <c:barDir val="col"/>
        <c:grouping val="clustered"/>
        <c:varyColors val="0"/>
        <c:ser>
          <c:idx val="0"/>
          <c:order val="0"/>
          <c:tx>
            <c:strRef>
              <c:f>Sheet1!$B$1</c:f>
              <c:strCache>
                <c:ptCount val="1"/>
                <c:pt idx="0">
                  <c:v>Received value ($M)</c:v>
                </c:pt>
              </c:strCache>
            </c:strRef>
          </c:tx>
          <c:spPr>
            <a:solidFill>
              <a:srgbClr val="1F2A33"/>
            </a:solidFill>
            <a:effectLst/>
          </c:spPr>
          <c:invertIfNegative val="0"/>
          <c:dLbls>
            <c:numFmt formatCode="$0.00&quot;M&quot;" sourceLinked="0"/>
            <c:txPr>
              <a:bodyPr/>
              <a:lstStyle/>
              <a:p>
                <a:pPr>
                  <a:defRPr b="0" i="0" strike="noStrike" sz="1300" u="none">
                    <a:solidFill>
                      <a:srgbClr val="1F2A33"/>
                    </a:solidFill>
                    <a:latin typeface="Arial"/>
                  </a:defRPr>
                </a:pPr>
              </a:p>
            </c:txPr>
            <c:showLegendKey val="0"/>
            <c:showVal val="1"/>
            <c:showCatName val="0"/>
            <c:showSerName val="0"/>
            <c:showPercent val="0"/>
            <c:showBubbleSize val="0"/>
            <c:showLeaderLines val="0"/>
          </c:dLbls>
          <c:dPt>
            <c:idx val="0"/>
            <c:invertIfNegative val="0"/>
            <c:bubble3D val="0"/>
            <c:spPr>
              <a:solidFill>
                <a:srgbClr val="1F2A33"/>
              </a:solidFill>
              <a:effectLst/>
            </c:spPr>
          </c:dPt>
          <c:dPt>
            <c:idx val="1"/>
            <c:invertIfNegative val="0"/>
            <c:bubble3D val="0"/>
            <c:spPr>
              <a:solidFill>
                <a:srgbClr val="7D8B97"/>
              </a:solidFill>
              <a:effectLst/>
            </c:spPr>
          </c:dPt>
          <c:dPt>
            <c:idx val="2"/>
            <c:invertIfNegative val="0"/>
            <c:bubble3D val="0"/>
            <c:spPr>
              <a:solidFill>
                <a:srgbClr val="7D8B97"/>
              </a:solidFill>
              <a:effectLst/>
            </c:spPr>
          </c:dPt>
          <c:cat>
            <c:multiLvlStrRef>
              <c:f>Sheet1!$A$2:$A$4</c:f>
              <c:multiLvlStrCache>
                <c:ptCount val="3"/>
                <c:lvl>
                  <c:pt idx="0">
                    <c:v>Corrected (used)</c:v>
                  </c:pt>
                  <c:pt idx="1">
                    <c:v>Raw 'R' receipts</c:v>
                  </c:pt>
                  <c:pt idx="2">
                    <c:v>po_line.qty_received</c:v>
                  </c:pt>
                </c:lvl>
              </c:multiLvlStrCache>
            </c:multiLvlStrRef>
          </c:cat>
          <c:val>
            <c:numRef>
              <c:f>Sheet1!$B$2:$B$4</c:f>
              <c:numCache>
                <c:formatCode>General</c:formatCode>
                <c:ptCount val="3"/>
                <c:pt idx="0">
                  <c:v>28.19</c:v>
                </c:pt>
                <c:pt idx="1">
                  <c:v>29.5</c:v>
                </c:pt>
                <c:pt idx="2">
                  <c:v>25.3</c:v>
                </c:pt>
              </c:numCache>
            </c:numRef>
          </c:val>
        </c:ser>
        <c:dLbls>
          <c:numFmt formatCode="$0.00&quot;M&quot;" sourceLinked="0"/>
          <c:txPr>
            <a:bodyPr/>
            <a:lstStyle/>
            <a:p>
              <a:pPr>
                <a:defRPr b="0" i="0" strike="noStrike" sz="1300" u="none">
                  <a:solidFill>
                    <a:srgbClr val="1F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D6A"/>
                </a:solidFill>
                <a:latin typeface="Arial"/>
              </a:defRPr>
            </a:pPr>
            <a:endParaRPr lang="en-US"/>
          </a:p>
        </c:txPr>
        <c:crossAx val="2094734552"/>
        <c:crosses val="autoZero"/>
        <c:auto val="1"/>
        <c:lblAlgn val="ctr"/>
        <c:noMultiLvlLbl val="1"/>
      </c:catAx>
      <c:valAx>
        <c:axId val="2094734552"/>
        <c:scaling>
          <c:orientation val="minMax"/>
          <c:max val="3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3"/>
                </a:solidFill>
                <a:latin typeface="Calibri"/>
              </a:defRPr>
            </a:pPr>
            <a:r>
              <a:rPr sz="1400" b="0" i="0" u="none" strike="noStrike">
                <a:solidFill>
                  <a:srgbClr val="1F2A33"/>
                </a:solidFill>
                <a:latin typeface="Calibri"/>
              </a:rPr>
              <a:t>Received value by receipt month ($M, at PO price)</a:t>
            </a:r>
          </a:p>
        </c:rich>
      </c:tx>
      <c:layout/>
      <c:overlay val="0"/>
    </c:title>
    <c:autoTitleDeleted val="0"/>
    <c:plotArea>
      <c:layout/>
      <c:barChart>
        <c:barDir val="col"/>
        <c:grouping val="stacked"/>
        <c:varyColors val="0"/>
        <c:ser>
          <c:idx val="0"/>
          <c:order val="0"/>
          <c:tx>
            <c:strRef>
              <c:f>Sheet1!$B$1</c:f>
              <c:strCache>
                <c:ptCount val="1"/>
                <c:pt idx="0">
                  <c:v>Apex Bar &amp; Tube</c:v>
                </c:pt>
              </c:strCache>
            </c:strRef>
          </c:tx>
          <c:spPr>
            <a:solidFill>
              <a:srgbClr val="1F2A3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Sep*</c:v>
                  </c:pt>
                  <c:pt idx="1">
                    <c:v>Oct</c:v>
                  </c:pt>
                  <c:pt idx="2">
                    <c:v>Nov</c:v>
                  </c:pt>
                  <c:pt idx="3">
                    <c:v>Dec</c:v>
                  </c:pt>
                  <c:pt idx="4">
                    <c:v>Jan</c:v>
                  </c:pt>
                  <c:pt idx="5">
                    <c:v>Feb</c:v>
                  </c:pt>
                  <c:pt idx="6">
                    <c:v>Mar</c:v>
                  </c:pt>
                  <c:pt idx="7">
                    <c:v>Apr</c:v>
                  </c:pt>
                  <c:pt idx="8">
                    <c:v>May*</c:v>
                  </c:pt>
                </c:lvl>
              </c:multiLvlStrCache>
            </c:multiLvlStrRef>
          </c:cat>
          <c:val>
            <c:numRef>
              <c:f>Sheet1!$B$2:$B$10</c:f>
              <c:numCache>
                <c:formatCode>General</c:formatCode>
                <c:ptCount val="9"/>
                <c:pt idx="0">
                  <c:v>0</c:v>
                </c:pt>
                <c:pt idx="1">
                  <c:v>3.08</c:v>
                </c:pt>
                <c:pt idx="2">
                  <c:v>4.339</c:v>
                </c:pt>
                <c:pt idx="3">
                  <c:v>2.943</c:v>
                </c:pt>
                <c:pt idx="4">
                  <c:v>4.489</c:v>
                </c:pt>
                <c:pt idx="5">
                  <c:v>2.586</c:v>
                </c:pt>
                <c:pt idx="6">
                  <c:v>3.154</c:v>
                </c:pt>
                <c:pt idx="7">
                  <c:v>2.716</c:v>
                </c:pt>
                <c:pt idx="8">
                  <c:v>0.672</c:v>
                </c:pt>
              </c:numCache>
            </c:numRef>
          </c:val>
        </c:ser>
        <c:ser>
          <c:idx val="1"/>
          <c:order val="1"/>
          <c:tx>
            <c:strRef>
              <c:f>Sheet1!$C$1</c:f>
              <c:strCache>
                <c:ptCount val="1"/>
                <c:pt idx="0">
                  <c:v>Other 5 vendors</c:v>
                </c:pt>
              </c:strCache>
            </c:strRef>
          </c:tx>
          <c:spPr>
            <a:solidFill>
              <a:srgbClr val="D962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Sep*</c:v>
                  </c:pt>
                  <c:pt idx="1">
                    <c:v>Oct</c:v>
                  </c:pt>
                  <c:pt idx="2">
                    <c:v>Nov</c:v>
                  </c:pt>
                  <c:pt idx="3">
                    <c:v>Dec</c:v>
                  </c:pt>
                  <c:pt idx="4">
                    <c:v>Jan</c:v>
                  </c:pt>
                  <c:pt idx="5">
                    <c:v>Feb</c:v>
                  </c:pt>
                  <c:pt idx="6">
                    <c:v>Mar</c:v>
                  </c:pt>
                  <c:pt idx="7">
                    <c:v>Apr</c:v>
                  </c:pt>
                  <c:pt idx="8">
                    <c:v>May*</c:v>
                  </c:pt>
                </c:lvl>
              </c:multiLvlStrCache>
            </c:multiLvlStrRef>
          </c:cat>
          <c:val>
            <c:numRef>
              <c:f>Sheet1!$C$2:$C$10</c:f>
              <c:numCache>
                <c:formatCode>General</c:formatCode>
                <c:ptCount val="9"/>
                <c:pt idx="0">
                  <c:v>0.114</c:v>
                </c:pt>
                <c:pt idx="1">
                  <c:v>0.453</c:v>
                </c:pt>
                <c:pt idx="2">
                  <c:v>0.447</c:v>
                </c:pt>
                <c:pt idx="3">
                  <c:v>0.725</c:v>
                </c:pt>
                <c:pt idx="4">
                  <c:v>0.603</c:v>
                </c:pt>
                <c:pt idx="5">
                  <c:v>0.54</c:v>
                </c:pt>
                <c:pt idx="6">
                  <c:v>0.569</c:v>
                </c:pt>
                <c:pt idx="7">
                  <c:v>0.507</c:v>
                </c:pt>
                <c:pt idx="8">
                  <c:v>0.249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E5D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AEE"/>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B97"/>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E5D6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33"/>
                </a:solidFill>
                <a:latin typeface="Calibri"/>
              </a:defRPr>
            </a:pPr>
            <a:r>
              <a:rPr sz="1300" b="0" i="0" u="none" strike="noStrike">
                <a:solidFill>
                  <a:srgbClr val="1F2A33"/>
                </a:solidFill>
                <a:latin typeface="Calibri"/>
              </a:rPr>
              <a:t>On-time % by vendor (due lines, Sep 2025 to May 2026)</a:t>
            </a:r>
          </a:p>
        </c:rich>
      </c:tx>
      <c:layout/>
      <c:overlay val="0"/>
    </c:title>
    <c:autoTitleDeleted val="0"/>
    <c:plotArea>
      <c:layout/>
      <c:barChart>
        <c:barDir val="bar"/>
        <c:grouping val="clustered"/>
        <c:varyColors val="0"/>
        <c:ser>
          <c:idx val="0"/>
          <c:order val="0"/>
          <c:tx>
            <c:strRef>
              <c:f>Sheet1!$B$1</c:f>
              <c:strCache>
                <c:ptCount val="1"/>
                <c:pt idx="0">
                  <c:v>On time %</c:v>
                </c:pt>
              </c:strCache>
            </c:strRef>
          </c:tx>
          <c:spPr>
            <a:solidFill>
              <a:srgbClr val="B83227"/>
            </a:solidFill>
            <a:effectLst/>
          </c:spPr>
          <c:invertIfNegative val="0"/>
          <c:dLbls>
            <c:numFmt formatCode="0&quot;%&quot;" sourceLinked="0"/>
            <c:txPr>
              <a:bodyPr/>
              <a:lstStyle/>
              <a:p>
                <a:pPr>
                  <a:defRPr b="0" i="0" strike="noStrike" sz="1200" u="none">
                    <a:solidFill>
                      <a:srgbClr val="1F2A33"/>
                    </a:solidFill>
                    <a:latin typeface="Arial"/>
                  </a:defRPr>
                </a:pPr>
              </a:p>
            </c:txPr>
            <c:showLegendKey val="0"/>
            <c:showVal val="1"/>
            <c:showCatName val="0"/>
            <c:showSerName val="0"/>
            <c:showPercent val="0"/>
            <c:showBubbleSize val="0"/>
            <c:showLeaderLines val="0"/>
          </c:dLbls>
          <c:dPt>
            <c:idx val="0"/>
            <c:invertIfNegative val="0"/>
            <c:bubble3D val="0"/>
            <c:spPr>
              <a:solidFill>
                <a:srgbClr val="B83227"/>
              </a:solidFill>
              <a:effectLst/>
            </c:spPr>
          </c:dPt>
          <c:dPt>
            <c:idx val="1"/>
            <c:invertIfNegative val="0"/>
            <c:bubble3D val="0"/>
            <c:spPr>
              <a:solidFill>
                <a:srgbClr val="7D8B97"/>
              </a:solidFill>
              <a:effectLst/>
            </c:spPr>
          </c:dPt>
          <c:dPt>
            <c:idx val="2"/>
            <c:invertIfNegative val="0"/>
            <c:bubble3D val="0"/>
            <c:spPr>
              <a:solidFill>
                <a:srgbClr val="7D8B97"/>
              </a:solidFill>
              <a:effectLst/>
            </c:spPr>
          </c:dPt>
          <c:dPt>
            <c:idx val="3"/>
            <c:invertIfNegative val="0"/>
            <c:bubble3D val="0"/>
            <c:spPr>
              <a:solidFill>
                <a:srgbClr val="7D8B97"/>
              </a:solidFill>
              <a:effectLst/>
            </c:spPr>
          </c:dPt>
          <c:dPt>
            <c:idx val="4"/>
            <c:invertIfNegative val="0"/>
            <c:bubble3D val="0"/>
            <c:spPr>
              <a:solidFill>
                <a:srgbClr val="7D8B97"/>
              </a:solidFill>
              <a:effectLst/>
            </c:spPr>
          </c:dPt>
          <c:dPt>
            <c:idx val="5"/>
            <c:invertIfNegative val="0"/>
            <c:bubble3D val="0"/>
            <c:spPr>
              <a:solidFill>
                <a:srgbClr val="7D8B97"/>
              </a:solidFill>
              <a:effectLst/>
            </c:spPr>
          </c:dPt>
          <c:cat>
            <c:multiLvlStrRef>
              <c:f>Sheet1!$A$2:$A$7</c:f>
              <c:multiLvlStrCache>
                <c:ptCount val="6"/>
                <c:lvl>
                  <c:pt idx="0">
                    <c:v>Continental</c:v>
                  </c:pt>
                  <c:pt idx="1">
                    <c:v>Ostmark</c:v>
                  </c:pt>
                  <c:pt idx="2">
                    <c:v>Heritage</c:v>
                  </c:pt>
                  <c:pt idx="3">
                    <c:v>Apex</c:v>
                  </c:pt>
                  <c:pt idx="4">
                    <c:v>Liberty</c:v>
                  </c:pt>
                  <c:pt idx="5">
                    <c:v>QuickShip</c:v>
                  </c:pt>
                </c:lvl>
              </c:multiLvlStrCache>
            </c:multiLvlStrRef>
          </c:cat>
          <c:val>
            <c:numRef>
              <c:f>Sheet1!$B$2:$B$7</c:f>
              <c:numCache>
                <c:formatCode>General</c:formatCode>
                <c:ptCount val="6"/>
                <c:pt idx="0">
                  <c:v>42</c:v>
                </c:pt>
                <c:pt idx="1">
                  <c:v>69</c:v>
                </c:pt>
                <c:pt idx="2">
                  <c:v>72</c:v>
                </c:pt>
                <c:pt idx="3">
                  <c:v>87</c:v>
                </c:pt>
                <c:pt idx="4">
                  <c:v>91</c:v>
                </c:pt>
                <c:pt idx="5">
                  <c:v>99</c:v>
                </c:pt>
              </c:numCache>
            </c:numRef>
          </c:val>
        </c:ser>
        <c:dLbls>
          <c:numFmt formatCode="0&quot;%&quot;" sourceLinked="0"/>
          <c:txPr>
            <a:bodyPr/>
            <a:lstStyle/>
            <a:p>
              <a:pPr>
                <a:defRPr b="0" i="0" strike="noStrike" sz="1200" u="none">
                  <a:solidFill>
                    <a:srgbClr val="1F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33"/>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~12 on Task 1, ~10 on Task 2, ~8 on limits, questions and data I wish I had. Everything shown runs from one command on the case data; every number came out of the tools, not typed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per task: Task 1 turns 35 PDFs into 23 things to do, worst first, and 22 lines Lisa never has to look at. Task 2 says call Continental first, with the numbers behind it, and says honestly that part of the problem is our own planning lead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Excel: Lisa already works from a PO list in Excel and Outlook. A new tool that needs a login and training won't get used. The app exists for the two things Excel is bad at: dragging PDFs in and one-click approval of part numbers. Both read and write the same memory file, so they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Tolerances were chosen from the data, not invented. USD prices: any change is flagged, because ERP prices are exact to 4 decimals. EUR prices: flagged over 1%, because month-to-month FX noise in the ERP rates is about 0.3%. On this data every L4 inference was an exact qty and price match, but it still goes to review because two lines could share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dropped line is the headline: it's the thing Lisa said matters most and the hardest to see, because it's an absence. The tool knows it's missing because it starts from the open PO list, not from the PDF. The stray PO shows the same idea in reverse. 13 'check' items are mostly date sanity: acknowledgments dated before the PO, or Continental promise dates before the confirmation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if time allows: open the app, click 'Load this week's sample confirmations', tick one Done, approve one part number, then Download Excel and show the same state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'is it a one-time script?'. The store is one SQLite file: items, notes, append-only promise history, crosswalk approvals and file hashes. The Excel and the app read and write the same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past vs future. The past: the ERP tells us every part each vendor supplies, what we paid, and the real lead times; it pre-fills both forms and gives Lisa a list of $128k of old open balances to chase or short-close. The future: the vendor answers in our format, so the three hardest problems (dropped lines, week-range dates, vendor part numbers) are prevented rather than detected. Roll out to the three vendors that cost the most reading time first: Continental's scans, Ostmark's German week ranges, Heritage's part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trap was verified independently. The date format one is sneaky: a SQL-only analysis silently returns nothing by month. Received value = net receipt qty times PO unit price. Receipts carry no price, so this is value at PO price, not invoiced cost; I say that on the readout.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deliberately did not build a 0-100 vendor score. Any weighting of lateness vs price vs shortage would be my opinion dressed up as math. Instead, the table shows absolute and relative numbers side by side, with the denominators.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for the call: can you commit to a standard lead time we can load into MRP? When you confirm a date you meet it 58% of the time; what drives the misses: furnace capacity, batching, or late incoming parts from us? 51% of lines arrive split; can partial lots be avoided or flagged? Language is deliberate: highest observed delivery exposure, not 'caused production delays'. The ERP has no production-impact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Apex isn't first: its delivery is fine. The issue is commercial and cumulative, and the right person is probably Lisa plus whoever owns the supply agreement. The price creep may be a legitimate alloy surcharge that never made it into the PO price; that's a question, not an accusation.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metric for week 1: Lisa's reconciliation time drops from about 90 minutes, and the tool misses nothing she catches by hand. False alarms are acceptable at first; misses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3"/>
        </a:solidFill>
      </p:bgPr>
    </p:bg>
    <p:spTree>
      <p:nvGrpSpPr>
        <p:cNvPr id="1" name=""/>
        <p:cNvGrpSpPr/>
        <p:nvPr/>
      </p:nvGrpSpPr>
      <p:grpSpPr>
        <a:xfrm>
          <a:off x="0" y="0"/>
          <a:ext cx="0" cy="0"/>
          <a:chOff x="0" y="0"/>
          <a:chExt cx="0" cy="0"/>
        </a:xfrm>
      </p:grpSpPr>
      <p:sp>
        <p:nvSpPr>
          <p:cNvPr id="2" name="Text 0"/>
          <p:cNvSpPr txBox="1"/>
          <p:nvPr/>
        </p:nvSpPr>
        <p:spPr>
          <a:xfrm>
            <a:off x="548640" y="1280160"/>
            <a:ext cx="8229600" cy="320040"/>
          </a:xfrm>
          <a:prstGeom prst="rect">
            <a:avLst/>
          </a:prstGeom>
          <a:noFill/>
          <a:ln/>
        </p:spPr>
        <p:txBody>
          <a:bodyPr wrap="square" lIns="0" tIns="0" rIns="0" bIns="0" rtlCol="0" anchor="ctr"/>
          <a:lstStyle/>
          <a:p>
            <a:pPr indent="0" marL="0">
              <a:buNone/>
            </a:pPr>
            <a:r>
              <a:rPr lang="en-US" sz="1300" b="1" spc="300" kern="0" dirty="0">
                <a:solidFill>
                  <a:srgbClr val="D9622B"/>
                </a:solidFill>
                <a:latin typeface="Calibri" pitchFamily="34" charset="0"/>
                <a:ea typeface="Calibri" pitchFamily="34" charset="-122"/>
                <a:cs typeface="Calibri" pitchFamily="34" charset="-120"/>
              </a:rPr>
              <a:t>TINICUM · FDE SUPER-DAY CASE</a:t>
            </a:r>
            <a:endParaRPr lang="en-US" sz="1300" dirty="0"/>
          </a:p>
        </p:txBody>
      </p:sp>
      <p:sp>
        <p:nvSpPr>
          <p:cNvPr id="3" name="Text 1"/>
          <p:cNvSpPr txBox="1"/>
          <p:nvPr/>
        </p:nvSpPr>
        <p:spPr>
          <a:xfrm>
            <a:off x="548640" y="1737360"/>
            <a:ext cx="109728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Beacon Fasteners</a:t>
            </a:r>
            <a:endParaRPr lang="en-US" sz="4800" dirty="0"/>
          </a:p>
        </p:txBody>
      </p:sp>
      <p:sp>
        <p:nvSpPr>
          <p:cNvPr id="4" name="Text 2"/>
          <p:cNvSpPr txBox="1"/>
          <p:nvPr/>
        </p:nvSpPr>
        <p:spPr>
          <a:xfrm>
            <a:off x="548640" y="2697480"/>
            <a:ext cx="10058400" cy="548640"/>
          </a:xfrm>
          <a:prstGeom prst="rect">
            <a:avLst/>
          </a:prstGeom>
          <a:noFill/>
          <a:ln/>
        </p:spPr>
        <p:txBody>
          <a:bodyPr wrap="square" lIns="0" tIns="0" rIns="0" bIns="0" rtlCol="0" anchor="ctr"/>
          <a:lstStyle/>
          <a:p>
            <a:pPr indent="0" marL="0">
              <a:buNone/>
            </a:pPr>
            <a:r>
              <a:rPr lang="en-US" sz="2400" dirty="0">
                <a:solidFill>
                  <a:srgbClr val="CFD8DF"/>
                </a:solidFill>
                <a:latin typeface="Cambria" pitchFamily="34" charset="0"/>
                <a:ea typeface="Cambria" pitchFamily="34" charset="-122"/>
                <a:cs typeface="Cambria" pitchFamily="34" charset="-120"/>
              </a:rPr>
              <a:t>A confirmation desk for Lisa, and a vendor readout for the plant manager</a:t>
            </a:r>
            <a:endParaRPr lang="en-US" sz="2400" dirty="0"/>
          </a:p>
        </p:txBody>
      </p:sp>
      <p:sp>
        <p:nvSpPr>
          <p:cNvPr id="5" name="Text 3"/>
          <p:cNvSpPr txBox="1"/>
          <p:nvPr/>
        </p:nvSpPr>
        <p:spPr>
          <a:xfrm>
            <a:off x="548640" y="3931920"/>
            <a:ext cx="1097280" cy="365760"/>
          </a:xfrm>
          <a:prstGeom prst="rect">
            <a:avLst/>
          </a:prstGeom>
          <a:noFill/>
          <a:ln/>
        </p:spPr>
        <p:txBody>
          <a:bodyPr wrap="square" lIns="0" tIns="0" rIns="0" bIns="0" rtlCol="0" anchor="ctr"/>
          <a:lstStyle/>
          <a:p>
            <a:pPr indent="0" marL="0">
              <a:buNone/>
            </a:pPr>
            <a:r>
              <a:rPr lang="en-US" sz="1500" b="1" dirty="0">
                <a:solidFill>
                  <a:srgbClr val="D9622B"/>
                </a:solidFill>
                <a:latin typeface="Calibri" pitchFamily="34" charset="0"/>
                <a:ea typeface="Calibri" pitchFamily="34" charset="-122"/>
                <a:cs typeface="Calibri" pitchFamily="34" charset="-120"/>
              </a:rPr>
              <a:t>Task 1</a:t>
            </a:r>
            <a:endParaRPr lang="en-US" sz="1500" dirty="0"/>
          </a:p>
        </p:txBody>
      </p:sp>
      <p:sp>
        <p:nvSpPr>
          <p:cNvPr id="6" name="Text 4"/>
          <p:cNvSpPr txBox="1"/>
          <p:nvPr/>
        </p:nvSpPr>
        <p:spPr>
          <a:xfrm>
            <a:off x="1645920" y="3931920"/>
            <a:ext cx="9601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Confirmation Desk: vendor PDFs checked against open POs, worst-first to-do list in Excel</a:t>
            </a:r>
            <a:endParaRPr lang="en-US" sz="1500" dirty="0"/>
          </a:p>
        </p:txBody>
      </p:sp>
      <p:sp>
        <p:nvSpPr>
          <p:cNvPr id="7" name="Text 5"/>
          <p:cNvSpPr txBox="1"/>
          <p:nvPr/>
        </p:nvSpPr>
        <p:spPr>
          <a:xfrm>
            <a:off x="548640" y="4434840"/>
            <a:ext cx="1097280" cy="365760"/>
          </a:xfrm>
          <a:prstGeom prst="rect">
            <a:avLst/>
          </a:prstGeom>
          <a:noFill/>
          <a:ln/>
        </p:spPr>
        <p:txBody>
          <a:bodyPr wrap="square" lIns="0" tIns="0" rIns="0" bIns="0" rtlCol="0" anchor="ctr"/>
          <a:lstStyle/>
          <a:p>
            <a:pPr indent="0" marL="0">
              <a:buNone/>
            </a:pPr>
            <a:r>
              <a:rPr lang="en-US" sz="1500" b="1" dirty="0">
                <a:solidFill>
                  <a:srgbClr val="D9622B"/>
                </a:solidFill>
                <a:latin typeface="Calibri" pitchFamily="34" charset="0"/>
                <a:ea typeface="Calibri" pitchFamily="34" charset="-122"/>
                <a:cs typeface="Calibri" pitchFamily="34" charset="-120"/>
              </a:rPr>
              <a:t>Task 2</a:t>
            </a:r>
            <a:endParaRPr lang="en-US" sz="1500" dirty="0"/>
          </a:p>
        </p:txBody>
      </p:sp>
      <p:sp>
        <p:nvSpPr>
          <p:cNvPr id="8" name="Text 6"/>
          <p:cNvSpPr txBox="1"/>
          <p:nvPr/>
        </p:nvSpPr>
        <p:spPr>
          <a:xfrm>
            <a:off x="1645920" y="4434840"/>
            <a:ext cx="9601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Vendor readout: 8 months of ERP history, received value, vendor comparison, who to call first</a:t>
            </a:r>
            <a:endParaRPr lang="en-US" sz="1500" dirty="0"/>
          </a:p>
        </p:txBody>
      </p:sp>
      <p:sp>
        <p:nvSpPr>
          <p:cNvPr id="9" name="Text 7"/>
          <p:cNvSpPr txBox="1"/>
          <p:nvPr/>
        </p:nvSpPr>
        <p:spPr>
          <a:xfrm>
            <a:off x="548640" y="4937760"/>
            <a:ext cx="1097280" cy="365760"/>
          </a:xfrm>
          <a:prstGeom prst="rect">
            <a:avLst/>
          </a:prstGeom>
          <a:noFill/>
          <a:ln/>
        </p:spPr>
        <p:txBody>
          <a:bodyPr wrap="square" lIns="0" tIns="0" rIns="0" bIns="0" rtlCol="0" anchor="ctr"/>
          <a:lstStyle/>
          <a:p>
            <a:pPr indent="0" marL="0">
              <a:buNone/>
            </a:pPr>
            <a:r>
              <a:rPr lang="en-US" sz="1500" b="1" dirty="0">
                <a:solidFill>
                  <a:srgbClr val="D9622B"/>
                </a:solidFill>
                <a:latin typeface="Calibri" pitchFamily="34" charset="0"/>
                <a:ea typeface="Calibri" pitchFamily="34" charset="-122"/>
                <a:cs typeface="Calibri" pitchFamily="34" charset="-120"/>
              </a:rPr>
              <a:t>Next</a:t>
            </a:r>
            <a:endParaRPr lang="en-US" sz="1500" dirty="0"/>
          </a:p>
        </p:txBody>
      </p:sp>
      <p:sp>
        <p:nvSpPr>
          <p:cNvPr id="10" name="Text 8"/>
          <p:cNvSpPr txBox="1"/>
          <p:nvPr/>
        </p:nvSpPr>
        <p:spPr>
          <a:xfrm>
            <a:off x="1645920" y="4937760"/>
            <a:ext cx="9601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Vendor forms: Beacon's own acknowledgment form and supplier pack, pre-filled from the ERP</a:t>
            </a:r>
            <a:endParaRPr lang="en-US" sz="1500" dirty="0"/>
          </a:p>
        </p:txBody>
      </p:sp>
      <p:sp>
        <p:nvSpPr>
          <p:cNvPr id="11" name="Text 9"/>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400" i="1" dirty="0">
                <a:solidFill>
                  <a:srgbClr val="9AA7B2"/>
                </a:solidFill>
                <a:latin typeface="Calibri" pitchFamily="34" charset="0"/>
                <a:ea typeface="Calibri" pitchFamily="34" charset="-122"/>
                <a:cs typeface="Calibri" pitchFamily="34" charset="-120"/>
              </a:rPr>
              <a:t>Smrita Pandey  ·  "Useful beats impressive."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EXECUTIVE SUMMARY</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Two tools: exceptions for Lisa, evidence for the plant manager</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2</a:t>
            </a:r>
            <a:endParaRPr lang="en-US" sz="900" dirty="0"/>
          </a:p>
        </p:txBody>
      </p:sp>
      <p:sp>
        <p:nvSpPr>
          <p:cNvPr id="5" name="Shape 3"/>
          <p:cNvSpPr/>
          <p:nvPr/>
        </p:nvSpPr>
        <p:spPr>
          <a:xfrm>
            <a:off x="548640" y="1508760"/>
            <a:ext cx="5364328" cy="4754880"/>
          </a:xfrm>
          <a:prstGeom prst="roundRect">
            <a:avLst>
              <a:gd name="adj" fmla="val 1538"/>
            </a:avLst>
          </a:prstGeom>
          <a:solidFill>
            <a:srgbClr val="EEF2F5"/>
          </a:solidFill>
          <a:ln w="12700">
            <a:solidFill>
              <a:srgbClr val="EEF2F5"/>
            </a:solidFill>
            <a:prstDash val="solid"/>
          </a:ln>
        </p:spPr>
      </p:sp>
      <p:sp>
        <p:nvSpPr>
          <p:cNvPr id="6" name="Text 4"/>
          <p:cNvSpPr txBox="1"/>
          <p:nvPr/>
        </p:nvSpPr>
        <p:spPr>
          <a:xfrm>
            <a:off x="822960" y="1691640"/>
            <a:ext cx="4815688"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LISA · TASK 1</a:t>
            </a:r>
            <a:endParaRPr lang="en-US" sz="1100" dirty="0"/>
          </a:p>
        </p:txBody>
      </p:sp>
      <p:sp>
        <p:nvSpPr>
          <p:cNvPr id="7" name="Text 5"/>
          <p:cNvSpPr txBox="1"/>
          <p:nvPr/>
        </p:nvSpPr>
        <p:spPr>
          <a:xfrm>
            <a:off x="822960" y="1965960"/>
            <a:ext cx="4815688" cy="411480"/>
          </a:xfrm>
          <a:prstGeom prst="rect">
            <a:avLst/>
          </a:prstGeom>
          <a:noFill/>
          <a:ln/>
        </p:spPr>
        <p:txBody>
          <a:bodyPr wrap="square" lIns="0" tIns="0" rIns="0" bIns="0" rtlCol="0" anchor="ctr"/>
          <a:lstStyle/>
          <a:p>
            <a:pPr indent="0" marL="0">
              <a:buNone/>
            </a:pPr>
            <a:r>
              <a:rPr lang="en-US" sz="2000" b="1" dirty="0">
                <a:solidFill>
                  <a:srgbClr val="1F2A33"/>
                </a:solidFill>
                <a:latin typeface="Cambria" pitchFamily="34" charset="0"/>
                <a:ea typeface="Cambria" pitchFamily="34" charset="-122"/>
                <a:cs typeface="Cambria" pitchFamily="34" charset="-120"/>
              </a:rPr>
              <a:t>Confirmation Desk</a:t>
            </a:r>
            <a:endParaRPr lang="en-US" sz="2000" dirty="0"/>
          </a:p>
        </p:txBody>
      </p:sp>
      <p:sp>
        <p:nvSpPr>
          <p:cNvPr id="8" name="Shape 6"/>
          <p:cNvSpPr/>
          <p:nvPr/>
        </p:nvSpPr>
        <p:spPr>
          <a:xfrm>
            <a:off x="6278728" y="1508760"/>
            <a:ext cx="5364328" cy="4754880"/>
          </a:xfrm>
          <a:prstGeom prst="roundRect">
            <a:avLst>
              <a:gd name="adj" fmla="val 1538"/>
            </a:avLst>
          </a:prstGeom>
          <a:solidFill>
            <a:srgbClr val="EEF2F5"/>
          </a:solidFill>
          <a:ln w="12700">
            <a:solidFill>
              <a:srgbClr val="EEF2F5"/>
            </a:solidFill>
            <a:prstDash val="solid"/>
          </a:ln>
        </p:spPr>
      </p:sp>
      <p:sp>
        <p:nvSpPr>
          <p:cNvPr id="9" name="Text 7"/>
          <p:cNvSpPr txBox="1"/>
          <p:nvPr/>
        </p:nvSpPr>
        <p:spPr>
          <a:xfrm>
            <a:off x="6553048" y="1691640"/>
            <a:ext cx="4815688"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PLANT MANAGER · TASK 2</a:t>
            </a:r>
            <a:endParaRPr lang="en-US" sz="1100" dirty="0"/>
          </a:p>
        </p:txBody>
      </p:sp>
      <p:sp>
        <p:nvSpPr>
          <p:cNvPr id="10" name="Text 8"/>
          <p:cNvSpPr txBox="1"/>
          <p:nvPr/>
        </p:nvSpPr>
        <p:spPr>
          <a:xfrm>
            <a:off x="6553048" y="1965960"/>
            <a:ext cx="4815688" cy="411480"/>
          </a:xfrm>
          <a:prstGeom prst="rect">
            <a:avLst/>
          </a:prstGeom>
          <a:noFill/>
          <a:ln/>
        </p:spPr>
        <p:txBody>
          <a:bodyPr wrap="square" lIns="0" tIns="0" rIns="0" bIns="0" rtlCol="0" anchor="ctr"/>
          <a:lstStyle/>
          <a:p>
            <a:pPr indent="0" marL="0">
              <a:buNone/>
            </a:pPr>
            <a:r>
              <a:rPr lang="en-US" sz="2000" b="1" dirty="0">
                <a:solidFill>
                  <a:srgbClr val="1F2A33"/>
                </a:solidFill>
                <a:latin typeface="Cambria" pitchFamily="34" charset="0"/>
                <a:ea typeface="Cambria" pitchFamily="34" charset="-122"/>
                <a:cs typeface="Cambria" pitchFamily="34" charset="-120"/>
              </a:rPr>
              <a:t>Vendor performance readout</a:t>
            </a:r>
            <a:endParaRPr lang="en-US" sz="2000" dirty="0"/>
          </a:p>
        </p:txBody>
      </p:sp>
      <p:sp>
        <p:nvSpPr>
          <p:cNvPr id="11" name="Text 9"/>
          <p:cNvSpPr txBox="1"/>
          <p:nvPr/>
        </p:nvSpPr>
        <p:spPr>
          <a:xfrm>
            <a:off x="822960" y="2560320"/>
            <a:ext cx="1605229" cy="594360"/>
          </a:xfrm>
          <a:prstGeom prst="rect">
            <a:avLst/>
          </a:prstGeom>
          <a:noFill/>
          <a:ln/>
        </p:spPr>
        <p:txBody>
          <a:bodyPr wrap="square" lIns="0" tIns="0" rIns="0" bIns="0" rtlCol="0" anchor="ctr"/>
          <a:lstStyle/>
          <a:p>
            <a:pPr indent="0" marL="0">
              <a:buNone/>
            </a:pPr>
            <a:r>
              <a:rPr lang="en-US" sz="2600" b="1" dirty="0">
                <a:solidFill>
                  <a:srgbClr val="1F2A33"/>
                </a:solidFill>
                <a:latin typeface="Cambria" pitchFamily="34" charset="0"/>
                <a:ea typeface="Cambria" pitchFamily="34" charset="-122"/>
                <a:cs typeface="Cambria" pitchFamily="34" charset="-120"/>
              </a:rPr>
              <a:t>35</a:t>
            </a:r>
            <a:endParaRPr lang="en-US" sz="2600" dirty="0"/>
          </a:p>
        </p:txBody>
      </p:sp>
      <p:sp>
        <p:nvSpPr>
          <p:cNvPr id="12" name="Text 10"/>
          <p:cNvSpPr txBox="1"/>
          <p:nvPr/>
        </p:nvSpPr>
        <p:spPr>
          <a:xfrm>
            <a:off x="822960" y="3163824"/>
            <a:ext cx="1422349"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vendor PDFs read (4 scans by OCR, 4 German)</a:t>
            </a:r>
            <a:endParaRPr lang="en-US" sz="1200" dirty="0"/>
          </a:p>
        </p:txBody>
      </p:sp>
      <p:sp>
        <p:nvSpPr>
          <p:cNvPr id="13" name="Text 11"/>
          <p:cNvSpPr txBox="1"/>
          <p:nvPr/>
        </p:nvSpPr>
        <p:spPr>
          <a:xfrm>
            <a:off x="2428189" y="2560320"/>
            <a:ext cx="1605229" cy="594360"/>
          </a:xfrm>
          <a:prstGeom prst="rect">
            <a:avLst/>
          </a:prstGeom>
          <a:noFill/>
          <a:ln/>
        </p:spPr>
        <p:txBody>
          <a:bodyPr wrap="square" lIns="0" tIns="0" rIns="0" bIns="0" rtlCol="0" anchor="ctr"/>
          <a:lstStyle/>
          <a:p>
            <a:pPr indent="0" marL="0">
              <a:buNone/>
            </a:pPr>
            <a:r>
              <a:rPr lang="en-US" sz="2600" b="1" dirty="0">
                <a:solidFill>
                  <a:srgbClr val="2E7D4F"/>
                </a:solidFill>
                <a:latin typeface="Cambria" pitchFamily="34" charset="0"/>
                <a:ea typeface="Cambria" pitchFamily="34" charset="-122"/>
                <a:cs typeface="Cambria" pitchFamily="34" charset="-120"/>
              </a:rPr>
              <a:t>22/44</a:t>
            </a:r>
            <a:endParaRPr lang="en-US" sz="2600" dirty="0"/>
          </a:p>
        </p:txBody>
      </p:sp>
      <p:sp>
        <p:nvSpPr>
          <p:cNvPr id="14" name="Text 12"/>
          <p:cNvSpPr txBox="1"/>
          <p:nvPr/>
        </p:nvSpPr>
        <p:spPr>
          <a:xfrm>
            <a:off x="2428189" y="3163824"/>
            <a:ext cx="1422349"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open PO lines clean: no action needed</a:t>
            </a:r>
            <a:endParaRPr lang="en-US" sz="1200" dirty="0"/>
          </a:p>
        </p:txBody>
      </p:sp>
      <p:sp>
        <p:nvSpPr>
          <p:cNvPr id="15" name="Text 13"/>
          <p:cNvSpPr txBox="1"/>
          <p:nvPr/>
        </p:nvSpPr>
        <p:spPr>
          <a:xfrm>
            <a:off x="4033418" y="2560320"/>
            <a:ext cx="1605229" cy="594360"/>
          </a:xfrm>
          <a:prstGeom prst="rect">
            <a:avLst/>
          </a:prstGeom>
          <a:noFill/>
          <a:ln/>
        </p:spPr>
        <p:txBody>
          <a:bodyPr wrap="square" lIns="0" tIns="0" rIns="0" bIns="0" rtlCol="0" anchor="ctr"/>
          <a:lstStyle/>
          <a:p>
            <a:pPr indent="0" marL="0">
              <a:buNone/>
            </a:pPr>
            <a:r>
              <a:rPr lang="en-US" sz="2600" b="1" dirty="0">
                <a:solidFill>
                  <a:srgbClr val="B83227"/>
                </a:solidFill>
                <a:latin typeface="Cambria" pitchFamily="34" charset="0"/>
                <a:ea typeface="Cambria" pitchFamily="34" charset="-122"/>
                <a:cs typeface="Cambria" pitchFamily="34" charset="-120"/>
              </a:rPr>
              <a:t>2</a:t>
            </a:r>
            <a:endParaRPr lang="en-US" sz="2600" dirty="0"/>
          </a:p>
        </p:txBody>
      </p:sp>
      <p:sp>
        <p:nvSpPr>
          <p:cNvPr id="16" name="Text 14"/>
          <p:cNvSpPr txBox="1"/>
          <p:nvPr/>
        </p:nvSpPr>
        <p:spPr>
          <a:xfrm>
            <a:off x="4033418" y="3163824"/>
            <a:ext cx="1422349"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items to act on today</a:t>
            </a:r>
            <a:endParaRPr lang="en-US" sz="1200" dirty="0"/>
          </a:p>
        </p:txBody>
      </p:sp>
      <p:sp>
        <p:nvSpPr>
          <p:cNvPr id="17" name="Text 15"/>
          <p:cNvSpPr txBox="1"/>
          <p:nvPr/>
        </p:nvSpPr>
        <p:spPr>
          <a:xfrm>
            <a:off x="822960" y="3886200"/>
            <a:ext cx="4815688" cy="2194560"/>
          </a:xfrm>
          <a:prstGeom prst="rect">
            <a:avLst/>
          </a:prstGeom>
          <a:noFill/>
          <a:ln/>
        </p:spPr>
        <p:txBody>
          <a:bodyPr wrap="square" lIns="635" tIns="635" rIns="635" bIns="635" rtlCol="0" anchor="t"/>
          <a:lstStyle/>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Silently dropped line: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Apex left PO-4500050001 line 2 (1,500 pcs) off its acknowledgment.</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Stray PO: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a confirmation arrived for PO-4500060619, which is not an open Beacon PO.</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Remembers: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handled items stay handled, the first promise date is never overwritten.</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Fixes it at the source: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Beacon's own acknowledgment form and supplier pack, pre-filled from the ERP.</a:t>
            </a:r>
            <a:endParaRPr lang="en-US" sz="1300" dirty="0"/>
          </a:p>
        </p:txBody>
      </p:sp>
      <p:sp>
        <p:nvSpPr>
          <p:cNvPr id="18" name="Text 16"/>
          <p:cNvSpPr txBox="1"/>
          <p:nvPr/>
        </p:nvSpPr>
        <p:spPr>
          <a:xfrm>
            <a:off x="6553048" y="2560320"/>
            <a:ext cx="1605229" cy="594360"/>
          </a:xfrm>
          <a:prstGeom prst="rect">
            <a:avLst/>
          </a:prstGeom>
          <a:noFill/>
          <a:ln/>
        </p:spPr>
        <p:txBody>
          <a:bodyPr wrap="square" lIns="0" tIns="0" rIns="0" bIns="0" rtlCol="0" anchor="ctr"/>
          <a:lstStyle/>
          <a:p>
            <a:pPr indent="0" marL="0">
              <a:buNone/>
            </a:pPr>
            <a:r>
              <a:rPr lang="en-US" sz="2600" b="1" dirty="0">
                <a:solidFill>
                  <a:srgbClr val="1F2A33"/>
                </a:solidFill>
                <a:latin typeface="Cambria" pitchFamily="34" charset="0"/>
                <a:ea typeface="Cambria" pitchFamily="34" charset="-122"/>
                <a:cs typeface="Cambria" pitchFamily="34" charset="-120"/>
              </a:rPr>
              <a:t>$28.2M</a:t>
            </a:r>
            <a:endParaRPr lang="en-US" sz="2600" dirty="0"/>
          </a:p>
        </p:txBody>
      </p:sp>
      <p:sp>
        <p:nvSpPr>
          <p:cNvPr id="19" name="Text 17"/>
          <p:cNvSpPr txBox="1"/>
          <p:nvPr/>
        </p:nvSpPr>
        <p:spPr>
          <a:xfrm>
            <a:off x="6553048" y="3163824"/>
            <a:ext cx="1422349"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received Sep 2025 to May 2026 (after cleaning)</a:t>
            </a:r>
            <a:endParaRPr lang="en-US" sz="1200" dirty="0"/>
          </a:p>
        </p:txBody>
      </p:sp>
      <p:sp>
        <p:nvSpPr>
          <p:cNvPr id="20" name="Text 18"/>
          <p:cNvSpPr txBox="1"/>
          <p:nvPr/>
        </p:nvSpPr>
        <p:spPr>
          <a:xfrm>
            <a:off x="8158277" y="2560320"/>
            <a:ext cx="1605229" cy="594360"/>
          </a:xfrm>
          <a:prstGeom prst="rect">
            <a:avLst/>
          </a:prstGeom>
          <a:noFill/>
          <a:ln/>
        </p:spPr>
        <p:txBody>
          <a:bodyPr wrap="square" lIns="0" tIns="0" rIns="0" bIns="0" rtlCol="0" anchor="ctr"/>
          <a:lstStyle/>
          <a:p>
            <a:pPr indent="0" marL="0">
              <a:buNone/>
            </a:pPr>
            <a:r>
              <a:rPr lang="en-US" sz="2600" b="1" dirty="0">
                <a:solidFill>
                  <a:srgbClr val="B83227"/>
                </a:solidFill>
                <a:latin typeface="Cambria" pitchFamily="34" charset="0"/>
                <a:ea typeface="Cambria" pitchFamily="34" charset="-122"/>
                <a:cs typeface="Cambria" pitchFamily="34" charset="-120"/>
              </a:rPr>
              <a:t>42%</a:t>
            </a:r>
            <a:endParaRPr lang="en-US" sz="2600" dirty="0"/>
          </a:p>
        </p:txBody>
      </p:sp>
      <p:sp>
        <p:nvSpPr>
          <p:cNvPr id="21" name="Text 19"/>
          <p:cNvSpPr txBox="1"/>
          <p:nvPr/>
        </p:nvSpPr>
        <p:spPr>
          <a:xfrm>
            <a:off x="8158277" y="3163824"/>
            <a:ext cx="1422349"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Continental on time; other vendors 69-99%</a:t>
            </a:r>
            <a:endParaRPr lang="en-US" sz="1200" dirty="0"/>
          </a:p>
        </p:txBody>
      </p:sp>
      <p:sp>
        <p:nvSpPr>
          <p:cNvPr id="22" name="Text 20"/>
          <p:cNvSpPr txBox="1"/>
          <p:nvPr/>
        </p:nvSpPr>
        <p:spPr>
          <a:xfrm>
            <a:off x="9763506" y="2560320"/>
            <a:ext cx="1605229" cy="594360"/>
          </a:xfrm>
          <a:prstGeom prst="rect">
            <a:avLst/>
          </a:prstGeom>
          <a:noFill/>
          <a:ln/>
        </p:spPr>
        <p:txBody>
          <a:bodyPr wrap="square" lIns="0" tIns="0" rIns="0" bIns="0" rtlCol="0" anchor="ctr"/>
          <a:lstStyle/>
          <a:p>
            <a:pPr indent="0" marL="0">
              <a:buNone/>
            </a:pPr>
            <a:r>
              <a:rPr lang="en-US" sz="2600" b="1" dirty="0">
                <a:solidFill>
                  <a:srgbClr val="B83227"/>
                </a:solidFill>
                <a:latin typeface="Cambria" pitchFamily="34" charset="0"/>
                <a:ea typeface="Cambria" pitchFamily="34" charset="-122"/>
                <a:cs typeface="Cambria" pitchFamily="34" charset="-120"/>
              </a:rPr>
              <a:t>61/63</a:t>
            </a:r>
            <a:endParaRPr lang="en-US" sz="2600" dirty="0"/>
          </a:p>
        </p:txBody>
      </p:sp>
      <p:sp>
        <p:nvSpPr>
          <p:cNvPr id="23" name="Text 21"/>
          <p:cNvSpPr txBox="1"/>
          <p:nvPr/>
        </p:nvSpPr>
        <p:spPr>
          <a:xfrm>
            <a:off x="9763506" y="3163824"/>
            <a:ext cx="1422349"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of the lines &gt;7 days late are Continental's</a:t>
            </a:r>
            <a:endParaRPr lang="en-US" sz="1200" dirty="0"/>
          </a:p>
        </p:txBody>
      </p:sp>
      <p:sp>
        <p:nvSpPr>
          <p:cNvPr id="24" name="Text 22"/>
          <p:cNvSpPr txBox="1"/>
          <p:nvPr/>
        </p:nvSpPr>
        <p:spPr>
          <a:xfrm>
            <a:off x="6553048" y="3886200"/>
            <a:ext cx="4815688" cy="2194560"/>
          </a:xfrm>
          <a:prstGeom prst="rect">
            <a:avLst/>
          </a:prstGeom>
          <a:noFill/>
          <a:ln/>
        </p:spPr>
        <p:txBody>
          <a:bodyPr wrap="square" lIns="635" tIns="635" rIns="635" bIns="635" rtlCol="0" anchor="t"/>
          <a:lstStyle/>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Call first: Continental Quality Heat Treat.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Late most often and by the most, and not improving. Part of it is our 19-day planned lead time vs their 28-day quote.</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Call second: Apex, commercially.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85% of spend; CRES bar confirmed 1-2% over PO since Feb; $77k of short-shipped balances left open.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PROBLEM FRAMING</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Two users, two decisions, and what a miss costs each</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4636008"/>
                <a:gridCol w="4718304"/>
              </a:tblGrid>
              <a:tr h="713232">
                <a:tc>
                  <a:txBody>
                    <a:bodyPr/>
                    <a:lstStyle/>
                    <a:p>
                      <a:pPr indent="0" marL="0">
                        <a:buNone/>
                      </a:pP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Lisa, senior buyer</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Plant manager</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713232">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Is every line I ordered confirmed at my qty, price and date? If not, who do I chase today?</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Which vendor deserves my attention first, and what do I say to them?</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713232">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Today</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~90 min/day reading ~35 PDFs (clean ERP output, scans, German, vendor part numbers) against ~50 open POs</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8 months of ERP history nobody has analysed; vendor decisions run on anecdote</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Hardest part</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Noticing what is NOT on the page: a silently dropped line</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The ERP data looks clean but isn't (8 traps, next section)</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713232">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Cost of a miss</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Receiving shorts, AP price disputes, customer expedites</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The wrong vendor gets the call; the real cause (sometimes ours) stays hidden</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D9622B"/>
                          </a:solidFill>
                          <a:latin typeface="Calibri" pitchFamily="34" charset="0"/>
                          <a:ea typeface="Calibri" pitchFamily="34" charset="-122"/>
                          <a:cs typeface="Calibri" pitchFamily="34" charset="-120"/>
                        </a:rPr>
                        <a:t>What I built</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 daily check that produces a worst-first exception list in Excel, with memory</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 one-page readout plus a workbook with every definition, numerator and denominator</a:t>
                      </a:r>
                      <a:endParaRPr lang="en-US" sz="14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bl>
          </a:graphicData>
        </a:graphic>
      </p:graphicFrame>
      <p:sp>
        <p:nvSpPr>
          <p:cNvPr id="6" name="Text 3"/>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600" i="1" dirty="0">
                <a:solidFill>
                  <a:srgbClr val="4E5D6A"/>
                </a:solidFill>
                <a:latin typeface="Cambria" pitchFamily="34" charset="0"/>
                <a:ea typeface="Cambria" pitchFamily="34" charset="-122"/>
                <a:cs typeface="Cambria" pitchFamily="34" charset="-120"/>
              </a:rPr>
              <a:t>Design test for both: could the user act on it tomorrow morning without me in the room?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1 · PRODUCT DECISION</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An exception list Lisa opens in Excel, not a dashboard to learn</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4</a:t>
            </a:r>
            <a:endParaRPr lang="en-US" sz="900" dirty="0"/>
          </a:p>
        </p:txBody>
      </p:sp>
      <p:sp>
        <p:nvSpPr>
          <p:cNvPr id="5" name="Shape 3"/>
          <p:cNvSpPr/>
          <p:nvPr/>
        </p:nvSpPr>
        <p:spPr>
          <a:xfrm>
            <a:off x="548640" y="1645920"/>
            <a:ext cx="384048" cy="384048"/>
          </a:xfrm>
          <a:prstGeom prst="ellipse">
            <a:avLst/>
          </a:prstGeom>
          <a:solidFill>
            <a:srgbClr val="D9622B"/>
          </a:solidFill>
          <a:ln w="12700">
            <a:solidFill>
              <a:srgbClr val="D9622B"/>
            </a:solidFill>
            <a:prstDash val="solid"/>
          </a:ln>
        </p:spPr>
      </p:sp>
      <p:sp>
        <p:nvSpPr>
          <p:cNvPr id="6" name="Text 4"/>
          <p:cNvSpPr txBox="1"/>
          <p:nvPr/>
        </p:nvSpPr>
        <p:spPr>
          <a:xfrm>
            <a:off x="54864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97280" y="1600200"/>
            <a:ext cx="6126480" cy="34747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Excel workbook is the product</a:t>
            </a:r>
            <a:endParaRPr lang="en-US" sz="1600" dirty="0"/>
          </a:p>
        </p:txBody>
      </p:sp>
      <p:sp>
        <p:nvSpPr>
          <p:cNvPr id="8" name="Text 6"/>
          <p:cNvSpPr txBox="1"/>
          <p:nvPr/>
        </p:nvSpPr>
        <p:spPr>
          <a:xfrm>
            <a:off x="1097280" y="1947672"/>
            <a:ext cx="6126480" cy="68580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Action List first, worst first: what happened and what to do, in words. Lisa types Yes in Done? and adds Notes; the next run reads them back.</a:t>
            </a:r>
            <a:endParaRPr lang="en-US" sz="1300" dirty="0"/>
          </a:p>
        </p:txBody>
      </p:sp>
      <p:sp>
        <p:nvSpPr>
          <p:cNvPr id="9" name="Shape 7"/>
          <p:cNvSpPr/>
          <p:nvPr/>
        </p:nvSpPr>
        <p:spPr>
          <a:xfrm>
            <a:off x="548640" y="2761488"/>
            <a:ext cx="384048" cy="384048"/>
          </a:xfrm>
          <a:prstGeom prst="ellipse">
            <a:avLst/>
          </a:prstGeom>
          <a:solidFill>
            <a:srgbClr val="D9622B"/>
          </a:solidFill>
          <a:ln w="12700">
            <a:solidFill>
              <a:srgbClr val="D9622B"/>
            </a:solidFill>
            <a:prstDash val="solid"/>
          </a:ln>
        </p:spPr>
      </p:sp>
      <p:sp>
        <p:nvSpPr>
          <p:cNvPr id="10" name="Text 8"/>
          <p:cNvSpPr txBox="1"/>
          <p:nvPr/>
        </p:nvSpPr>
        <p:spPr>
          <a:xfrm>
            <a:off x="548640" y="2761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97280" y="2715768"/>
            <a:ext cx="6126480" cy="34747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Same engine as a small browser app</a:t>
            </a:r>
            <a:endParaRPr lang="en-US" sz="1600" dirty="0"/>
          </a:p>
        </p:txBody>
      </p:sp>
      <p:sp>
        <p:nvSpPr>
          <p:cNvPr id="12" name="Text 10"/>
          <p:cNvSpPr txBox="1"/>
          <p:nvPr/>
        </p:nvSpPr>
        <p:spPr>
          <a:xfrm>
            <a:off x="1097280" y="3063240"/>
            <a:ext cx="6126480" cy="68580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Drag in the day's PDFs; approve a new vendor part number in one click; see each scan next to what was read from it. Optional.</a:t>
            </a:r>
            <a:endParaRPr lang="en-US" sz="1300" dirty="0"/>
          </a:p>
        </p:txBody>
      </p:sp>
      <p:sp>
        <p:nvSpPr>
          <p:cNvPr id="13" name="Shape 11"/>
          <p:cNvSpPr/>
          <p:nvPr/>
        </p:nvSpPr>
        <p:spPr>
          <a:xfrm>
            <a:off x="548640" y="3877056"/>
            <a:ext cx="384048" cy="384048"/>
          </a:xfrm>
          <a:prstGeom prst="ellipse">
            <a:avLst/>
          </a:prstGeom>
          <a:solidFill>
            <a:srgbClr val="D9622B"/>
          </a:solidFill>
          <a:ln w="12700">
            <a:solidFill>
              <a:srgbClr val="D9622B"/>
            </a:solidFill>
            <a:prstDash val="solid"/>
          </a:ln>
        </p:spPr>
      </p:sp>
      <p:sp>
        <p:nvSpPr>
          <p:cNvPr id="14" name="Text 12"/>
          <p:cNvSpPr txBox="1"/>
          <p:nvPr/>
        </p:nvSpPr>
        <p:spPr>
          <a:xfrm>
            <a:off x="548640" y="3877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97280" y="3831336"/>
            <a:ext cx="6126480" cy="34747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Memory in one local file</a:t>
            </a:r>
            <a:endParaRPr lang="en-US" sz="1600" dirty="0"/>
          </a:p>
        </p:txBody>
      </p:sp>
      <p:sp>
        <p:nvSpPr>
          <p:cNvPr id="16" name="Text 14"/>
          <p:cNvSpPr txBox="1"/>
          <p:nvPr/>
        </p:nvSpPr>
        <p:spPr>
          <a:xfrm>
            <a:off x="1097280" y="4178808"/>
            <a:ext cx="6126480" cy="68580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Duplicate PDFs are ignored, corrected acknowledgments close items on their own, the first promise date is kept.</a:t>
            </a:r>
            <a:endParaRPr lang="en-US" sz="1300" dirty="0"/>
          </a:p>
        </p:txBody>
      </p:sp>
      <p:sp>
        <p:nvSpPr>
          <p:cNvPr id="17" name="Shape 15"/>
          <p:cNvSpPr/>
          <p:nvPr/>
        </p:nvSpPr>
        <p:spPr>
          <a:xfrm>
            <a:off x="548640" y="4992624"/>
            <a:ext cx="384048" cy="384048"/>
          </a:xfrm>
          <a:prstGeom prst="ellipse">
            <a:avLst/>
          </a:prstGeom>
          <a:solidFill>
            <a:srgbClr val="D9622B"/>
          </a:solidFill>
          <a:ln w="12700">
            <a:solidFill>
              <a:srgbClr val="D9622B"/>
            </a:solidFill>
            <a:prstDash val="solid"/>
          </a:ln>
        </p:spPr>
      </p:sp>
      <p:sp>
        <p:nvSpPr>
          <p:cNvPr id="18" name="Text 16"/>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097280" y="4946904"/>
            <a:ext cx="6126480" cy="34747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Deterministic first</a:t>
            </a:r>
            <a:endParaRPr lang="en-US" sz="1600" dirty="0"/>
          </a:p>
        </p:txBody>
      </p:sp>
      <p:sp>
        <p:nvSpPr>
          <p:cNvPr id="20" name="Text 18"/>
          <p:cNvSpPr txBox="1"/>
          <p:nvPr/>
        </p:nvSpPr>
        <p:spPr>
          <a:xfrm>
            <a:off x="1097280" y="5294376"/>
            <a:ext cx="6126480" cy="68580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6 stable vendor layouts, so one small parser each. The AI reader is only a fallback for unknown layouts and is off by default.</a:t>
            </a:r>
            <a:endParaRPr lang="en-US" sz="1300" dirty="0"/>
          </a:p>
        </p:txBody>
      </p:sp>
      <p:sp>
        <p:nvSpPr>
          <p:cNvPr id="21" name="Shape 19"/>
          <p:cNvSpPr/>
          <p:nvPr/>
        </p:nvSpPr>
        <p:spPr>
          <a:xfrm>
            <a:off x="7589520" y="1554480"/>
            <a:ext cx="4053535" cy="4663440"/>
          </a:xfrm>
          <a:prstGeom prst="roundRect">
            <a:avLst>
              <a:gd name="adj" fmla="val 1805"/>
            </a:avLst>
          </a:prstGeom>
          <a:solidFill>
            <a:srgbClr val="EEF2F5"/>
          </a:solidFill>
          <a:ln w="12700">
            <a:solidFill>
              <a:srgbClr val="EEF2F5"/>
            </a:solidFill>
            <a:prstDash val="solid"/>
          </a:ln>
        </p:spPr>
      </p:sp>
      <p:sp>
        <p:nvSpPr>
          <p:cNvPr id="22" name="Text 20"/>
          <p:cNvSpPr txBox="1"/>
          <p:nvPr/>
        </p:nvSpPr>
        <p:spPr>
          <a:xfrm>
            <a:off x="7863840" y="1737360"/>
            <a:ext cx="3504895" cy="365760"/>
          </a:xfrm>
          <a:prstGeom prst="rect">
            <a:avLst/>
          </a:prstGeom>
          <a:noFill/>
          <a:ln/>
        </p:spPr>
        <p:txBody>
          <a:bodyPr wrap="square" lIns="0" tIns="0" rIns="0" bIns="0" rtlCol="0" anchor="ctr"/>
          <a:lstStyle/>
          <a:p>
            <a:pPr indent="0" marL="0">
              <a:buNone/>
            </a:pPr>
            <a:r>
              <a:rPr lang="en-US" sz="1800" b="1" dirty="0">
                <a:solidFill>
                  <a:srgbClr val="1F2A33"/>
                </a:solidFill>
                <a:latin typeface="Cambria" pitchFamily="34" charset="0"/>
                <a:ea typeface="Cambria" pitchFamily="34" charset="-122"/>
                <a:cs typeface="Cambria" pitchFamily="34" charset="-120"/>
              </a:rPr>
              <a:t>Rules it never breaks</a:t>
            </a:r>
            <a:endParaRPr lang="en-US" sz="1800" dirty="0"/>
          </a:p>
        </p:txBody>
      </p:sp>
      <p:sp>
        <p:nvSpPr>
          <p:cNvPr id="23" name="Text 21"/>
          <p:cNvSpPr txBox="1"/>
          <p:nvPr/>
        </p:nvSpPr>
        <p:spPr>
          <a:xfrm>
            <a:off x="7863840" y="2194560"/>
            <a:ext cx="3504895" cy="384048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Never guesses silently.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Anything not matched on an identifier goes to Review Required.</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Says "possible dropped line",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not "dropped": the vendor may confirm it separately.</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Never sends anything.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Vendor emails are drafts; Lisa owns the relationship.</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Every PDF gets a status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and every open PO line is accounted for (checked on each run).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1 · HOW IT WORKS</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Five deterministic steps from vendor PDF to Excel</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5</a:t>
            </a:r>
            <a:endParaRPr lang="en-US" sz="900" dirty="0"/>
          </a:p>
        </p:txBody>
      </p:sp>
      <p:sp>
        <p:nvSpPr>
          <p:cNvPr id="5" name="Shape 3"/>
          <p:cNvSpPr/>
          <p:nvPr/>
        </p:nvSpPr>
        <p:spPr>
          <a:xfrm>
            <a:off x="548640" y="1554480"/>
            <a:ext cx="2011680" cy="1783080"/>
          </a:xfrm>
          <a:prstGeom prst="roundRect">
            <a:avLst>
              <a:gd name="adj" fmla="val 4103"/>
            </a:avLst>
          </a:prstGeom>
          <a:solidFill>
            <a:srgbClr val="EEF2F5"/>
          </a:solidFill>
          <a:ln w="12700">
            <a:solidFill>
              <a:srgbClr val="EEF2F5"/>
            </a:solidFill>
            <a:prstDash val="solid"/>
          </a:ln>
        </p:spPr>
      </p:sp>
      <p:sp>
        <p:nvSpPr>
          <p:cNvPr id="6" name="Text 4"/>
          <p:cNvSpPr txBox="1"/>
          <p:nvPr/>
        </p:nvSpPr>
        <p:spPr>
          <a:xfrm>
            <a:off x="685800" y="1645920"/>
            <a:ext cx="1737360" cy="365760"/>
          </a:xfrm>
          <a:prstGeom prst="rect">
            <a:avLst/>
          </a:prstGeom>
          <a:noFill/>
          <a:ln/>
        </p:spPr>
        <p:txBody>
          <a:bodyPr wrap="square" lIns="0" tIns="0" rIns="0" bIns="0" rtlCol="0" anchor="ctr"/>
          <a:lstStyle/>
          <a:p>
            <a:pPr indent="0" marL="0">
              <a:buNone/>
            </a:pPr>
            <a:r>
              <a:rPr lang="en-US" sz="1700" b="1" dirty="0">
                <a:solidFill>
                  <a:srgbClr val="1F2A33"/>
                </a:solidFill>
                <a:latin typeface="Cambria" pitchFamily="34" charset="0"/>
                <a:ea typeface="Cambria" pitchFamily="34" charset="-122"/>
                <a:cs typeface="Cambria" pitchFamily="34" charset="-120"/>
              </a:rPr>
              <a:t>Read</a:t>
            </a:r>
            <a:endParaRPr lang="en-US" sz="1700" dirty="0"/>
          </a:p>
        </p:txBody>
      </p:sp>
      <p:sp>
        <p:nvSpPr>
          <p:cNvPr id="7" name="Text 5"/>
          <p:cNvSpPr txBox="1"/>
          <p:nvPr/>
        </p:nvSpPr>
        <p:spPr>
          <a:xfrm>
            <a:off x="685800" y="2029968"/>
            <a:ext cx="1737360" cy="123444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Text layer: 31 PDFs</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OCR: 4 Continental scans</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AI fallback: off</a:t>
            </a:r>
            <a:endParaRPr lang="en-US" sz="1200" dirty="0"/>
          </a:p>
        </p:txBody>
      </p:sp>
      <p:sp>
        <p:nvSpPr>
          <p:cNvPr id="8" name="Shape 6"/>
          <p:cNvSpPr/>
          <p:nvPr/>
        </p:nvSpPr>
        <p:spPr>
          <a:xfrm rot="5400000">
            <a:off x="2607526" y="2331720"/>
            <a:ext cx="164592" cy="237744"/>
          </a:xfrm>
          <a:prstGeom prst="rtTriangle">
            <a:avLst/>
          </a:prstGeom>
          <a:solidFill>
            <a:srgbClr val="7D8B97"/>
          </a:solidFill>
          <a:ln w="12700">
            <a:solidFill>
              <a:srgbClr val="7D8B97"/>
            </a:solidFill>
            <a:prstDash val="solid"/>
          </a:ln>
        </p:spPr>
      </p:sp>
      <p:sp>
        <p:nvSpPr>
          <p:cNvPr id="9" name="Shape 7"/>
          <p:cNvSpPr/>
          <p:nvPr/>
        </p:nvSpPr>
        <p:spPr>
          <a:xfrm>
            <a:off x="2819324" y="1554480"/>
            <a:ext cx="2011680" cy="1783080"/>
          </a:xfrm>
          <a:prstGeom prst="roundRect">
            <a:avLst>
              <a:gd name="adj" fmla="val 4103"/>
            </a:avLst>
          </a:prstGeom>
          <a:solidFill>
            <a:srgbClr val="EEF2F5"/>
          </a:solidFill>
          <a:ln w="12700">
            <a:solidFill>
              <a:srgbClr val="EEF2F5"/>
            </a:solidFill>
            <a:prstDash val="solid"/>
          </a:ln>
        </p:spPr>
      </p:sp>
      <p:sp>
        <p:nvSpPr>
          <p:cNvPr id="10" name="Text 8"/>
          <p:cNvSpPr txBox="1"/>
          <p:nvPr/>
        </p:nvSpPr>
        <p:spPr>
          <a:xfrm>
            <a:off x="2956484" y="1645920"/>
            <a:ext cx="1737360" cy="365760"/>
          </a:xfrm>
          <a:prstGeom prst="rect">
            <a:avLst/>
          </a:prstGeom>
          <a:noFill/>
          <a:ln/>
        </p:spPr>
        <p:txBody>
          <a:bodyPr wrap="square" lIns="0" tIns="0" rIns="0" bIns="0" rtlCol="0" anchor="ctr"/>
          <a:lstStyle/>
          <a:p>
            <a:pPr indent="0" marL="0">
              <a:buNone/>
            </a:pPr>
            <a:r>
              <a:rPr lang="en-US" sz="1700" b="1" dirty="0">
                <a:solidFill>
                  <a:srgbClr val="1F2A33"/>
                </a:solidFill>
                <a:latin typeface="Cambria" pitchFamily="34" charset="0"/>
                <a:ea typeface="Cambria" pitchFamily="34" charset="-122"/>
                <a:cs typeface="Cambria" pitchFamily="34" charset="-120"/>
              </a:rPr>
              <a:t>Normalize</a:t>
            </a:r>
            <a:endParaRPr lang="en-US" sz="1700" dirty="0"/>
          </a:p>
        </p:txBody>
      </p:sp>
      <p:sp>
        <p:nvSpPr>
          <p:cNvPr id="11" name="Text 9"/>
          <p:cNvSpPr txBox="1"/>
          <p:nvPr/>
        </p:nvSpPr>
        <p:spPr>
          <a:xfrm>
            <a:off x="2956484" y="2029968"/>
            <a:ext cx="1737360" cy="123444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Dates, units, decimals</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German labels, "KW 20-22"</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EUR→USD at ERP rate</a:t>
            </a:r>
            <a:endParaRPr lang="en-US" sz="1200" dirty="0"/>
          </a:p>
        </p:txBody>
      </p:sp>
      <p:sp>
        <p:nvSpPr>
          <p:cNvPr id="12" name="Shape 10"/>
          <p:cNvSpPr/>
          <p:nvPr/>
        </p:nvSpPr>
        <p:spPr>
          <a:xfrm rot="5400000">
            <a:off x="4878210" y="2331720"/>
            <a:ext cx="164592" cy="237744"/>
          </a:xfrm>
          <a:prstGeom prst="rtTriangle">
            <a:avLst/>
          </a:prstGeom>
          <a:solidFill>
            <a:srgbClr val="7D8B97"/>
          </a:solidFill>
          <a:ln w="12700">
            <a:solidFill>
              <a:srgbClr val="7D8B97"/>
            </a:solidFill>
            <a:prstDash val="solid"/>
          </a:ln>
        </p:spPr>
      </p:sp>
      <p:sp>
        <p:nvSpPr>
          <p:cNvPr id="13" name="Shape 11"/>
          <p:cNvSpPr/>
          <p:nvPr/>
        </p:nvSpPr>
        <p:spPr>
          <a:xfrm>
            <a:off x="5090008" y="1554480"/>
            <a:ext cx="2011680" cy="1783080"/>
          </a:xfrm>
          <a:prstGeom prst="roundRect">
            <a:avLst>
              <a:gd name="adj" fmla="val 4103"/>
            </a:avLst>
          </a:prstGeom>
          <a:solidFill>
            <a:srgbClr val="EEF2F5"/>
          </a:solidFill>
          <a:ln w="12700">
            <a:solidFill>
              <a:srgbClr val="EEF2F5"/>
            </a:solidFill>
            <a:prstDash val="solid"/>
          </a:ln>
        </p:spPr>
      </p:sp>
      <p:sp>
        <p:nvSpPr>
          <p:cNvPr id="14" name="Text 12"/>
          <p:cNvSpPr txBox="1"/>
          <p:nvPr/>
        </p:nvSpPr>
        <p:spPr>
          <a:xfrm>
            <a:off x="5227168" y="1645920"/>
            <a:ext cx="1737360" cy="365760"/>
          </a:xfrm>
          <a:prstGeom prst="rect">
            <a:avLst/>
          </a:prstGeom>
          <a:noFill/>
          <a:ln/>
        </p:spPr>
        <p:txBody>
          <a:bodyPr wrap="square" lIns="0" tIns="0" rIns="0" bIns="0" rtlCol="0" anchor="ctr"/>
          <a:lstStyle/>
          <a:p>
            <a:pPr indent="0" marL="0">
              <a:buNone/>
            </a:pPr>
            <a:r>
              <a:rPr lang="en-US" sz="1700" b="1" dirty="0">
                <a:solidFill>
                  <a:srgbClr val="1F2A33"/>
                </a:solidFill>
                <a:latin typeface="Cambria" pitchFamily="34" charset="0"/>
                <a:ea typeface="Cambria" pitchFamily="34" charset="-122"/>
                <a:cs typeface="Cambria" pitchFamily="34" charset="-120"/>
              </a:rPr>
              <a:t>Match</a:t>
            </a:r>
            <a:endParaRPr lang="en-US" sz="1700" dirty="0"/>
          </a:p>
        </p:txBody>
      </p:sp>
      <p:sp>
        <p:nvSpPr>
          <p:cNvPr id="15" name="Text 13"/>
          <p:cNvSpPr txBox="1"/>
          <p:nvPr/>
        </p:nvSpPr>
        <p:spPr>
          <a:xfrm>
            <a:off x="5227168" y="2029968"/>
            <a:ext cx="1737360" cy="123444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Vendor, PO, then each line via the 5-level ladder below</a:t>
            </a:r>
            <a:endParaRPr lang="en-US" sz="1200" dirty="0"/>
          </a:p>
        </p:txBody>
      </p:sp>
      <p:sp>
        <p:nvSpPr>
          <p:cNvPr id="16" name="Shape 14"/>
          <p:cNvSpPr/>
          <p:nvPr/>
        </p:nvSpPr>
        <p:spPr>
          <a:xfrm rot="5400000">
            <a:off x="7148894" y="2331720"/>
            <a:ext cx="164592" cy="237744"/>
          </a:xfrm>
          <a:prstGeom prst="rtTriangle">
            <a:avLst/>
          </a:prstGeom>
          <a:solidFill>
            <a:srgbClr val="7D8B97"/>
          </a:solidFill>
          <a:ln w="12700">
            <a:solidFill>
              <a:srgbClr val="7D8B97"/>
            </a:solidFill>
            <a:prstDash val="solid"/>
          </a:ln>
        </p:spPr>
      </p:sp>
      <p:sp>
        <p:nvSpPr>
          <p:cNvPr id="17" name="Shape 15"/>
          <p:cNvSpPr/>
          <p:nvPr/>
        </p:nvSpPr>
        <p:spPr>
          <a:xfrm>
            <a:off x="7360691" y="1554480"/>
            <a:ext cx="2011680" cy="1783080"/>
          </a:xfrm>
          <a:prstGeom prst="roundRect">
            <a:avLst>
              <a:gd name="adj" fmla="val 4103"/>
            </a:avLst>
          </a:prstGeom>
          <a:solidFill>
            <a:srgbClr val="EEF2F5"/>
          </a:solidFill>
          <a:ln w="12700">
            <a:solidFill>
              <a:srgbClr val="EEF2F5"/>
            </a:solidFill>
            <a:prstDash val="solid"/>
          </a:ln>
        </p:spPr>
      </p:sp>
      <p:sp>
        <p:nvSpPr>
          <p:cNvPr id="18" name="Text 16"/>
          <p:cNvSpPr txBox="1"/>
          <p:nvPr/>
        </p:nvSpPr>
        <p:spPr>
          <a:xfrm>
            <a:off x="7497851" y="1645920"/>
            <a:ext cx="1737360" cy="365760"/>
          </a:xfrm>
          <a:prstGeom prst="rect">
            <a:avLst/>
          </a:prstGeom>
          <a:noFill/>
          <a:ln/>
        </p:spPr>
        <p:txBody>
          <a:bodyPr wrap="square" lIns="0" tIns="0" rIns="0" bIns="0" rtlCol="0" anchor="ctr"/>
          <a:lstStyle/>
          <a:p>
            <a:pPr indent="0" marL="0">
              <a:buNone/>
            </a:pPr>
            <a:r>
              <a:rPr lang="en-US" sz="1700" b="1" dirty="0">
                <a:solidFill>
                  <a:srgbClr val="1F2A33"/>
                </a:solidFill>
                <a:latin typeface="Cambria" pitchFamily="34" charset="0"/>
                <a:ea typeface="Cambria" pitchFamily="34" charset="-122"/>
                <a:cs typeface="Cambria" pitchFamily="34" charset="-120"/>
              </a:rPr>
              <a:t>Check</a:t>
            </a:r>
            <a:endParaRPr lang="en-US" sz="1700" dirty="0"/>
          </a:p>
        </p:txBody>
      </p:sp>
      <p:sp>
        <p:nvSpPr>
          <p:cNvPr id="19" name="Text 17"/>
          <p:cNvSpPr txBox="1"/>
          <p:nvPr/>
        </p:nvSpPr>
        <p:spPr>
          <a:xfrm>
            <a:off x="7497851" y="2029968"/>
            <a:ext cx="1737360" cy="123444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Missing line · qty</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price · date vs need</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date sanity · revisions</a:t>
            </a:r>
            <a:endParaRPr lang="en-US" sz="1200" dirty="0"/>
          </a:p>
        </p:txBody>
      </p:sp>
      <p:sp>
        <p:nvSpPr>
          <p:cNvPr id="20" name="Shape 18"/>
          <p:cNvSpPr/>
          <p:nvPr/>
        </p:nvSpPr>
        <p:spPr>
          <a:xfrm rot="5400000">
            <a:off x="9419577" y="2331720"/>
            <a:ext cx="164592" cy="237744"/>
          </a:xfrm>
          <a:prstGeom prst="rtTriangle">
            <a:avLst/>
          </a:prstGeom>
          <a:solidFill>
            <a:srgbClr val="7D8B97"/>
          </a:solidFill>
          <a:ln w="12700">
            <a:solidFill>
              <a:srgbClr val="7D8B97"/>
            </a:solidFill>
            <a:prstDash val="solid"/>
          </a:ln>
        </p:spPr>
      </p:sp>
      <p:sp>
        <p:nvSpPr>
          <p:cNvPr id="21" name="Shape 19"/>
          <p:cNvSpPr/>
          <p:nvPr/>
        </p:nvSpPr>
        <p:spPr>
          <a:xfrm>
            <a:off x="9631375" y="1554480"/>
            <a:ext cx="2011680" cy="1783080"/>
          </a:xfrm>
          <a:prstGeom prst="roundRect">
            <a:avLst>
              <a:gd name="adj" fmla="val 4103"/>
            </a:avLst>
          </a:prstGeom>
          <a:solidFill>
            <a:srgbClr val="FBE9DF"/>
          </a:solidFill>
          <a:ln w="12700">
            <a:solidFill>
              <a:srgbClr val="FBE9DF"/>
            </a:solidFill>
            <a:prstDash val="solid"/>
          </a:ln>
        </p:spPr>
      </p:sp>
      <p:sp>
        <p:nvSpPr>
          <p:cNvPr id="22" name="Text 20"/>
          <p:cNvSpPr txBox="1"/>
          <p:nvPr/>
        </p:nvSpPr>
        <p:spPr>
          <a:xfrm>
            <a:off x="9768535" y="1645920"/>
            <a:ext cx="1737360" cy="36576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Report</a:t>
            </a:r>
            <a:endParaRPr lang="en-US" sz="1700" dirty="0"/>
          </a:p>
        </p:txBody>
      </p:sp>
      <p:sp>
        <p:nvSpPr>
          <p:cNvPr id="23" name="Text 21"/>
          <p:cNvSpPr txBox="1"/>
          <p:nvPr/>
        </p:nvSpPr>
        <p:spPr>
          <a:xfrm>
            <a:off x="9768535" y="2029968"/>
            <a:ext cx="1737360" cy="123444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Excel workbook + memory (SQLite)</a:t>
            </a:r>
            <a:endParaRPr lang="en-US" sz="1200" dirty="0"/>
          </a:p>
          <a:p>
            <a:pPr indent="0" marL="0">
              <a:buNone/>
            </a:pPr>
            <a:r>
              <a:rPr lang="en-US" sz="1200" dirty="0">
                <a:solidFill>
                  <a:srgbClr val="4E5D6A"/>
                </a:solidFill>
                <a:latin typeface="Calibri" pitchFamily="34" charset="0"/>
                <a:ea typeface="Calibri" pitchFamily="34" charset="-122"/>
                <a:cs typeface="Calibri" pitchFamily="34" charset="-120"/>
              </a:rPr>
              <a:t>8 sheets</a:t>
            </a:r>
            <a:endParaRPr lang="en-US" sz="1200" dirty="0"/>
          </a:p>
        </p:txBody>
      </p:sp>
      <p:sp>
        <p:nvSpPr>
          <p:cNvPr id="24" name="Text 22"/>
          <p:cNvSpPr txBox="1"/>
          <p:nvPr/>
        </p:nvSpPr>
        <p:spPr>
          <a:xfrm>
            <a:off x="548640" y="3611880"/>
            <a:ext cx="9144000" cy="320040"/>
          </a:xfrm>
          <a:prstGeom prst="rect">
            <a:avLst/>
          </a:prstGeom>
          <a:noFill/>
          <a:ln/>
        </p:spPr>
        <p:txBody>
          <a:bodyPr wrap="square" lIns="0" tIns="0" rIns="0" bIns="0" rtlCol="0" anchor="ctr"/>
          <a:lstStyle/>
          <a:p>
            <a:pPr indent="0" marL="0">
              <a:buNone/>
            </a:pPr>
            <a:r>
              <a:rPr lang="en-US" sz="1600" b="1" dirty="0">
                <a:solidFill>
                  <a:srgbClr val="1F2A33"/>
                </a:solidFill>
                <a:latin typeface="Cambria" pitchFamily="34" charset="0"/>
                <a:ea typeface="Cambria" pitchFamily="34" charset="-122"/>
                <a:cs typeface="Cambria" pitchFamily="34" charset="-120"/>
              </a:rPr>
              <a:t>Part-number matching ladder: identifiers first, inference only with review</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94415" cy="914400"/>
        </p:xfrm>
        <a:graphic>
          <a:graphicData uri="http://schemas.openxmlformats.org/drawingml/2006/table">
            <a:tbl>
              <a:tblPr/>
              <a:tblGrid>
                <a:gridCol w="731520"/>
                <a:gridCol w="4572000"/>
                <a:gridCol w="1463040"/>
                <a:gridCol w="432511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Level</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Confidence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365760">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L1</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Beacon part number printed on the vendor's document</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b="1" dirty="0">
                          <a:solidFill>
                            <a:srgbClr val="2E7D4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Auto-match</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365760">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L2</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Approved (vendor, vendor PN) entry in the crosswalk</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b="1" dirty="0">
                          <a:solidFill>
                            <a:srgbClr val="2E7D4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Auto-match; the crosswalk grows every time Lisa approves</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L3</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Normalized description equals the PO description</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b="1" dirty="0">
                          <a:solidFill>
                            <a:srgbClr val="2E7D4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Auto-match</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365760">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L4</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Only qty + price (+ line number) agree on this PO</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b="1" dirty="0">
                          <a:solidFill>
                            <a:srgbClr val="C98A06"/>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Matched for the checks, but sent to Review Required</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L5</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Nothing agrees</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b="1" dirty="0">
                          <a:solidFill>
                            <a:srgbClr val="B83227"/>
                          </a:solidFill>
                          <a:latin typeface="Calibri" pitchFamily="34" charset="0"/>
                          <a:ea typeface="Calibri" pitchFamily="34" charset="-122"/>
                          <a:cs typeface="Calibri" pitchFamily="34" charset="-120"/>
                        </a:rPr>
                        <a:t>UNMATCHED</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Shown as unmatched; never guessed</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1 · RUN ON THIS WEEK'S 35 PDFS (AS OF 05/17/2026)</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23 things to do, worst first, and 22 lines Lisa can skip</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229600" cy="914400"/>
        </p:xfrm>
        <a:graphic>
          <a:graphicData uri="http://schemas.openxmlformats.org/drawingml/2006/table">
            <a:tbl>
              <a:tblPr/>
              <a:tblGrid>
                <a:gridCol w="914400"/>
                <a:gridCol w="1234440"/>
                <a:gridCol w="1234440"/>
                <a:gridCol w="2834640"/>
                <a:gridCol w="2011680"/>
              </a:tblGrid>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Vendor</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 / line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happened</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429768">
                <a:tc>
                  <a:txBody>
                    <a:bodyPr/>
                    <a:lstStyle/>
                    <a:p>
                      <a:pPr indent="0" marL="0">
                        <a:buNone/>
                      </a:pPr>
                      <a:r>
                        <a:rPr lang="en-US" sz="1100" b="1" dirty="0">
                          <a:solidFill>
                            <a:srgbClr val="B83227"/>
                          </a:solidFill>
                          <a:latin typeface="Calibri" pitchFamily="34" charset="0"/>
                          <a:ea typeface="Calibri" pitchFamily="34" charset="-122"/>
                          <a:cs typeface="Calibri" pitchFamily="34" charset="-120"/>
                        </a:rPr>
                        <a:t>Today</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Apex</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4500050001 / 2</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Line missing from acknowledgment (BAR-A286-250 × 1,500)</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Ask if it ships, or receiving will be short</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29768">
                <a:tc>
                  <a:txBody>
                    <a:bodyPr/>
                    <a:lstStyle/>
                    <a:p>
                      <a:pPr indent="0" marL="0">
                        <a:buNone/>
                      </a:pPr>
                      <a:r>
                        <a:rPr lang="en-US" sz="1100" b="1" dirty="0">
                          <a:solidFill>
                            <a:srgbClr val="B83227"/>
                          </a:solidFill>
                          <a:latin typeface="Calibri" pitchFamily="34" charset="0"/>
                          <a:ea typeface="Calibri" pitchFamily="34" charset="-122"/>
                          <a:cs typeface="Calibri" pitchFamily="34" charset="-120"/>
                        </a:rPr>
                        <a:t>Today</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Apex</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4500060619</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Confirmation for a PO that is not open (probably meant for …0001)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Tell vendor not to ship against it</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This week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Apex</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4500050007 / 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Confirmed 1,425 of 1,500 (-75 pcs)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Balance later, or cancelled?</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29768">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This week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Apex</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4500050002 / 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Price $3.9200 → $4.0102 (+2.3%)</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Push back before the invoice reaches AP</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This week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Continental</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4500050022 / 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Promise 21 days after we need it</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Expedite, or warn planning</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29768">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This week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Liberty</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4500050019 / 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Acknowledged with no qty or date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Ask for a firm qty and date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This week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Ostmark (DE)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4500050027 / 1-2</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Promise is a week range "KW 20-22", 16 days late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Pin down a real date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29768">
                <a:tc>
                  <a:txBody>
                    <a:bodyPr/>
                    <a:lstStyle/>
                    <a:p>
                      <a:pPr indent="0" marL="0">
                        <a:buNone/>
                      </a:pPr>
                      <a:r>
                        <a:rPr lang="en-US" sz="1100" b="1" dirty="0">
                          <a:solidFill>
                            <a:srgbClr val="2E6DB4"/>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Heritage, Ostmark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3 lines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New vendor PNs APH-441-OS, OST-CAR-A-100</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One-click approve (Review Required)</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2E6DB4"/>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QuickShip</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4500050032</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Sent an invoice instead of an acknowledgment</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Tell receiving; hold the invoice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bl>
          </a:graphicData>
        </a:graphic>
      </p:graphicFrame>
      <p:sp>
        <p:nvSpPr>
          <p:cNvPr id="6" name="Shape 3"/>
          <p:cNvSpPr/>
          <p:nvPr/>
        </p:nvSpPr>
        <p:spPr>
          <a:xfrm>
            <a:off x="9052560" y="1508760"/>
            <a:ext cx="2590495" cy="4617720"/>
          </a:xfrm>
          <a:prstGeom prst="roundRect">
            <a:avLst>
              <a:gd name="adj" fmla="val 2824"/>
            </a:avLst>
          </a:prstGeom>
          <a:solidFill>
            <a:srgbClr val="EEF2F5"/>
          </a:solidFill>
          <a:ln w="12700">
            <a:solidFill>
              <a:srgbClr val="EEF2F5"/>
            </a:solidFill>
            <a:prstDash val="solid"/>
          </a:ln>
        </p:spPr>
      </p:sp>
      <p:sp>
        <p:nvSpPr>
          <p:cNvPr id="7" name="Text 4"/>
          <p:cNvSpPr txBox="1"/>
          <p:nvPr/>
        </p:nvSpPr>
        <p:spPr>
          <a:xfrm>
            <a:off x="9281160" y="1645920"/>
            <a:ext cx="2133295" cy="594360"/>
          </a:xfrm>
          <a:prstGeom prst="rect">
            <a:avLst/>
          </a:prstGeom>
          <a:noFill/>
          <a:ln/>
        </p:spPr>
        <p:txBody>
          <a:bodyPr wrap="square" lIns="0" tIns="0" rIns="0" bIns="0" rtlCol="0" anchor="ctr"/>
          <a:lstStyle/>
          <a:p>
            <a:pPr indent="0" marL="0">
              <a:buNone/>
            </a:pPr>
            <a:r>
              <a:rPr lang="en-US" sz="2800" b="1" dirty="0">
                <a:solidFill>
                  <a:srgbClr val="1F2A33"/>
                </a:solidFill>
                <a:latin typeface="Cambria" pitchFamily="34" charset="0"/>
                <a:ea typeface="Cambria" pitchFamily="34" charset="-122"/>
                <a:cs typeface="Cambria" pitchFamily="34" charset="-120"/>
              </a:rPr>
              <a:t>2 · 8 · 13</a:t>
            </a:r>
            <a:endParaRPr lang="en-US" sz="2800" dirty="0"/>
          </a:p>
        </p:txBody>
      </p:sp>
      <p:sp>
        <p:nvSpPr>
          <p:cNvPr id="8" name="Text 5"/>
          <p:cNvSpPr txBox="1"/>
          <p:nvPr/>
        </p:nvSpPr>
        <p:spPr>
          <a:xfrm>
            <a:off x="9281160" y="2249424"/>
            <a:ext cx="1950415"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act today · this week · check</a:t>
            </a:r>
            <a:endParaRPr lang="en-US" sz="1200" dirty="0"/>
          </a:p>
        </p:txBody>
      </p:sp>
      <p:sp>
        <p:nvSpPr>
          <p:cNvPr id="9" name="Text 6"/>
          <p:cNvSpPr txBox="1"/>
          <p:nvPr/>
        </p:nvSpPr>
        <p:spPr>
          <a:xfrm>
            <a:off x="9281160" y="2697480"/>
            <a:ext cx="2133295" cy="594360"/>
          </a:xfrm>
          <a:prstGeom prst="rect">
            <a:avLst/>
          </a:prstGeom>
          <a:noFill/>
          <a:ln/>
        </p:spPr>
        <p:txBody>
          <a:bodyPr wrap="square" lIns="0" tIns="0" rIns="0" bIns="0" rtlCol="0" anchor="ctr"/>
          <a:lstStyle/>
          <a:p>
            <a:pPr indent="0" marL="0">
              <a:buNone/>
            </a:pPr>
            <a:r>
              <a:rPr lang="en-US" sz="2800" b="1" dirty="0">
                <a:solidFill>
                  <a:srgbClr val="2E7D4F"/>
                </a:solidFill>
                <a:latin typeface="Cambria" pitchFamily="34" charset="0"/>
                <a:ea typeface="Cambria" pitchFamily="34" charset="-122"/>
                <a:cs typeface="Cambria" pitchFamily="34" charset="-120"/>
              </a:rPr>
              <a:t>22</a:t>
            </a:r>
            <a:endParaRPr lang="en-US" sz="2800" dirty="0"/>
          </a:p>
        </p:txBody>
      </p:sp>
      <p:sp>
        <p:nvSpPr>
          <p:cNvPr id="10" name="Text 7"/>
          <p:cNvSpPr txBox="1"/>
          <p:nvPr/>
        </p:nvSpPr>
        <p:spPr>
          <a:xfrm>
            <a:off x="9281160" y="3300984"/>
            <a:ext cx="1950415"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lines fully clean: never shown on the Action List</a:t>
            </a:r>
            <a:endParaRPr lang="en-US" sz="1200" dirty="0"/>
          </a:p>
        </p:txBody>
      </p:sp>
      <p:sp>
        <p:nvSpPr>
          <p:cNvPr id="11" name="Text 8"/>
          <p:cNvSpPr txBox="1"/>
          <p:nvPr/>
        </p:nvSpPr>
        <p:spPr>
          <a:xfrm>
            <a:off x="9281160" y="3749040"/>
            <a:ext cx="2133295" cy="594360"/>
          </a:xfrm>
          <a:prstGeom prst="rect">
            <a:avLst/>
          </a:prstGeom>
          <a:noFill/>
          <a:ln/>
        </p:spPr>
        <p:txBody>
          <a:bodyPr wrap="square" lIns="0" tIns="0" rIns="0" bIns="0" rtlCol="0" anchor="ctr"/>
          <a:lstStyle/>
          <a:p>
            <a:pPr indent="0" marL="0">
              <a:buNone/>
            </a:pPr>
            <a:r>
              <a:rPr lang="en-US" sz="2800" b="1" dirty="0">
                <a:solidFill>
                  <a:srgbClr val="C98A06"/>
                </a:solidFill>
                <a:latin typeface="Cambria" pitchFamily="34" charset="0"/>
                <a:ea typeface="Cambria" pitchFamily="34" charset="-122"/>
                <a:cs typeface="Cambria" pitchFamily="34" charset="-120"/>
              </a:rPr>
              <a:t>11</a:t>
            </a:r>
            <a:endParaRPr lang="en-US" sz="2800" dirty="0"/>
          </a:p>
        </p:txBody>
      </p:sp>
      <p:sp>
        <p:nvSpPr>
          <p:cNvPr id="12" name="Text 9"/>
          <p:cNvSpPr txBox="1"/>
          <p:nvPr/>
        </p:nvSpPr>
        <p:spPr>
          <a:xfrm>
            <a:off x="9281160" y="4352544"/>
            <a:ext cx="1950415"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items on Review Required (incl. OCR'd scans)</a:t>
            </a:r>
            <a:endParaRPr lang="en-US" sz="1200" dirty="0"/>
          </a:p>
        </p:txBody>
      </p:sp>
      <p:sp>
        <p:nvSpPr>
          <p:cNvPr id="13" name="Text 10"/>
          <p:cNvSpPr txBox="1"/>
          <p:nvPr/>
        </p:nvSpPr>
        <p:spPr>
          <a:xfrm>
            <a:off x="9281160" y="5029200"/>
            <a:ext cx="2133295" cy="1051560"/>
          </a:xfrm>
          <a:prstGeom prst="rect">
            <a:avLst/>
          </a:prstGeom>
          <a:noFill/>
          <a:ln/>
        </p:spPr>
        <p:txBody>
          <a:bodyPr wrap="square" lIns="0" tIns="0" rIns="0" bIns="0" rtlCol="0" anchor="t"/>
          <a:lstStyle/>
          <a:p>
            <a:pPr indent="0" marL="0">
              <a:buNone/>
            </a:pPr>
            <a:r>
              <a:rPr lang="en-US" sz="1100" dirty="0">
                <a:solidFill>
                  <a:srgbClr val="4E5D6A"/>
                </a:solidFill>
                <a:latin typeface="Calibri" pitchFamily="34" charset="0"/>
                <a:ea typeface="Calibri" pitchFamily="34" charset="-122"/>
                <a:cs typeface="Calibri" pitchFamily="34" charset="-120"/>
              </a:rPr>
              <a:t>Built-in checks, every run:</a:t>
            </a:r>
            <a:endParaRPr lang="en-US" sz="1100" dirty="0"/>
          </a:p>
          <a:p>
            <a:pPr indent="0" marL="0">
              <a:buNone/>
            </a:pPr>
            <a:r>
              <a:rPr lang="en-US" sz="1100" dirty="0">
                <a:solidFill>
                  <a:srgbClr val="4E5D6A"/>
                </a:solidFill>
                <a:latin typeface="Calibri" pitchFamily="34" charset="0"/>
                <a:ea typeface="Calibri" pitchFamily="34" charset="-122"/>
                <a:cs typeface="Calibri" pitchFamily="34" charset="-120"/>
              </a:rPr>
              <a:t>✓ every PDF has a status</a:t>
            </a:r>
            <a:endParaRPr lang="en-US" sz="1100" dirty="0"/>
          </a:p>
          <a:p>
            <a:pPr indent="0" marL="0">
              <a:buNone/>
            </a:pPr>
            <a:r>
              <a:rPr lang="en-US" sz="1100" dirty="0">
                <a:solidFill>
                  <a:srgbClr val="4E5D6A"/>
                </a:solidFill>
                <a:latin typeface="Calibri" pitchFamily="34" charset="0"/>
                <a:ea typeface="Calibri" pitchFamily="34" charset="-122"/>
                <a:cs typeface="Calibri" pitchFamily="34" charset="-120"/>
              </a:rPr>
              <a:t>✓ every open PO line accounted for</a:t>
            </a:r>
            <a:endParaRPr lang="en-US" sz="1100" dirty="0"/>
          </a:p>
          <a:p>
            <a:pPr indent="0" marL="0">
              <a:buNone/>
            </a:pPr>
            <a:r>
              <a:rPr lang="en-US" sz="1100" dirty="0">
                <a:solidFill>
                  <a:srgbClr val="4E5D6A"/>
                </a:solidFill>
                <a:latin typeface="Calibri" pitchFamily="34" charset="0"/>
                <a:ea typeface="Calibri" pitchFamily="34" charset="-122"/>
                <a:cs typeface="Calibri" pitchFamily="34" charset="-120"/>
              </a:rPr>
              <a:t>✓ revision superseded original (QuickShip)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1 · WHAT LISA SEES</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Today's list, plus the things the tool is not sure about</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7</a:t>
            </a:r>
            <a:endParaRPr lang="en-US" sz="900" dirty="0"/>
          </a:p>
        </p:txBody>
      </p:sp>
      <p:pic>
        <p:nvPicPr>
          <p:cNvPr id="5" name="Image 0" descr="/home/user/BeaconFasteners/Beacon Superday-Submission/presentation/assets/today_c.png">    </p:cNvPr>
          <p:cNvPicPr>
            <a:picLocks noChangeAspect="1"/>
          </p:cNvPicPr>
          <p:nvPr/>
        </p:nvPicPr>
        <p:blipFill>
          <a:blip r:embed="rId1"/>
          <a:stretch>
            <a:fillRect/>
          </a:stretch>
        </p:blipFill>
        <p:spPr>
          <a:xfrm>
            <a:off x="548640" y="1463040"/>
            <a:ext cx="6310466" cy="4800600"/>
          </a:xfrm>
          <a:prstGeom prst="rect">
            <a:avLst/>
          </a:prstGeom>
          <a:effectLst>
            <a:outerShdw sx="100000" sy="100000" kx="0" ky="0" algn="bl" rotWithShape="0" blurRad="76200" dist="25400" dir="5400000">
              <a:srgbClr val="000000">
                <a:alpha val="25000"/>
              </a:srgbClr>
            </a:outerShdw>
          </a:effectLst>
        </p:spPr>
      </p:pic>
      <p:pic>
        <p:nvPicPr>
          <p:cNvPr id="6" name="Image 1" descr="/home/user/BeaconFasteners/Beacon Superday-Submission/presentation/assets/review_c.png">    </p:cNvPr>
          <p:cNvPicPr>
            <a:picLocks noChangeAspect="1"/>
          </p:cNvPicPr>
          <p:nvPr/>
        </p:nvPicPr>
        <p:blipFill>
          <a:blip r:embed="rId2"/>
          <a:stretch>
            <a:fillRect/>
          </a:stretch>
        </p:blipFill>
        <p:spPr>
          <a:xfrm>
            <a:off x="7224866" y="1463040"/>
            <a:ext cx="4418189" cy="2005804"/>
          </a:xfrm>
          <a:prstGeom prst="rect">
            <a:avLst/>
          </a:prstGeom>
          <a:effectLst>
            <a:outerShdw sx="100000" sy="100000" kx="0" ky="0" algn="bl" rotWithShape="0" blurRad="76200" dist="25400" dir="5400000">
              <a:srgbClr val="000000">
                <a:alpha val="25000"/>
              </a:srgbClr>
            </a:outerShdw>
          </a:effectLst>
        </p:spPr>
      </p:pic>
      <p:sp>
        <p:nvSpPr>
          <p:cNvPr id="7" name="Text 3"/>
          <p:cNvSpPr txBox="1"/>
          <p:nvPr/>
        </p:nvSpPr>
        <p:spPr>
          <a:xfrm>
            <a:off x="7224866" y="3560284"/>
            <a:ext cx="4418189" cy="91440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Needs your OK: the vendor renamed a part. The tool shows why it thinks so and what our history calls it. One click approves it for good.</a:t>
            </a:r>
            <a:endParaRPr lang="en-US" sz="1200" dirty="0"/>
          </a:p>
        </p:txBody>
      </p:sp>
      <p:pic>
        <p:nvPicPr>
          <p:cNvPr id="8" name="Image 2" descr="/home/user/BeaconFasteners/Beacon Superday-Submission/presentation/assets/review_ocr_c.png">    </p:cNvPr>
          <p:cNvPicPr>
            <a:picLocks noChangeAspect="1"/>
          </p:cNvPicPr>
          <p:nvPr/>
        </p:nvPicPr>
        <p:blipFill>
          <a:blip r:embed="rId3"/>
          <a:stretch>
            <a:fillRect/>
          </a:stretch>
        </p:blipFill>
        <p:spPr>
          <a:xfrm>
            <a:off x="7224866" y="4657564"/>
            <a:ext cx="4418189" cy="1436589"/>
          </a:xfrm>
          <a:prstGeom prst="rect">
            <a:avLst/>
          </a:prstGeom>
          <a:effectLst>
            <a:outerShdw sx="100000" sy="100000" kx="0" ky="0" algn="bl" rotWithShape="0" blurRad="76200" dist="25400" dir="5400000">
              <a:srgbClr val="000000">
                <a:alpha val="25000"/>
              </a:srgbClr>
            </a:outerShdw>
          </a:effectLst>
        </p:spPr>
      </p:pic>
      <p:sp>
        <p:nvSpPr>
          <p:cNvPr id="9" name="Text 4"/>
          <p:cNvSpPr txBox="1"/>
          <p:nvPr/>
        </p:nvSpPr>
        <p:spPr>
          <a:xfrm>
            <a:off x="7224866" y="6185593"/>
            <a:ext cx="4418189" cy="54864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Scans are shown next to what OCR read, so checking takes seconds, not retyping.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1 · THE PAST AND FUTURE PROBLEM</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A desk that remembers: tomorrow's list shows only what's new</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223760" cy="914400"/>
        </p:xfrm>
        <a:graphic>
          <a:graphicData uri="http://schemas.openxmlformats.org/drawingml/2006/table">
            <a:tbl>
              <a:tblPr/>
              <a:tblGrid>
                <a:gridCol w="3108960"/>
                <a:gridCol w="41148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tool does</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56692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Same PDF emailed twice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Recognised by its content hash and ignored</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56692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Lisa marks an item Done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Stays done tomorrow, with her note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Vendor sends a corrected acknowledgment</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The open item closes by itself, with the reason</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56692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 new problem appears on a line she had closed</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Reopens it and says why</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Vendor keeps moving the promise date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The FIRST promise is never overwritten, so the history stays honest</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56692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Lisa approves a vendor part number once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Matches automatically from then on and joins the part-number crosswalk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bl>
          </a:graphicData>
        </a:graphic>
      </p:graphicFrame>
      <p:sp>
        <p:nvSpPr>
          <p:cNvPr id="6" name="Shape 3"/>
          <p:cNvSpPr/>
          <p:nvPr/>
        </p:nvSpPr>
        <p:spPr>
          <a:xfrm>
            <a:off x="8138160" y="1554480"/>
            <a:ext cx="3504895" cy="4526280"/>
          </a:xfrm>
          <a:prstGeom prst="roundRect">
            <a:avLst>
              <a:gd name="adj" fmla="val 2087"/>
            </a:avLst>
          </a:prstGeom>
          <a:solidFill>
            <a:srgbClr val="EEF2F5"/>
          </a:solidFill>
          <a:ln w="12700">
            <a:solidFill>
              <a:srgbClr val="EEF2F5"/>
            </a:solidFill>
            <a:prstDash val="solid"/>
          </a:ln>
        </p:spPr>
      </p:sp>
      <p:sp>
        <p:nvSpPr>
          <p:cNvPr id="7" name="Text 4"/>
          <p:cNvSpPr txBox="1"/>
          <p:nvPr/>
        </p:nvSpPr>
        <p:spPr>
          <a:xfrm>
            <a:off x="8412480" y="1737360"/>
            <a:ext cx="2956255" cy="365760"/>
          </a:xfrm>
          <a:prstGeom prst="rect">
            <a:avLst/>
          </a:prstGeom>
          <a:noFill/>
          <a:ln/>
        </p:spPr>
        <p:txBody>
          <a:bodyPr wrap="square" lIns="0" tIns="0" rIns="0" bIns="0" rtlCol="0" anchor="ctr"/>
          <a:lstStyle/>
          <a:p>
            <a:pPr indent="0" marL="0">
              <a:buNone/>
            </a:pPr>
            <a:r>
              <a:rPr lang="en-US" sz="1700" b="1" dirty="0">
                <a:solidFill>
                  <a:srgbClr val="1F2A33"/>
                </a:solidFill>
                <a:latin typeface="Cambria" pitchFamily="34" charset="0"/>
                <a:ea typeface="Cambria" pitchFamily="34" charset="-122"/>
                <a:cs typeface="Cambria" pitchFamily="34" charset="-120"/>
              </a:rPr>
              <a:t>Why keep the first promise</a:t>
            </a:r>
            <a:endParaRPr lang="en-US" sz="1700" dirty="0"/>
          </a:p>
        </p:txBody>
      </p:sp>
      <p:sp>
        <p:nvSpPr>
          <p:cNvPr id="8" name="Text 5"/>
          <p:cNvSpPr txBox="1"/>
          <p:nvPr/>
        </p:nvSpPr>
        <p:spPr>
          <a:xfrm>
            <a:off x="8412480" y="2514600"/>
            <a:ext cx="2956255" cy="128016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If every revised date overwrites the last one, every PO ends up looking on time and vendor performance can't be measured. The same trap is in the ERP: 30 confirmations were superseded.</a:t>
            </a:r>
            <a:endParaRPr lang="en-US" sz="1300" dirty="0"/>
          </a:p>
        </p:txBody>
      </p:sp>
      <p:sp>
        <p:nvSpPr>
          <p:cNvPr id="9" name="Text 6"/>
          <p:cNvSpPr txBox="1"/>
          <p:nvPr/>
        </p:nvSpPr>
        <p:spPr>
          <a:xfrm>
            <a:off x="8412480" y="3840480"/>
            <a:ext cx="2956255" cy="320040"/>
          </a:xfrm>
          <a:prstGeom prst="rect">
            <a:avLst/>
          </a:prstGeom>
          <a:noFill/>
          <a:ln/>
        </p:spPr>
        <p:txBody>
          <a:bodyPr wrap="square" lIns="0" tIns="0" rIns="0" bIns="0" rtlCol="0" anchor="ctr"/>
          <a:lstStyle/>
          <a:p>
            <a:pPr indent="0" marL="0">
              <a:buNone/>
            </a:pPr>
            <a:r>
              <a:rPr lang="en-US" sz="1700" b="1" dirty="0">
                <a:solidFill>
                  <a:srgbClr val="1F2A33"/>
                </a:solidFill>
                <a:latin typeface="Cambria" pitchFamily="34" charset="0"/>
                <a:ea typeface="Cambria" pitchFamily="34" charset="-122"/>
                <a:cs typeface="Cambria" pitchFamily="34" charset="-120"/>
              </a:rPr>
              <a:t>Tested</a:t>
            </a:r>
            <a:endParaRPr lang="en-US" sz="1700" dirty="0"/>
          </a:p>
        </p:txBody>
      </p:sp>
      <p:sp>
        <p:nvSpPr>
          <p:cNvPr id="10" name="Text 7"/>
          <p:cNvSpPr txBox="1"/>
          <p:nvPr/>
        </p:nvSpPr>
        <p:spPr>
          <a:xfrm>
            <a:off x="8412480" y="4206240"/>
            <a:ext cx="2956255" cy="173736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58 automated tests. TestDayTwo runs day 1 on the real PDFs, applies Lisa's Excel edits, then feeds a revised vendor PDF on day 2 and checks each row above.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1 · PAST FEEDS FUTURE</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Fix it at the source: Beacon's own forms, pre-filled from the ERP</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9</a:t>
            </a:r>
            <a:endParaRPr lang="en-US" sz="900" dirty="0"/>
          </a:p>
        </p:txBody>
      </p:sp>
      <p:sp>
        <p:nvSpPr>
          <p:cNvPr id="5" name="Shape 3"/>
          <p:cNvSpPr/>
          <p:nvPr/>
        </p:nvSpPr>
        <p:spPr>
          <a:xfrm>
            <a:off x="548640" y="1463040"/>
            <a:ext cx="5120640" cy="2423160"/>
          </a:xfrm>
          <a:prstGeom prst="roundRect">
            <a:avLst>
              <a:gd name="adj" fmla="val 3019"/>
            </a:avLst>
          </a:prstGeom>
          <a:solidFill>
            <a:srgbClr val="EEF2F5"/>
          </a:solidFill>
          <a:ln w="12700">
            <a:solidFill>
              <a:srgbClr val="EEF2F5"/>
            </a:solidFill>
            <a:prstDash val="solid"/>
          </a:ln>
        </p:spPr>
      </p:sp>
      <p:sp>
        <p:nvSpPr>
          <p:cNvPr id="6" name="Text 4"/>
          <p:cNvSpPr txBox="1"/>
          <p:nvPr/>
        </p:nvSpPr>
        <p:spPr>
          <a:xfrm>
            <a:off x="777240" y="1572768"/>
            <a:ext cx="4663440" cy="347472"/>
          </a:xfrm>
          <a:prstGeom prst="rect">
            <a:avLst/>
          </a:prstGeom>
          <a:noFill/>
          <a:ln/>
        </p:spPr>
        <p:txBody>
          <a:bodyPr wrap="square" lIns="0" tIns="0" rIns="0" bIns="0" rtlCol="0" anchor="ctr"/>
          <a:lstStyle/>
          <a:p>
            <a:pPr indent="0" marL="0">
              <a:buNone/>
            </a:pPr>
            <a:r>
              <a:rPr lang="en-US" sz="1600" b="1" dirty="0">
                <a:solidFill>
                  <a:srgbClr val="1F2A33"/>
                </a:solidFill>
                <a:latin typeface="Cambria" pitchFamily="34" charset="0"/>
                <a:ea typeface="Cambria" pitchFamily="34" charset="-122"/>
                <a:cs typeface="Cambria" pitchFamily="34" charset="-120"/>
              </a:rPr>
              <a:t>PO acknowledgment form</a:t>
            </a:r>
            <a:endParaRPr lang="en-US" sz="1600" dirty="0"/>
          </a:p>
        </p:txBody>
      </p:sp>
      <p:sp>
        <p:nvSpPr>
          <p:cNvPr id="7" name="Text 5"/>
          <p:cNvSpPr txBox="1"/>
          <p:nvPr/>
        </p:nvSpPr>
        <p:spPr>
          <a:xfrm>
            <a:off x="777240" y="1901952"/>
            <a:ext cx="4663440" cy="274320"/>
          </a:xfrm>
          <a:prstGeom prst="rect">
            <a:avLst/>
          </a:prstGeom>
          <a:noFill/>
          <a:ln/>
        </p:spPr>
        <p:txBody>
          <a:bodyPr wrap="square" lIns="0" tIns="0" rIns="0" bIns="0" rtlCol="0" anchor="ctr"/>
          <a:lstStyle/>
          <a:p>
            <a:pPr indent="0" marL="0">
              <a:buNone/>
            </a:pPr>
            <a:r>
              <a:rPr lang="en-US" sz="1200" i="1" dirty="0">
                <a:solidFill>
                  <a:srgbClr val="D9622B"/>
                </a:solidFill>
                <a:latin typeface="Calibri" pitchFamily="34" charset="0"/>
                <a:ea typeface="Calibri" pitchFamily="34" charset="-122"/>
                <a:cs typeface="Calibri" pitchFamily="34" charset="-120"/>
              </a:rPr>
              <a:t>One Excel file per PO, sent with it</a:t>
            </a:r>
            <a:endParaRPr lang="en-US" sz="1200" dirty="0"/>
          </a:p>
        </p:txBody>
      </p:sp>
      <p:sp>
        <p:nvSpPr>
          <p:cNvPr id="8" name="Text 6"/>
          <p:cNvSpPr txBox="1"/>
          <p:nvPr/>
        </p:nvSpPr>
        <p:spPr>
          <a:xfrm>
            <a:off x="777240" y="2212848"/>
            <a:ext cx="4663440" cy="1600200"/>
          </a:xfrm>
          <a:prstGeom prst="rect">
            <a:avLst/>
          </a:prstGeom>
          <a:noFill/>
          <a:ln/>
        </p:spPr>
        <p:txBody>
          <a:bodyPr wrap="square" lIns="635" tIns="635" rIns="635" bIns="635" rtlCol="0" anchor="t"/>
          <a:lstStyle/>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Our lines locked; rows can't be deleted, so nothing drops silently</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Every line: Accept / Accept with changes / Cannot supply</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One real delivery date; Excel refuses "KW 20-22"</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Reason code for any qty or price change</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Returned file drops into the same check: HIGH match, no OCR</a:t>
            </a:r>
            <a:endParaRPr lang="en-US" sz="1200" dirty="0"/>
          </a:p>
        </p:txBody>
      </p:sp>
      <p:sp>
        <p:nvSpPr>
          <p:cNvPr id="9" name="Shape 7"/>
          <p:cNvSpPr/>
          <p:nvPr/>
        </p:nvSpPr>
        <p:spPr>
          <a:xfrm>
            <a:off x="548640" y="4023360"/>
            <a:ext cx="5120640" cy="2103120"/>
          </a:xfrm>
          <a:prstGeom prst="roundRect">
            <a:avLst>
              <a:gd name="adj" fmla="val 3478"/>
            </a:avLst>
          </a:prstGeom>
          <a:solidFill>
            <a:srgbClr val="EEF2F5"/>
          </a:solidFill>
          <a:ln w="12700">
            <a:solidFill>
              <a:srgbClr val="EEF2F5"/>
            </a:solidFill>
            <a:prstDash val="solid"/>
          </a:ln>
        </p:spPr>
      </p:sp>
      <p:sp>
        <p:nvSpPr>
          <p:cNvPr id="10" name="Text 8"/>
          <p:cNvSpPr txBox="1"/>
          <p:nvPr/>
        </p:nvSpPr>
        <p:spPr>
          <a:xfrm>
            <a:off x="777240" y="4133088"/>
            <a:ext cx="4663440" cy="347472"/>
          </a:xfrm>
          <a:prstGeom prst="rect">
            <a:avLst/>
          </a:prstGeom>
          <a:noFill/>
          <a:ln/>
        </p:spPr>
        <p:txBody>
          <a:bodyPr wrap="square" lIns="0" tIns="0" rIns="0" bIns="0" rtlCol="0" anchor="ctr"/>
          <a:lstStyle/>
          <a:p>
            <a:pPr indent="0" marL="0">
              <a:buNone/>
            </a:pPr>
            <a:r>
              <a:rPr lang="en-US" sz="1600" b="1" dirty="0">
                <a:solidFill>
                  <a:srgbClr val="1F2A33"/>
                </a:solidFill>
                <a:latin typeface="Cambria" pitchFamily="34" charset="0"/>
                <a:ea typeface="Cambria" pitchFamily="34" charset="-122"/>
                <a:cs typeface="Cambria" pitchFamily="34" charset="-120"/>
              </a:rPr>
              <a:t>Supplier information pack</a:t>
            </a:r>
            <a:endParaRPr lang="en-US" sz="1600" dirty="0"/>
          </a:p>
        </p:txBody>
      </p:sp>
      <p:sp>
        <p:nvSpPr>
          <p:cNvPr id="11" name="Text 9"/>
          <p:cNvSpPr txBox="1"/>
          <p:nvPr/>
        </p:nvSpPr>
        <p:spPr>
          <a:xfrm>
            <a:off x="777240" y="4462272"/>
            <a:ext cx="4663440" cy="274320"/>
          </a:xfrm>
          <a:prstGeom prst="rect">
            <a:avLst/>
          </a:prstGeom>
          <a:noFill/>
          <a:ln/>
        </p:spPr>
        <p:txBody>
          <a:bodyPr wrap="square" lIns="0" tIns="0" rIns="0" bIns="0" rtlCol="0" anchor="ctr"/>
          <a:lstStyle/>
          <a:p>
            <a:pPr indent="0" marL="0">
              <a:buNone/>
            </a:pPr>
            <a:r>
              <a:rPr lang="en-US" sz="1200" i="1" dirty="0">
                <a:solidFill>
                  <a:srgbClr val="D9622B"/>
                </a:solidFill>
                <a:latin typeface="Calibri" pitchFamily="34" charset="0"/>
                <a:ea typeface="Calibri" pitchFamily="34" charset="-122"/>
                <a:cs typeface="Calibri" pitchFamily="34" charset="-120"/>
              </a:rPr>
              <a:t>Once per vendor, pre-filled from 8 months of ERP</a:t>
            </a:r>
            <a:endParaRPr lang="en-US" sz="1200" dirty="0"/>
          </a:p>
        </p:txBody>
      </p:sp>
      <p:sp>
        <p:nvSpPr>
          <p:cNvPr id="12" name="Text 10"/>
          <p:cNvSpPr txBox="1"/>
          <p:nvPr/>
        </p:nvSpPr>
        <p:spPr>
          <a:xfrm>
            <a:off x="777240" y="4773168"/>
            <a:ext cx="4663440" cy="1280160"/>
          </a:xfrm>
          <a:prstGeom prst="rect">
            <a:avLst/>
          </a:prstGeom>
          <a:noFill/>
          <a:ln/>
        </p:spPr>
        <p:txBody>
          <a:bodyPr wrap="square" lIns="635" tIns="635" rIns="635" bIns="635" rtlCol="0" anchor="t"/>
          <a:lstStyle/>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Every part we buy from them, with planned / quoted / actual lead time</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They confirm their part numbers → Lisa's approval queue</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Standard lead times → gap report for planning</a:t>
            </a:r>
            <a:endParaRPr lang="en-US" sz="1200" dirty="0"/>
          </a:p>
          <a:p>
            <a:pPr marL="342900" indent="-342900">
              <a:spcAft>
                <a:spcPts val="200"/>
              </a:spcAft>
              <a:buSzPct val="100000"/>
              <a:buChar char="•"/>
            </a:pPr>
            <a:r>
              <a:rPr lang="en-US" sz="1200" dirty="0">
                <a:solidFill>
                  <a:srgbClr val="1F2A33"/>
                </a:solidFill>
                <a:latin typeface="Calibri" pitchFamily="34" charset="0"/>
                <a:ea typeface="Calibri" pitchFamily="34" charset="-122"/>
                <a:cs typeface="Calibri" pitchFamily="34" charset="-120"/>
              </a:rPr>
              <a:t>Contacts, turnaround, AS9100 / Nadcap expiry</a:t>
            </a:r>
            <a:endParaRPr lang="en-US" sz="1200" dirty="0"/>
          </a:p>
        </p:txBody>
      </p:sp>
      <p:sp>
        <p:nvSpPr>
          <p:cNvPr id="13" name="Text 11"/>
          <p:cNvSpPr txBox="1"/>
          <p:nvPr/>
        </p:nvSpPr>
        <p:spPr>
          <a:xfrm>
            <a:off x="5989320" y="1463040"/>
            <a:ext cx="5653735" cy="457200"/>
          </a:xfrm>
          <a:prstGeom prst="rect">
            <a:avLst/>
          </a:prstGeom>
          <a:noFill/>
          <a:ln/>
        </p:spPr>
        <p:txBody>
          <a:bodyPr wrap="square" lIns="0" tIns="0" rIns="0" bIns="0" rtlCol="0" anchor="t"/>
          <a:lstStyle/>
          <a:p>
            <a:pPr indent="0" marL="0">
              <a:buNone/>
            </a:pPr>
            <a:r>
              <a:rPr lang="en-US" sz="1200" b="1" dirty="0">
                <a:solidFill>
                  <a:srgbClr val="1F2A33"/>
                </a:solidFill>
                <a:latin typeface="Calibri" pitchFamily="34" charset="0"/>
                <a:ea typeface="Calibri" pitchFamily="34" charset="-122"/>
                <a:cs typeface="Calibri" pitchFamily="34" charset="-120"/>
              </a:rPr>
              <a:t>Ostmark answers on the form: line 2 is now "Vendor declined" (act today, with the reason), not a guess</a:t>
            </a:r>
            <a:endParaRPr lang="en-US" sz="1200" dirty="0"/>
          </a:p>
        </p:txBody>
      </p:sp>
      <p:pic>
        <p:nvPicPr>
          <p:cNvPr id="14" name="Image 0" descr="/home/user/BeaconFasteners/Beacon Superday-Submission/presentation/assets/today_after_form_c.png">    </p:cNvPr>
          <p:cNvPicPr>
            <a:picLocks noChangeAspect="1"/>
          </p:cNvPicPr>
          <p:nvPr/>
        </p:nvPicPr>
        <p:blipFill>
          <a:blip r:embed="rId1"/>
          <a:stretch>
            <a:fillRect/>
          </a:stretch>
        </p:blipFill>
        <p:spPr>
          <a:xfrm>
            <a:off x="5989320" y="1920240"/>
            <a:ext cx="5653735" cy="1638764"/>
          </a:xfrm>
          <a:prstGeom prst="rect">
            <a:avLst/>
          </a:prstGeom>
          <a:effectLst>
            <a:outerShdw sx="100000" sy="100000" kx="0" ky="0" algn="bl" rotWithShape="0" blurRad="76200" dist="25400" dir="5400000">
              <a:srgbClr val="000000">
                <a:alpha val="25000"/>
              </a:srgbClr>
            </a:outerShdw>
          </a:effectLst>
        </p:spPr>
      </p:pic>
      <p:sp>
        <p:nvSpPr>
          <p:cNvPr id="15" name="Text 12"/>
          <p:cNvSpPr txBox="1"/>
          <p:nvPr/>
        </p:nvSpPr>
        <p:spPr>
          <a:xfrm>
            <a:off x="5989320" y="3833324"/>
            <a:ext cx="5653735" cy="274320"/>
          </a:xfrm>
          <a:prstGeom prst="rect">
            <a:avLst/>
          </a:prstGeom>
          <a:noFill/>
          <a:ln/>
        </p:spPr>
        <p:txBody>
          <a:bodyPr wrap="square" lIns="0" tIns="0" rIns="0" bIns="0" rtlCol="0" anchor="ctr"/>
          <a:lstStyle/>
          <a:p>
            <a:pPr indent="0" marL="0">
              <a:buNone/>
            </a:pPr>
            <a:r>
              <a:rPr lang="en-US" sz="1200" b="1" dirty="0">
                <a:solidFill>
                  <a:srgbClr val="1F2A33"/>
                </a:solidFill>
                <a:latin typeface="Calibri" pitchFamily="34" charset="0"/>
                <a:ea typeface="Calibri" pitchFamily="34" charset="-122"/>
                <a:cs typeface="Calibri" pitchFamily="34" charset="-120"/>
              </a:rPr>
              <a:t>Continental returns its pack: MRP plans 19 days, their standard is 28</a:t>
            </a:r>
            <a:endParaRPr lang="en-US" sz="1200" dirty="0"/>
          </a:p>
        </p:txBody>
      </p:sp>
      <p:pic>
        <p:nvPicPr>
          <p:cNvPr id="16" name="Image 1" descr="/home/user/BeaconFasteners/Beacon Superday-Submission/presentation/assets/pack_gaps_c.png">    </p:cNvPr>
          <p:cNvPicPr>
            <a:picLocks noChangeAspect="1"/>
          </p:cNvPicPr>
          <p:nvPr/>
        </p:nvPicPr>
        <p:blipFill>
          <a:blip r:embed="rId2"/>
          <a:stretch>
            <a:fillRect/>
          </a:stretch>
        </p:blipFill>
        <p:spPr>
          <a:xfrm>
            <a:off x="5989320" y="4153364"/>
            <a:ext cx="5653735" cy="1761671"/>
          </a:xfrm>
          <a:prstGeom prst="rect">
            <a:avLst/>
          </a:prstGeom>
          <a:effectLst>
            <a:outerShdw sx="100000" sy="100000" kx="0" ky="0" algn="bl" rotWithShape="0" blurRad="76200" dist="25400" dir="5400000">
              <a:srgbClr val="000000">
                <a:alpha val="25000"/>
              </a:srgbClr>
            </a:outerShdw>
          </a:effectLst>
        </p:spPr>
      </p:pic>
      <p:sp>
        <p:nvSpPr>
          <p:cNvPr id="17" name="Text 13"/>
          <p:cNvSpPr txBox="1"/>
          <p:nvPr/>
        </p:nvSpPr>
        <p:spPr>
          <a:xfrm>
            <a:off x="5989320" y="5989320"/>
            <a:ext cx="5653735" cy="365760"/>
          </a:xfrm>
          <a:prstGeom prst="rect">
            <a:avLst/>
          </a:prstGeom>
          <a:noFill/>
          <a:ln/>
        </p:spPr>
        <p:txBody>
          <a:bodyPr wrap="square" lIns="0" tIns="0" rIns="0" bIns="0" rtlCol="0" anchor="ctr"/>
          <a:lstStyle/>
          <a:p>
            <a:pPr indent="0" marL="0">
              <a:buNone/>
            </a:pPr>
            <a:r>
              <a:rPr lang="en-US" sz="1100" i="1" dirty="0">
                <a:solidFill>
                  <a:srgbClr val="7D8B97"/>
                </a:solidFill>
                <a:latin typeface="Calibri" pitchFamily="34" charset="0"/>
                <a:ea typeface="Calibri" pitchFamily="34" charset="-122"/>
                <a:cs typeface="Calibri" pitchFamily="34" charset="-120"/>
              </a:rPr>
              <a:t>Vendor replies in the demo are synthetic. Plain Excel: no portal, no logins; PDFs keep working for everyone else.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2 · DATA BEFORE METRICS</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The ERP extract looks clean but isn't: 8 traps found first</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10</a:t>
            </a:r>
            <a:endParaRPr lang="en-US" sz="900" dirty="0"/>
          </a:p>
        </p:txBody>
      </p:sp>
      <p:sp>
        <p:nvSpPr>
          <p:cNvPr id="5" name="Text 3"/>
          <p:cNvSpPr txBox="1"/>
          <p:nvPr/>
        </p:nvSpPr>
        <p:spPr>
          <a:xfrm>
            <a:off x="548640" y="1508760"/>
            <a:ext cx="6035040" cy="466344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Receipt dates are MM/DD/YYYY text: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SQLite date() returns NULL on every row.</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50 reversal pairs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(keyed in error, then reversed) plus 1 unreversed duplicate (txn 701546).</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po_line.qty_received is wrong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on 169 lines; receipts are used instead.</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30 superseded confirmations: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only the latest is used.</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Confirmation feed stops 2026-04-03: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promise metrics use POs to 03/30 only.</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Ostmark PO prices are already USD: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converting again adds about $76k.</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qc_hold dates are unreliable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(16 before the PO existed): shown as counts only.</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5 decoy tables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with no link to vendor performance (GL, MRP, users, …).</a:t>
            </a:r>
            <a:endParaRPr lang="en-US" sz="1400" dirty="0"/>
          </a:p>
        </p:txBody>
      </p:sp>
      <p:graphicFrame>
        <p:nvGraphicFramePr>
          <p:cNvPr id="6" name="Chart 0" descr=""/>
          <p:cNvGraphicFramePr/>
          <p:nvPr/>
        </p:nvGraphicFramePr>
        <p:xfrm>
          <a:off x="6858000" y="1463040"/>
          <a:ext cx="4785055"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858000" y="5486400"/>
            <a:ext cx="4785055" cy="731520"/>
          </a:xfrm>
          <a:prstGeom prst="rect">
            <a:avLst/>
          </a:prstGeom>
          <a:noFill/>
          <a:ln/>
        </p:spPr>
        <p:txBody>
          <a:bodyPr wrap="square" lIns="0" tIns="0" rIns="0" bIns="0" rtlCol="0" anchor="ctr"/>
          <a:lstStyle/>
          <a:p>
            <a:pPr indent="0" marL="0">
              <a:buNone/>
            </a:pPr>
            <a:r>
              <a:rPr lang="en-US" sz="1300" i="1" dirty="0">
                <a:solidFill>
                  <a:srgbClr val="4E5D6A"/>
                </a:solidFill>
                <a:latin typeface="Calibri" pitchFamily="34" charset="0"/>
                <a:ea typeface="Calibri" pitchFamily="34" charset="-122"/>
                <a:cs typeface="Calibri" pitchFamily="34" charset="-120"/>
              </a:rPr>
              <a:t>The naive answers are wrong by +$1.3M and -$2.9M. Every number in the readout says which records it counts (Definitions tab).</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2 · RECEIVED VALUE BY MONTH</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$28.2M received in 8 months, 85% of it from Apex</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11</a:t>
            </a:r>
            <a:endParaRPr lang="en-US" sz="900" dirty="0"/>
          </a:p>
        </p:txBody>
      </p:sp>
      <p:graphicFrame>
        <p:nvGraphicFramePr>
          <p:cNvPr id="5" name="Chart 0" descr=""/>
          <p:cNvGraphicFramePr/>
          <p:nvPr/>
        </p:nvGraphicFramePr>
        <p:xfrm>
          <a:off x="548640" y="1463040"/>
          <a:ext cx="7863840" cy="4663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778240" y="1645920"/>
            <a:ext cx="2864815" cy="594360"/>
          </a:xfrm>
          <a:prstGeom prst="rect">
            <a:avLst/>
          </a:prstGeom>
          <a:noFill/>
          <a:ln/>
        </p:spPr>
        <p:txBody>
          <a:bodyPr wrap="square" lIns="0" tIns="0" rIns="0" bIns="0" rtlCol="0" anchor="ctr"/>
          <a:lstStyle/>
          <a:p>
            <a:pPr indent="0" marL="0">
              <a:buNone/>
            </a:pPr>
            <a:r>
              <a:rPr lang="en-US" sz="3600" b="1" dirty="0">
                <a:solidFill>
                  <a:srgbClr val="1F2A33"/>
                </a:solidFill>
                <a:latin typeface="Cambria" pitchFamily="34" charset="0"/>
                <a:ea typeface="Cambria" pitchFamily="34" charset="-122"/>
                <a:cs typeface="Cambria" pitchFamily="34" charset="-120"/>
              </a:rPr>
              <a:t>$28.19M</a:t>
            </a:r>
            <a:endParaRPr lang="en-US" sz="3600" dirty="0"/>
          </a:p>
        </p:txBody>
      </p:sp>
      <p:sp>
        <p:nvSpPr>
          <p:cNvPr id="7" name="Text 4"/>
          <p:cNvSpPr txBox="1"/>
          <p:nvPr/>
        </p:nvSpPr>
        <p:spPr>
          <a:xfrm>
            <a:off x="8778240" y="2249424"/>
            <a:ext cx="2681935"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received value, 09/06/2025 to 05/17/2026</a:t>
            </a:r>
            <a:endParaRPr lang="en-US" sz="1200" dirty="0"/>
          </a:p>
        </p:txBody>
      </p:sp>
      <p:sp>
        <p:nvSpPr>
          <p:cNvPr id="8" name="Text 5"/>
          <p:cNvSpPr txBox="1"/>
          <p:nvPr/>
        </p:nvSpPr>
        <p:spPr>
          <a:xfrm>
            <a:off x="8778240" y="2743200"/>
            <a:ext cx="2864815" cy="594360"/>
          </a:xfrm>
          <a:prstGeom prst="rect">
            <a:avLst/>
          </a:prstGeom>
          <a:noFill/>
          <a:ln/>
        </p:spPr>
        <p:txBody>
          <a:bodyPr wrap="square" lIns="0" tIns="0" rIns="0" bIns="0" rtlCol="0" anchor="ctr"/>
          <a:lstStyle/>
          <a:p>
            <a:pPr indent="0" marL="0">
              <a:buNone/>
            </a:pPr>
            <a:r>
              <a:rPr lang="en-US" sz="3600" b="1" dirty="0">
                <a:solidFill>
                  <a:srgbClr val="1F2A33"/>
                </a:solidFill>
                <a:latin typeface="Cambria" pitchFamily="34" charset="0"/>
                <a:ea typeface="Cambria" pitchFamily="34" charset="-122"/>
                <a:cs typeface="Cambria" pitchFamily="34" charset="-120"/>
              </a:rPr>
              <a:t>85%</a:t>
            </a:r>
            <a:endParaRPr lang="en-US" sz="3600" dirty="0"/>
          </a:p>
        </p:txBody>
      </p:sp>
      <p:sp>
        <p:nvSpPr>
          <p:cNvPr id="9" name="Text 6"/>
          <p:cNvSpPr txBox="1"/>
          <p:nvPr/>
        </p:nvSpPr>
        <p:spPr>
          <a:xfrm>
            <a:off x="8778240" y="3346704"/>
            <a:ext cx="2681935"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Apex Bar &amp; Tube ($23.98M): a concentration question, not only a performance one</a:t>
            </a:r>
            <a:endParaRPr lang="en-US" sz="1200" dirty="0"/>
          </a:p>
        </p:txBody>
      </p:sp>
      <p:sp>
        <p:nvSpPr>
          <p:cNvPr id="10" name="Text 7"/>
          <p:cNvSpPr txBox="1"/>
          <p:nvPr/>
        </p:nvSpPr>
        <p:spPr>
          <a:xfrm>
            <a:off x="8778240" y="3977640"/>
            <a:ext cx="2864815" cy="594360"/>
          </a:xfrm>
          <a:prstGeom prst="rect">
            <a:avLst/>
          </a:prstGeom>
          <a:noFill/>
          <a:ln/>
        </p:spPr>
        <p:txBody>
          <a:bodyPr wrap="square" lIns="0" tIns="0" rIns="0" bIns="0" rtlCol="0" anchor="ctr"/>
          <a:lstStyle/>
          <a:p>
            <a:pPr indent="0" marL="0">
              <a:buNone/>
            </a:pPr>
            <a:r>
              <a:rPr lang="en-US" sz="3600" b="1" dirty="0">
                <a:solidFill>
                  <a:srgbClr val="1F2A33"/>
                </a:solidFill>
                <a:latin typeface="Cambria" pitchFamily="34" charset="0"/>
                <a:ea typeface="Cambria" pitchFamily="34" charset="-122"/>
                <a:cs typeface="Cambria" pitchFamily="34" charset="-120"/>
              </a:rPr>
              <a:t>$3.1-5.1M</a:t>
            </a:r>
            <a:endParaRPr lang="en-US" sz="3600" dirty="0"/>
          </a:p>
        </p:txBody>
      </p:sp>
      <p:sp>
        <p:nvSpPr>
          <p:cNvPr id="11" name="Text 8"/>
          <p:cNvSpPr txBox="1"/>
          <p:nvPr/>
        </p:nvSpPr>
        <p:spPr>
          <a:xfrm>
            <a:off x="8778240" y="4581144"/>
            <a:ext cx="2681935"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range across full months (Oct to Apr); no clear trend</a:t>
            </a:r>
            <a:endParaRPr lang="en-US" sz="1200" dirty="0"/>
          </a:p>
        </p:txBody>
      </p:sp>
      <p:sp>
        <p:nvSpPr>
          <p:cNvPr id="12" name="Text 9"/>
          <p:cNvSpPr txBox="1"/>
          <p:nvPr/>
        </p:nvSpPr>
        <p:spPr>
          <a:xfrm>
            <a:off x="8778240" y="5394960"/>
            <a:ext cx="2864815" cy="548640"/>
          </a:xfrm>
          <a:prstGeom prst="rect">
            <a:avLst/>
          </a:prstGeom>
          <a:noFill/>
          <a:ln/>
        </p:spPr>
        <p:txBody>
          <a:bodyPr wrap="square" lIns="0" tIns="0" rIns="0" bIns="0" rtlCol="0" anchor="ctr"/>
          <a:lstStyle/>
          <a:p>
            <a:pPr indent="0" marL="0">
              <a:buNone/>
            </a:pPr>
            <a:r>
              <a:rPr lang="en-US" sz="1100" dirty="0">
                <a:solidFill>
                  <a:srgbClr val="7D8B97"/>
                </a:solidFill>
                <a:latin typeface="Calibri" pitchFamily="34" charset="0"/>
                <a:ea typeface="Calibri" pitchFamily="34" charset="-122"/>
                <a:cs typeface="Calibri" pitchFamily="34" charset="-120"/>
              </a:rPr>
              <a:t>* Sep and May are partial months. Reversals netted, 1 duplicate excluded.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2 · VENDOR-BY-VENDOR</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Continental stands out on delivery; Apex on dollars</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14600"/>
                <a:gridCol w="960120"/>
                <a:gridCol w="777240"/>
                <a:gridCol w="822960"/>
                <a:gridCol w="1005840"/>
                <a:gridCol w="1371600"/>
                <a:gridCol w="1188720"/>
                <a:gridCol w="1188720"/>
                <a:gridCol w="126187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Vendor</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Received</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Share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On time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Lines &gt;7d late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Median days late (when late)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Promised after need</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Past-due open $</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On time Sep-Dec → Jan-May</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47548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Apex Bar &amp; Tube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$23.98M</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85.1%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87%</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b="1" dirty="0">
                          <a:solidFill>
                            <a:srgbClr val="B83227"/>
                          </a:solidFill>
                          <a:latin typeface="Calibri" pitchFamily="34" charset="0"/>
                          <a:ea typeface="Calibri" pitchFamily="34" charset="-122"/>
                          <a:cs typeface="Calibri" pitchFamily="34" charset="-120"/>
                        </a:rPr>
                        <a:t>$76.7k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87% → 87%</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7548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Heritage Cold Heading</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$1.71M</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$4.1k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70% → 74%</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Continental Quality Heat Treat</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$1.51M</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5.4%</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b="1" dirty="0">
                          <a:solidFill>
                            <a:srgbClr val="B83227"/>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b="1" dirty="0">
                          <a:solidFill>
                            <a:srgbClr val="B83227"/>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b="1" dirty="0">
                          <a:solidFill>
                            <a:srgbClr val="B83227"/>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b="1" dirty="0">
                          <a:solidFill>
                            <a:srgbClr val="B83227"/>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$14.0k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c>
                  <a:txBody>
                    <a:bodyPr/>
                    <a:lstStyle/>
                    <a:p>
                      <a:pPr indent="0" marL="0">
                        <a:buNone/>
                      </a:pPr>
                      <a:r>
                        <a:rPr lang="en-US" sz="1300" b="1" dirty="0">
                          <a:solidFill>
                            <a:srgbClr val="B83227"/>
                          </a:solidFill>
                          <a:latin typeface="Calibri" pitchFamily="34" charset="0"/>
                          <a:ea typeface="Calibri" pitchFamily="34" charset="-122"/>
                          <a:cs typeface="Calibri" pitchFamily="34" charset="-120"/>
                        </a:rPr>
                        <a:t>45% → 40%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BEAE8"/>
                    </a:solidFill>
                  </a:tcPr>
                </a:tc>
              </a:tr>
              <a:tr h="47548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Ostmark Werkzeug (DE)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$0.87M</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$31.9k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71% → 68%</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Liberty Surface Finishing</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$0.11M</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$1.1k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95% → 87%</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75488">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QuickShip Industrial</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$0.01M</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0.05%</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$0.04k</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98% → 100%</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029200"/>
            <a:ext cx="11094415" cy="1097280"/>
          </a:xfrm>
          <a:prstGeom prst="rect">
            <a:avLst/>
          </a:prstGeom>
          <a:noFill/>
          <a:ln/>
        </p:spPr>
        <p:txBody>
          <a:bodyPr wrap="square" lIns="0" tIns="0" rIns="0" bIns="0" rtlCol="0" anchor="t"/>
          <a:lstStyle/>
          <a:p>
            <a:pPr indent="0" marL="0">
              <a:buNone/>
            </a:pPr>
            <a:r>
              <a:rPr lang="en-US" sz="1200" b="1" dirty="0">
                <a:solidFill>
                  <a:srgbClr val="4E5D6A"/>
                </a:solidFill>
                <a:latin typeface="Calibri" pitchFamily="34" charset="0"/>
                <a:ea typeface="Calibri" pitchFamily="34" charset="-122"/>
                <a:cs typeface="Calibri" pitchFamily="34" charset="-120"/>
              </a:rPr>
              <a:t>On time </a:t>
            </a:r>
            <a:pPr indent="0" marL="0">
              <a:buNone/>
            </a:pPr>
            <a:r>
              <a:rPr lang="en-US" sz="1200" dirty="0">
                <a:solidFill>
                  <a:srgbClr val="4E5D6A"/>
                </a:solidFill>
                <a:latin typeface="Calibri" pitchFamily="34" charset="0"/>
                <a:ea typeface="Calibri" pitchFamily="34" charset="-122"/>
                <a:cs typeface="Calibri" pitchFamily="34" charset="-120"/>
              </a:rPr>
              <a:t>= the last receipt that completes the line arrives on or before our required date. Denominators: due lines with a receipt (Apex 222, Heritage 205, Continental 134, Ostmark 55, Liberty 189, QuickShip 110). </a:t>
            </a:r>
            <a:pPr indent="0" marL="0">
              <a:buNone/>
            </a:pPr>
            <a:r>
              <a:rPr lang="en-US" sz="1200" b="1" dirty="0">
                <a:solidFill>
                  <a:srgbClr val="4E5D6A"/>
                </a:solidFill>
                <a:latin typeface="Calibri" pitchFamily="34" charset="0"/>
                <a:ea typeface="Calibri" pitchFamily="34" charset="-122"/>
                <a:cs typeface="Calibri" pitchFamily="34" charset="-120"/>
              </a:rPr>
              <a:t>Trend </a:t>
            </a:r>
            <a:pPr indent="0" marL="0">
              <a:buNone/>
            </a:pPr>
            <a:r>
              <a:rPr lang="en-US" sz="1200" dirty="0">
                <a:solidFill>
                  <a:srgbClr val="4E5D6A"/>
                </a:solidFill>
                <a:latin typeface="Calibri" pitchFamily="34" charset="0"/>
                <a:ea typeface="Calibri" pitchFamily="34" charset="-122"/>
                <a:cs typeface="Calibri" pitchFamily="34" charset="-120"/>
              </a:rPr>
              <a:t>= Fisher exact test; no vendor's change is statistically significant (Liberty p=0.13). </a:t>
            </a:r>
            <a:pPr indent="0" marL="0">
              <a:buNone/>
            </a:pPr>
            <a:r>
              <a:rPr lang="en-US" sz="1200" b="1" dirty="0">
                <a:solidFill>
                  <a:srgbClr val="4E5D6A"/>
                </a:solidFill>
                <a:latin typeface="Calibri" pitchFamily="34" charset="0"/>
                <a:ea typeface="Calibri" pitchFamily="34" charset="-122"/>
                <a:cs typeface="Calibri" pitchFamily="34" charset="-120"/>
              </a:rPr>
              <a:t>Not ranked: </a:t>
            </a:r>
            <a:pPr indent="0" marL="0">
              <a:buNone/>
            </a:pPr>
            <a:r>
              <a:rPr lang="en-US" sz="1200" dirty="0">
                <a:solidFill>
                  <a:srgbClr val="4E5D6A"/>
                </a:solidFill>
                <a:latin typeface="Calibri" pitchFamily="34" charset="0"/>
                <a:ea typeface="Calibri" pitchFamily="34" charset="-122"/>
                <a:cs typeface="Calibri" pitchFamily="34" charset="-120"/>
              </a:rPr>
              <a:t>QC holds (dates unreliable). No composite score: the weights would be invented.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2 · WHO TO CALL FIRST</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Call Continental first: late most often and by the most</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13</a:t>
            </a:r>
            <a:endParaRPr lang="en-US" sz="900" dirty="0"/>
          </a:p>
        </p:txBody>
      </p:sp>
      <p:sp>
        <p:nvSpPr>
          <p:cNvPr id="5" name="Text 3"/>
          <p:cNvSpPr txBox="1"/>
          <p:nvPr/>
        </p:nvSpPr>
        <p:spPr>
          <a:xfrm>
            <a:off x="548640" y="1554480"/>
            <a:ext cx="2148840" cy="594360"/>
          </a:xfrm>
          <a:prstGeom prst="rect">
            <a:avLst/>
          </a:prstGeom>
          <a:noFill/>
          <a:ln/>
        </p:spPr>
        <p:txBody>
          <a:bodyPr wrap="square" lIns="0" tIns="0" rIns="0" bIns="0" rtlCol="0" anchor="ctr"/>
          <a:lstStyle/>
          <a:p>
            <a:pPr indent="0" marL="0">
              <a:buNone/>
            </a:pPr>
            <a:r>
              <a:rPr lang="en-US" sz="4000" b="1" dirty="0">
                <a:solidFill>
                  <a:srgbClr val="B83227"/>
                </a:solidFill>
                <a:latin typeface="Cambria" pitchFamily="34" charset="0"/>
                <a:ea typeface="Cambria" pitchFamily="34" charset="-122"/>
                <a:cs typeface="Cambria" pitchFamily="34" charset="-120"/>
              </a:rPr>
              <a:t>42%</a:t>
            </a:r>
            <a:endParaRPr lang="en-US" sz="4000" dirty="0"/>
          </a:p>
        </p:txBody>
      </p:sp>
      <p:sp>
        <p:nvSpPr>
          <p:cNvPr id="6" name="Text 4"/>
          <p:cNvSpPr txBox="1"/>
          <p:nvPr/>
        </p:nvSpPr>
        <p:spPr>
          <a:xfrm>
            <a:off x="548640" y="2157984"/>
            <a:ext cx="1965960"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of 134 due lines on time (others 69-99%)</a:t>
            </a:r>
            <a:endParaRPr lang="en-US" sz="1200" dirty="0"/>
          </a:p>
        </p:txBody>
      </p:sp>
      <p:sp>
        <p:nvSpPr>
          <p:cNvPr id="7" name="Text 5"/>
          <p:cNvSpPr txBox="1"/>
          <p:nvPr/>
        </p:nvSpPr>
        <p:spPr>
          <a:xfrm>
            <a:off x="2697480" y="1554480"/>
            <a:ext cx="2148840" cy="594360"/>
          </a:xfrm>
          <a:prstGeom prst="rect">
            <a:avLst/>
          </a:prstGeom>
          <a:noFill/>
          <a:ln/>
        </p:spPr>
        <p:txBody>
          <a:bodyPr wrap="square" lIns="0" tIns="0" rIns="0" bIns="0" rtlCol="0" anchor="ctr"/>
          <a:lstStyle/>
          <a:p>
            <a:pPr indent="0" marL="0">
              <a:buNone/>
            </a:pPr>
            <a:r>
              <a:rPr lang="en-US" sz="4000" b="1" dirty="0">
                <a:solidFill>
                  <a:srgbClr val="B83227"/>
                </a:solidFill>
                <a:latin typeface="Cambria" pitchFamily="34" charset="0"/>
                <a:ea typeface="Cambria" pitchFamily="34" charset="-122"/>
                <a:cs typeface="Cambria" pitchFamily="34" charset="-120"/>
              </a:rPr>
              <a:t>61/63</a:t>
            </a:r>
            <a:endParaRPr lang="en-US" sz="4000" dirty="0"/>
          </a:p>
        </p:txBody>
      </p:sp>
      <p:sp>
        <p:nvSpPr>
          <p:cNvPr id="8" name="Text 6"/>
          <p:cNvSpPr txBox="1"/>
          <p:nvPr/>
        </p:nvSpPr>
        <p:spPr>
          <a:xfrm>
            <a:off x="2697480" y="2157984"/>
            <a:ext cx="1965960"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lines &gt;7 days late across all vendors are theirs ($660k)</a:t>
            </a:r>
            <a:endParaRPr lang="en-US" sz="1200" dirty="0"/>
          </a:p>
        </p:txBody>
      </p:sp>
      <p:sp>
        <p:nvSpPr>
          <p:cNvPr id="9" name="Text 7"/>
          <p:cNvSpPr txBox="1"/>
          <p:nvPr/>
        </p:nvSpPr>
        <p:spPr>
          <a:xfrm>
            <a:off x="4846320" y="1554480"/>
            <a:ext cx="2148840" cy="594360"/>
          </a:xfrm>
          <a:prstGeom prst="rect">
            <a:avLst/>
          </a:prstGeom>
          <a:noFill/>
          <a:ln/>
        </p:spPr>
        <p:txBody>
          <a:bodyPr wrap="square" lIns="0" tIns="0" rIns="0" bIns="0" rtlCol="0" anchor="ctr"/>
          <a:lstStyle/>
          <a:p>
            <a:pPr indent="0" marL="0">
              <a:buNone/>
            </a:pPr>
            <a:r>
              <a:rPr lang="en-US" sz="4000" b="1" dirty="0">
                <a:solidFill>
                  <a:srgbClr val="B83227"/>
                </a:solidFill>
                <a:latin typeface="Cambria" pitchFamily="34" charset="0"/>
                <a:ea typeface="Cambria" pitchFamily="34" charset="-122"/>
                <a:cs typeface="Cambria" pitchFamily="34" charset="-120"/>
              </a:rPr>
              <a:t>91%</a:t>
            </a:r>
            <a:endParaRPr lang="en-US" sz="4000" dirty="0"/>
          </a:p>
        </p:txBody>
      </p:sp>
      <p:sp>
        <p:nvSpPr>
          <p:cNvPr id="10" name="Text 8"/>
          <p:cNvSpPr txBox="1"/>
          <p:nvPr/>
        </p:nvSpPr>
        <p:spPr>
          <a:xfrm>
            <a:off x="4846320" y="2157984"/>
            <a:ext cx="1965960" cy="50292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of their confirmations promise after our need date</a:t>
            </a:r>
            <a:endParaRPr lang="en-US" sz="1200" dirty="0"/>
          </a:p>
        </p:txBody>
      </p:sp>
      <p:sp>
        <p:nvSpPr>
          <p:cNvPr id="11" name="Text 9"/>
          <p:cNvSpPr txBox="1"/>
          <p:nvPr/>
        </p:nvSpPr>
        <p:spPr>
          <a:xfrm>
            <a:off x="548640" y="2834640"/>
            <a:ext cx="6263640" cy="219456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How bad: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median 17 days late when late, worst 28. Every other vendor lands 99%+ of lines within 7 days.</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Not a recent slip: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45% on time Sep-Dec (n=56) vs 40% Jan-May (n=78).</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Misses its own dates: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meets only 58% of its own promises.</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Material: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$1.51M of heat treat; 7 open lines past due today ($14k).</a:t>
            </a:r>
            <a:endParaRPr lang="en-US" sz="1400" dirty="0"/>
          </a:p>
        </p:txBody>
      </p:sp>
      <p:sp>
        <p:nvSpPr>
          <p:cNvPr id="12" name="Shape 10"/>
          <p:cNvSpPr/>
          <p:nvPr/>
        </p:nvSpPr>
        <p:spPr>
          <a:xfrm>
            <a:off x="548640" y="5074920"/>
            <a:ext cx="6263640" cy="1097280"/>
          </a:xfrm>
          <a:prstGeom prst="roundRect">
            <a:avLst>
              <a:gd name="adj" fmla="val 6667"/>
            </a:avLst>
          </a:prstGeom>
          <a:solidFill>
            <a:srgbClr val="FBE9DF"/>
          </a:solidFill>
          <a:ln w="12700">
            <a:solidFill>
              <a:srgbClr val="FBE9DF"/>
            </a:solidFill>
            <a:prstDash val="solid"/>
          </a:ln>
        </p:spPr>
      </p:sp>
      <p:sp>
        <p:nvSpPr>
          <p:cNvPr id="13" name="Text 11"/>
          <p:cNvSpPr txBox="1"/>
          <p:nvPr/>
        </p:nvSpPr>
        <p:spPr>
          <a:xfrm>
            <a:off x="731520" y="5138928"/>
            <a:ext cx="5897880" cy="960120"/>
          </a:xfrm>
          <a:prstGeom prst="rect">
            <a:avLst/>
          </a:prstGeom>
          <a:noFill/>
          <a:ln/>
        </p:spPr>
        <p:txBody>
          <a:bodyPr wrap="square" lIns="0" tIns="0" rIns="0" bIns="0" rtlCol="0" anchor="ctr"/>
          <a:lstStyle/>
          <a:p>
            <a:pPr indent="0" marL="0">
              <a:buNone/>
            </a:pPr>
            <a:r>
              <a:rPr lang="en-US" sz="1300" b="1" dirty="0">
                <a:solidFill>
                  <a:srgbClr val="D9622B"/>
                </a:solidFill>
                <a:latin typeface="Calibri" pitchFamily="34" charset="0"/>
                <a:ea typeface="Calibri" pitchFamily="34" charset="-122"/>
                <a:cs typeface="Calibri" pitchFamily="34" charset="-120"/>
              </a:rPr>
              <a:t>Beacon's side too: </a:t>
            </a:r>
            <a:pPr indent="0" marL="0">
              <a:buNone/>
            </a:pPr>
            <a:r>
              <a:rPr lang="en-US" sz="1300" dirty="0">
                <a:solidFill>
                  <a:srgbClr val="1F2A33"/>
                </a:solidFill>
                <a:latin typeface="Calibri" pitchFamily="34" charset="0"/>
                <a:ea typeface="Calibri" pitchFamily="34" charset="-122"/>
                <a:cs typeface="Calibri" pitchFamily="34" charset="-120"/>
              </a:rPr>
              <a:t>we plan 19 days for heat treat, they quote 28 and deliver in 24.5 (medians). Part of this lateness is our planning. Take that to the call.</a:t>
            </a:r>
            <a:endParaRPr lang="en-US" sz="1300" dirty="0"/>
          </a:p>
        </p:txBody>
      </p:sp>
      <p:graphicFrame>
        <p:nvGraphicFramePr>
          <p:cNvPr id="14" name="Chart 0" descr=""/>
          <p:cNvGraphicFramePr/>
          <p:nvPr/>
        </p:nvGraphicFramePr>
        <p:xfrm>
          <a:off x="7178040" y="1463040"/>
          <a:ext cx="4465015"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2 · SECOND CALL AND WATCH LIST</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Call Apex second, about money not delivery; watch three others</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14</a:t>
            </a:r>
            <a:endParaRPr lang="en-US" sz="900" dirty="0"/>
          </a:p>
        </p:txBody>
      </p:sp>
      <p:sp>
        <p:nvSpPr>
          <p:cNvPr id="5" name="Shape 3"/>
          <p:cNvSpPr/>
          <p:nvPr/>
        </p:nvSpPr>
        <p:spPr>
          <a:xfrm>
            <a:off x="548640" y="1508760"/>
            <a:ext cx="5669280" cy="4663440"/>
          </a:xfrm>
          <a:prstGeom prst="roundRect">
            <a:avLst>
              <a:gd name="adj" fmla="val 1569"/>
            </a:avLst>
          </a:prstGeom>
          <a:solidFill>
            <a:srgbClr val="FBE9DF"/>
          </a:solidFill>
          <a:ln w="12700">
            <a:solidFill>
              <a:srgbClr val="FBE9DF"/>
            </a:solidFill>
            <a:prstDash val="solid"/>
          </a:ln>
        </p:spPr>
      </p:sp>
      <p:sp>
        <p:nvSpPr>
          <p:cNvPr id="6" name="Text 4"/>
          <p:cNvSpPr txBox="1"/>
          <p:nvPr/>
        </p:nvSpPr>
        <p:spPr>
          <a:xfrm>
            <a:off x="822960" y="1691640"/>
            <a:ext cx="5120640" cy="365760"/>
          </a:xfrm>
          <a:prstGeom prst="rect">
            <a:avLst/>
          </a:prstGeom>
          <a:noFill/>
          <a:ln/>
        </p:spPr>
        <p:txBody>
          <a:bodyPr wrap="square" lIns="0" tIns="0" rIns="0" bIns="0" rtlCol="0" anchor="ctr"/>
          <a:lstStyle/>
          <a:p>
            <a:pPr indent="0" marL="0">
              <a:buNone/>
            </a:pPr>
            <a:r>
              <a:rPr lang="en-US" sz="1800" b="1" dirty="0">
                <a:solidFill>
                  <a:srgbClr val="1F2A33"/>
                </a:solidFill>
                <a:latin typeface="Cambria" pitchFamily="34" charset="0"/>
                <a:ea typeface="Cambria" pitchFamily="34" charset="-122"/>
                <a:cs typeface="Cambria" pitchFamily="34" charset="-120"/>
              </a:rPr>
              <a:t>Apex Bar &amp; Tube: a commercial call</a:t>
            </a:r>
            <a:endParaRPr lang="en-US" sz="1800" dirty="0"/>
          </a:p>
        </p:txBody>
      </p:sp>
      <p:sp>
        <p:nvSpPr>
          <p:cNvPr id="7" name="Text 5"/>
          <p:cNvSpPr txBox="1"/>
          <p:nvPr/>
        </p:nvSpPr>
        <p:spPr>
          <a:xfrm>
            <a:off x="822960" y="2103120"/>
            <a:ext cx="5120640" cy="548640"/>
          </a:xfrm>
          <a:prstGeom prst="rect">
            <a:avLst/>
          </a:prstGeom>
          <a:noFill/>
          <a:ln/>
        </p:spPr>
        <p:txBody>
          <a:bodyPr wrap="square" lIns="0" tIns="0" rIns="0" bIns="0" rtlCol="0" anchor="ctr"/>
          <a:lstStyle/>
          <a:p>
            <a:pPr indent="0" marL="0">
              <a:buNone/>
            </a:pPr>
            <a:r>
              <a:rPr lang="en-US" sz="1300" dirty="0">
                <a:solidFill>
                  <a:srgbClr val="4E5D6A"/>
                </a:solidFill>
                <a:latin typeface="Calibri" pitchFamily="34" charset="0"/>
                <a:ea typeface="Calibri" pitchFamily="34" charset="-122"/>
                <a:cs typeface="Calibri" pitchFamily="34" charset="-120"/>
              </a:rPr>
              <a:t>85% of received value ($23.98M). 87% on time, and when late the median is 1 day.</a:t>
            </a:r>
            <a:endParaRPr lang="en-US" sz="1300" dirty="0"/>
          </a:p>
        </p:txBody>
      </p:sp>
      <p:sp>
        <p:nvSpPr>
          <p:cNvPr id="8" name="Text 6"/>
          <p:cNvSpPr txBox="1"/>
          <p:nvPr/>
        </p:nvSpPr>
        <p:spPr>
          <a:xfrm>
            <a:off x="822960" y="2743200"/>
            <a:ext cx="5120640" cy="329184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Price creep: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BAR-CRES-250 confirmed +1% from February and +2% from March, while every PO stayed at $3.92. 11 lines, $8.5k over PO, and nothing in the ERP flags it.</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Short-ships left open: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8 balances, $77k, the largest past-due exposure of any vendor (oldest 215 days).</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Same pattern this week: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a dropped line, a 75-pc short and a +2.3% price on its acknowledgments.</a:t>
            </a:r>
            <a:endParaRPr lang="en-US" sz="1400" dirty="0"/>
          </a:p>
        </p:txBody>
      </p:sp>
      <p:sp>
        <p:nvSpPr>
          <p:cNvPr id="9" name="Shape 7"/>
          <p:cNvSpPr/>
          <p:nvPr/>
        </p:nvSpPr>
        <p:spPr>
          <a:xfrm>
            <a:off x="6583680" y="1508760"/>
            <a:ext cx="5059375" cy="1051560"/>
          </a:xfrm>
          <a:prstGeom prst="roundRect">
            <a:avLst>
              <a:gd name="adj" fmla="val 6957"/>
            </a:avLst>
          </a:prstGeom>
          <a:solidFill>
            <a:srgbClr val="EEF2F5"/>
          </a:solidFill>
          <a:ln w="12700">
            <a:solidFill>
              <a:srgbClr val="EEF2F5"/>
            </a:solidFill>
            <a:prstDash val="solid"/>
          </a:ln>
        </p:spPr>
      </p:sp>
      <p:sp>
        <p:nvSpPr>
          <p:cNvPr id="10" name="Shape 8"/>
          <p:cNvSpPr/>
          <p:nvPr/>
        </p:nvSpPr>
        <p:spPr>
          <a:xfrm>
            <a:off x="6784848" y="1691640"/>
            <a:ext cx="182880" cy="182880"/>
          </a:xfrm>
          <a:prstGeom prst="ellipse">
            <a:avLst/>
          </a:prstGeom>
          <a:solidFill>
            <a:srgbClr val="C98A06"/>
          </a:solidFill>
          <a:ln w="12700">
            <a:solidFill>
              <a:srgbClr val="C98A06"/>
            </a:solidFill>
            <a:prstDash val="solid"/>
          </a:ln>
        </p:spPr>
      </p:sp>
      <p:sp>
        <p:nvSpPr>
          <p:cNvPr id="11" name="Text 9"/>
          <p:cNvSpPr txBox="1"/>
          <p:nvPr/>
        </p:nvSpPr>
        <p:spPr>
          <a:xfrm>
            <a:off x="7086600" y="1600200"/>
            <a:ext cx="4373575" cy="347472"/>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Heritage Cold Heading</a:t>
            </a:r>
            <a:endParaRPr lang="en-US" sz="1400" dirty="0"/>
          </a:p>
        </p:txBody>
      </p:sp>
      <p:sp>
        <p:nvSpPr>
          <p:cNvPr id="12" name="Text 10"/>
          <p:cNvSpPr txBox="1"/>
          <p:nvPr/>
        </p:nvSpPr>
        <p:spPr>
          <a:xfrm>
            <a:off x="7086600" y="1929384"/>
            <a:ext cx="4373575" cy="59436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72% on time; 60% of promises after need date. Delays short (median 3 days). 10 short-ship balances open.</a:t>
            </a:r>
            <a:endParaRPr lang="en-US" sz="1200" dirty="0"/>
          </a:p>
        </p:txBody>
      </p:sp>
      <p:sp>
        <p:nvSpPr>
          <p:cNvPr id="13" name="Shape 11"/>
          <p:cNvSpPr/>
          <p:nvPr/>
        </p:nvSpPr>
        <p:spPr>
          <a:xfrm>
            <a:off x="6583680" y="2697480"/>
            <a:ext cx="5059375" cy="1051560"/>
          </a:xfrm>
          <a:prstGeom prst="roundRect">
            <a:avLst>
              <a:gd name="adj" fmla="val 6957"/>
            </a:avLst>
          </a:prstGeom>
          <a:solidFill>
            <a:srgbClr val="EEF2F5"/>
          </a:solidFill>
          <a:ln w="12700">
            <a:solidFill>
              <a:srgbClr val="EEF2F5"/>
            </a:solidFill>
            <a:prstDash val="solid"/>
          </a:ln>
        </p:spPr>
      </p:sp>
      <p:sp>
        <p:nvSpPr>
          <p:cNvPr id="14" name="Shape 12"/>
          <p:cNvSpPr/>
          <p:nvPr/>
        </p:nvSpPr>
        <p:spPr>
          <a:xfrm>
            <a:off x="6784848" y="2880360"/>
            <a:ext cx="182880" cy="182880"/>
          </a:xfrm>
          <a:prstGeom prst="ellipse">
            <a:avLst/>
          </a:prstGeom>
          <a:solidFill>
            <a:srgbClr val="C98A06"/>
          </a:solidFill>
          <a:ln w="12700">
            <a:solidFill>
              <a:srgbClr val="C98A06"/>
            </a:solidFill>
            <a:prstDash val="solid"/>
          </a:ln>
        </p:spPr>
      </p:sp>
      <p:sp>
        <p:nvSpPr>
          <p:cNvPr id="15" name="Text 13"/>
          <p:cNvSpPr txBox="1"/>
          <p:nvPr/>
        </p:nvSpPr>
        <p:spPr>
          <a:xfrm>
            <a:off x="7086600" y="2788920"/>
            <a:ext cx="4373575" cy="347472"/>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Liberty Surface Finishing</a:t>
            </a:r>
            <a:endParaRPr lang="en-US" sz="1400" dirty="0"/>
          </a:p>
        </p:txBody>
      </p:sp>
      <p:sp>
        <p:nvSpPr>
          <p:cNvPr id="16" name="Text 14"/>
          <p:cNvSpPr txBox="1"/>
          <p:nvPr/>
        </p:nvSpPr>
        <p:spPr>
          <a:xfrm>
            <a:off x="7086600" y="3118104"/>
            <a:ext cx="4373575" cy="59436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95% → 87% on time, but not significant (p=0.13) and misses are 1-3 days. Watch, don't call.</a:t>
            </a:r>
            <a:endParaRPr lang="en-US" sz="1200" dirty="0"/>
          </a:p>
        </p:txBody>
      </p:sp>
      <p:sp>
        <p:nvSpPr>
          <p:cNvPr id="17" name="Shape 15"/>
          <p:cNvSpPr/>
          <p:nvPr/>
        </p:nvSpPr>
        <p:spPr>
          <a:xfrm>
            <a:off x="6583680" y="3886200"/>
            <a:ext cx="5059375" cy="1051560"/>
          </a:xfrm>
          <a:prstGeom prst="roundRect">
            <a:avLst>
              <a:gd name="adj" fmla="val 6957"/>
            </a:avLst>
          </a:prstGeom>
          <a:solidFill>
            <a:srgbClr val="EEF2F5"/>
          </a:solidFill>
          <a:ln w="12700">
            <a:solidFill>
              <a:srgbClr val="EEF2F5"/>
            </a:solidFill>
            <a:prstDash val="solid"/>
          </a:ln>
        </p:spPr>
      </p:sp>
      <p:sp>
        <p:nvSpPr>
          <p:cNvPr id="18" name="Shape 16"/>
          <p:cNvSpPr/>
          <p:nvPr/>
        </p:nvSpPr>
        <p:spPr>
          <a:xfrm>
            <a:off x="6784848" y="4069080"/>
            <a:ext cx="182880" cy="182880"/>
          </a:xfrm>
          <a:prstGeom prst="ellipse">
            <a:avLst/>
          </a:prstGeom>
          <a:solidFill>
            <a:srgbClr val="C98A06"/>
          </a:solidFill>
          <a:ln w="12700">
            <a:solidFill>
              <a:srgbClr val="C98A06"/>
            </a:solidFill>
            <a:prstDash val="solid"/>
          </a:ln>
        </p:spPr>
      </p:sp>
      <p:sp>
        <p:nvSpPr>
          <p:cNvPr id="19" name="Text 17"/>
          <p:cNvSpPr txBox="1"/>
          <p:nvPr/>
        </p:nvSpPr>
        <p:spPr>
          <a:xfrm>
            <a:off x="7086600" y="3977640"/>
            <a:ext cx="4373575" cy="347472"/>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Ostmark Werkzeug (DE)</a:t>
            </a:r>
            <a:endParaRPr lang="en-US" sz="1400" dirty="0"/>
          </a:p>
        </p:txBody>
      </p:sp>
      <p:sp>
        <p:nvSpPr>
          <p:cNvPr id="20" name="Text 18"/>
          <p:cNvSpPr txBox="1"/>
          <p:nvPr/>
        </p:nvSpPr>
        <p:spPr>
          <a:xfrm>
            <a:off x="7086600" y="4306824"/>
            <a:ext cx="4373575" cy="59436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69% on time, never &gt;6 days late. Open die set PO-4500050027: $31k, due 05/15, nothing received; ack says only "KW 20-22".</a:t>
            </a:r>
            <a:endParaRPr lang="en-US" sz="1200" dirty="0"/>
          </a:p>
        </p:txBody>
      </p:sp>
      <p:sp>
        <p:nvSpPr>
          <p:cNvPr id="21" name="Shape 19"/>
          <p:cNvSpPr/>
          <p:nvPr/>
        </p:nvSpPr>
        <p:spPr>
          <a:xfrm>
            <a:off x="6583680" y="5074920"/>
            <a:ext cx="5059375" cy="1051560"/>
          </a:xfrm>
          <a:prstGeom prst="roundRect">
            <a:avLst>
              <a:gd name="adj" fmla="val 6957"/>
            </a:avLst>
          </a:prstGeom>
          <a:solidFill>
            <a:srgbClr val="EEF2F5"/>
          </a:solidFill>
          <a:ln w="12700">
            <a:solidFill>
              <a:srgbClr val="EEF2F5"/>
            </a:solidFill>
            <a:prstDash val="solid"/>
          </a:ln>
        </p:spPr>
      </p:sp>
      <p:sp>
        <p:nvSpPr>
          <p:cNvPr id="22" name="Shape 20"/>
          <p:cNvSpPr/>
          <p:nvPr/>
        </p:nvSpPr>
        <p:spPr>
          <a:xfrm>
            <a:off x="6784848" y="5257800"/>
            <a:ext cx="182880" cy="182880"/>
          </a:xfrm>
          <a:prstGeom prst="ellipse">
            <a:avLst/>
          </a:prstGeom>
          <a:solidFill>
            <a:srgbClr val="2E7D4F"/>
          </a:solidFill>
          <a:ln w="12700">
            <a:solidFill>
              <a:srgbClr val="2E7D4F"/>
            </a:solidFill>
            <a:prstDash val="solid"/>
          </a:ln>
        </p:spPr>
      </p:sp>
      <p:sp>
        <p:nvSpPr>
          <p:cNvPr id="23" name="Text 21"/>
          <p:cNvSpPr txBox="1"/>
          <p:nvPr/>
        </p:nvSpPr>
        <p:spPr>
          <a:xfrm>
            <a:off x="7086600" y="5166360"/>
            <a:ext cx="4373575" cy="347472"/>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QuickShip Industrial</a:t>
            </a:r>
            <a:endParaRPr lang="en-US" sz="1400" dirty="0"/>
          </a:p>
        </p:txBody>
      </p:sp>
      <p:sp>
        <p:nvSpPr>
          <p:cNvPr id="24" name="Text 22"/>
          <p:cNvSpPr txBox="1"/>
          <p:nvPr/>
        </p:nvSpPr>
        <p:spPr>
          <a:xfrm>
            <a:off x="7086600" y="5495544"/>
            <a:ext cx="4373575" cy="594360"/>
          </a:xfrm>
          <a:prstGeom prst="rect">
            <a:avLst/>
          </a:prstGeom>
          <a:noFill/>
          <a:ln/>
        </p:spPr>
        <p:txBody>
          <a:bodyPr wrap="square" lIns="0" tIns="0" rIns="0" bIns="0" rtlCol="0" anchor="t"/>
          <a:lstStyle/>
          <a:p>
            <a:pPr indent="0" marL="0">
              <a:buNone/>
            </a:pPr>
            <a:r>
              <a:rPr lang="en-US" sz="1200" dirty="0">
                <a:solidFill>
                  <a:srgbClr val="4E5D6A"/>
                </a:solidFill>
                <a:latin typeface="Calibri" pitchFamily="34" charset="0"/>
                <a:ea typeface="Calibri" pitchFamily="34" charset="-122"/>
                <a:cs typeface="Calibri" pitchFamily="34" charset="-120"/>
              </a:rPr>
              <a:t>The benchmark: 99% on time, but only $13k of spend.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TASK 2 · TOWARD THE PART-NUMBER CLEANUP</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The crosswalk grows from daily work and seeds the part master</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680960" cy="914400"/>
        </p:xfrm>
        <a:graphic>
          <a:graphicData uri="http://schemas.openxmlformats.org/drawingml/2006/table">
            <a:tbl>
              <a:tblPr/>
              <a:tblGrid>
                <a:gridCol w="914400"/>
                <a:gridCol w="1828800"/>
                <a:gridCol w="1920240"/>
                <a:gridCol w="1600200"/>
                <a:gridCol w="141732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Vendor</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Vendor PN</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Beacon PN</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502920">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Heritage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APH-441-OS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CHB-9472-4</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This week's PDF (qty+price)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PENDING: ERP had APH-4411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502920">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Ostmark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OST-CAR-A-100</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TOOL-INS-CAR</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This week's PDF (qty+price)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b="1" dirty="0">
                          <a:solidFill>
                            <a:srgbClr val="C98A06"/>
                          </a:solidFill>
                          <a:latin typeface="Calibri" pitchFamily="34" charset="0"/>
                          <a:ea typeface="Calibri" pitchFamily="34" charset="-122"/>
                          <a:cs typeface="Calibri" pitchFamily="34" charset="-120"/>
                        </a:rPr>
                        <a:t>PENDING: ERP had WZ-HM-EIN</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Heritage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APH-125 / 318 / 441 / 4411</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CHB-3301 / 7715 / 9472-3 / 9472-4</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ERP confirmations × PO lines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Seen 30-44 times each</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502920">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Heritage</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b="1" dirty="0">
                          <a:solidFill>
                            <a:srgbClr val="B83227"/>
                          </a:solidFill>
                          <a:latin typeface="Calibri" pitchFamily="34" charset="0"/>
                          <a:ea typeface="Calibri" pitchFamily="34" charset="-122"/>
                          <a:cs typeface="Calibri" pitchFamily="34" charset="-120"/>
                        </a:rPr>
                        <a:t>K-1050</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CHB-5520</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ERP confirmations × PO lines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Seen 41 times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Ostmark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b="1" dirty="0">
                          <a:solidFill>
                            <a:srgbClr val="B83227"/>
                          </a:solidFill>
                          <a:latin typeface="Calibri" pitchFamily="34" charset="0"/>
                          <a:ea typeface="Calibri" pitchFamily="34" charset="-122"/>
                          <a:cs typeface="Calibri" pitchFamily="34" charset="-120"/>
                        </a:rPr>
                        <a:t>K-1050</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TOOL-PUNCH-STD</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ERP confirmations × PO lines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Same PN, different part!</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502920">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Ostmark</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WZ-9472-DS / WZ-HM-EIN</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TOOL-DIE-9472 / TOOL-INS-CAR</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ERP confirmations × PO lines</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Seen 17-20 times each</a:t>
                      </a:r>
                      <a:endParaRPr lang="en-US" sz="11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bl>
          </a:graphicData>
        </a:graphic>
      </p:graphicFrame>
      <p:sp>
        <p:nvSpPr>
          <p:cNvPr id="6" name="Shape 3"/>
          <p:cNvSpPr/>
          <p:nvPr/>
        </p:nvSpPr>
        <p:spPr>
          <a:xfrm>
            <a:off x="8595360" y="1508760"/>
            <a:ext cx="3047695" cy="4663440"/>
          </a:xfrm>
          <a:prstGeom prst="roundRect">
            <a:avLst>
              <a:gd name="adj" fmla="val 2400"/>
            </a:avLst>
          </a:prstGeom>
          <a:solidFill>
            <a:srgbClr val="EEF2F5"/>
          </a:solidFill>
          <a:ln w="12700">
            <a:solidFill>
              <a:srgbClr val="EEF2F5"/>
            </a:solidFill>
            <a:prstDash val="solid"/>
          </a:ln>
        </p:spPr>
      </p:sp>
      <p:sp>
        <p:nvSpPr>
          <p:cNvPr id="7" name="Text 4"/>
          <p:cNvSpPr txBox="1"/>
          <p:nvPr/>
        </p:nvSpPr>
        <p:spPr>
          <a:xfrm>
            <a:off x="8869680" y="1691640"/>
            <a:ext cx="2499055" cy="365760"/>
          </a:xfrm>
          <a:prstGeom prst="rect">
            <a:avLst/>
          </a:prstGeom>
          <a:noFill/>
          <a:ln/>
        </p:spPr>
        <p:txBody>
          <a:bodyPr wrap="square" lIns="0" tIns="0" rIns="0" bIns="0" rtlCol="0" anchor="ctr"/>
          <a:lstStyle/>
          <a:p>
            <a:pPr indent="0" marL="0">
              <a:buNone/>
            </a:pPr>
            <a:r>
              <a:rPr lang="en-US" sz="1600" b="1" dirty="0">
                <a:solidFill>
                  <a:srgbClr val="1F2A33"/>
                </a:solidFill>
                <a:latin typeface="Cambria" pitchFamily="34" charset="0"/>
                <a:ea typeface="Cambria" pitchFamily="34" charset="-122"/>
                <a:cs typeface="Cambria" pitchFamily="34" charset="-120"/>
              </a:rPr>
              <a:t>For the cleanup</a:t>
            </a:r>
            <a:endParaRPr lang="en-US" sz="1600" dirty="0"/>
          </a:p>
        </p:txBody>
      </p:sp>
      <p:sp>
        <p:nvSpPr>
          <p:cNvPr id="8" name="Text 5"/>
          <p:cNvSpPr txBox="1"/>
          <p:nvPr/>
        </p:nvSpPr>
        <p:spPr>
          <a:xfrm>
            <a:off x="8869680" y="2148840"/>
            <a:ext cx="2499055" cy="3931920"/>
          </a:xfrm>
          <a:prstGeom prst="rect">
            <a:avLst/>
          </a:prstGeom>
          <a:noFill/>
          <a:ln/>
        </p:spPr>
        <p:txBody>
          <a:bodyPr wrap="square" lIns="635" tIns="635" rIns="635" bIns="635" rtlCol="0" anchor="t"/>
          <a:lstStyle/>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Key on (vendor, vendor PN),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never the PN alone: K-1050 means two different parts.</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Vendors renumber quietly: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2 renumberings caught this week.</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Each row keeps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source, confidence, first/last seen and review status.</a:t>
            </a:r>
            <a:endParaRPr lang="en-US" sz="1300" dirty="0"/>
          </a:p>
          <a:p>
            <a:pPr marL="342900" indent="-342900">
              <a:spcAft>
                <a:spcPts val="600"/>
              </a:spcAft>
              <a:buSzPct val="100000"/>
              <a:buChar char="•"/>
            </a:pPr>
            <a:r>
              <a:rPr lang="en-US" sz="1300" b="1" dirty="0">
                <a:solidFill>
                  <a:srgbClr val="1F2A33"/>
                </a:solidFill>
                <a:latin typeface="Calibri" pitchFamily="34" charset="0"/>
                <a:ea typeface="Calibri" pitchFamily="34" charset="-122"/>
                <a:cs typeface="Calibri" pitchFamily="34" charset="-120"/>
              </a:rPr>
              <a:t>Path: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Lisa approves in the desk → crosswalk file → import as the part-master seed.</a:t>
            </a:r>
            <a:endParaRPr lang="en-US" sz="1300" dirty="0"/>
          </a:p>
        </p:txBody>
      </p:sp>
      <p:sp>
        <p:nvSpPr>
          <p:cNvPr id="9" name="Text 6"/>
          <p:cNvSpPr txBox="1"/>
          <p:nvPr/>
        </p:nvSpPr>
        <p:spPr>
          <a:xfrm>
            <a:off x="548640" y="5303520"/>
            <a:ext cx="7680960" cy="731520"/>
          </a:xfrm>
          <a:prstGeom prst="rect">
            <a:avLst/>
          </a:prstGeom>
          <a:noFill/>
          <a:ln/>
        </p:spPr>
        <p:txBody>
          <a:bodyPr wrap="square" lIns="0" tIns="0" rIns="0" bIns="0" rtlCol="0" anchor="ctr"/>
          <a:lstStyle/>
          <a:p>
            <a:pPr indent="0" marL="0">
              <a:buNone/>
            </a:pPr>
            <a:r>
              <a:rPr lang="en-US" sz="1200" i="1" dirty="0">
                <a:solidFill>
                  <a:srgbClr val="4E5D6A"/>
                </a:solidFill>
                <a:latin typeface="Calibri" pitchFamily="34" charset="0"/>
                <a:ea typeface="Calibri" pitchFamily="34" charset="-122"/>
                <a:cs typeface="Calibri" pitchFamily="34" charset="-120"/>
              </a:rPr>
              <a:t>Mined from the ERP: 8 mappings. Task 1 adds new ones as Lisa approves them (output/pn_crosswalk_updated.csv).</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What I deliberately did not build, and why</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16</a:t>
            </a:r>
            <a:endParaRPr lang="en-US" sz="900" dirty="0"/>
          </a:p>
        </p:txBody>
      </p:sp>
      <p:sp>
        <p:nvSpPr>
          <p:cNvPr id="5" name="Shape 3"/>
          <p:cNvSpPr/>
          <p:nvPr/>
        </p:nvSpPr>
        <p:spPr>
          <a:xfrm>
            <a:off x="548640" y="1554480"/>
            <a:ext cx="3515258" cy="2148840"/>
          </a:xfrm>
          <a:prstGeom prst="roundRect">
            <a:avLst>
              <a:gd name="adj" fmla="val 3404"/>
            </a:avLst>
          </a:prstGeom>
          <a:solidFill>
            <a:srgbClr val="EEF2F5"/>
          </a:solidFill>
          <a:ln w="12700">
            <a:solidFill>
              <a:srgbClr val="EEF2F5"/>
            </a:solidFill>
            <a:prstDash val="solid"/>
          </a:ln>
        </p:spPr>
      </p:sp>
      <p:sp>
        <p:nvSpPr>
          <p:cNvPr id="6" name="Shape 4"/>
          <p:cNvSpPr/>
          <p:nvPr/>
        </p:nvSpPr>
        <p:spPr>
          <a:xfrm>
            <a:off x="777240" y="1810512"/>
            <a:ext cx="329184" cy="329184"/>
          </a:xfrm>
          <a:prstGeom prst="ellipse">
            <a:avLst/>
          </a:prstGeom>
          <a:solidFill>
            <a:srgbClr val="FFFFFF"/>
          </a:solidFill>
          <a:ln w="19050">
            <a:solidFill>
              <a:srgbClr val="7D8B97"/>
            </a:solidFill>
            <a:prstDash val="solid"/>
          </a:ln>
        </p:spPr>
      </p:sp>
      <p:sp>
        <p:nvSpPr>
          <p:cNvPr id="7" name="Text 5"/>
          <p:cNvSpPr txBox="1"/>
          <p:nvPr/>
        </p:nvSpPr>
        <p:spPr>
          <a:xfrm>
            <a:off x="777240" y="1810512"/>
            <a:ext cx="329184" cy="329184"/>
          </a:xfrm>
          <a:prstGeom prst="rect">
            <a:avLst/>
          </a:prstGeom>
          <a:noFill/>
          <a:ln/>
        </p:spPr>
        <p:txBody>
          <a:bodyPr wrap="square" lIns="0" tIns="0" rIns="0" bIns="0" rtlCol="0" anchor="ctr"/>
          <a:lstStyle/>
          <a:p>
            <a:pPr algn="ctr" indent="0" marL="0">
              <a:buNone/>
            </a:pPr>
            <a:r>
              <a:rPr lang="en-US" sz="1300" b="1" dirty="0">
                <a:solidFill>
                  <a:srgbClr val="7D8B97"/>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234440" y="1755648"/>
            <a:ext cx="2646578" cy="457200"/>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ERP integration or write-back</a:t>
            </a:r>
            <a:endParaRPr lang="en-US" sz="1500" dirty="0"/>
          </a:p>
        </p:txBody>
      </p:sp>
      <p:sp>
        <p:nvSpPr>
          <p:cNvPr id="9" name="Text 7"/>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No API access, and a wrong write is expensive. The CSV export is the contract; integration comes after trust.</a:t>
            </a:r>
            <a:endParaRPr lang="en-US" sz="1300" dirty="0"/>
          </a:p>
        </p:txBody>
      </p:sp>
      <p:sp>
        <p:nvSpPr>
          <p:cNvPr id="10" name="Shape 8"/>
          <p:cNvSpPr/>
          <p:nvPr/>
        </p:nvSpPr>
        <p:spPr>
          <a:xfrm>
            <a:off x="4338218" y="1554480"/>
            <a:ext cx="3515258" cy="2148840"/>
          </a:xfrm>
          <a:prstGeom prst="roundRect">
            <a:avLst>
              <a:gd name="adj" fmla="val 3404"/>
            </a:avLst>
          </a:prstGeom>
          <a:solidFill>
            <a:srgbClr val="EEF2F5"/>
          </a:solidFill>
          <a:ln w="12700">
            <a:solidFill>
              <a:srgbClr val="EEF2F5"/>
            </a:solidFill>
            <a:prstDash val="solid"/>
          </a:ln>
        </p:spPr>
      </p:sp>
      <p:sp>
        <p:nvSpPr>
          <p:cNvPr id="11" name="Shape 9"/>
          <p:cNvSpPr/>
          <p:nvPr/>
        </p:nvSpPr>
        <p:spPr>
          <a:xfrm>
            <a:off x="4566818" y="1810512"/>
            <a:ext cx="329184" cy="329184"/>
          </a:xfrm>
          <a:prstGeom prst="ellipse">
            <a:avLst/>
          </a:prstGeom>
          <a:solidFill>
            <a:srgbClr val="FFFFFF"/>
          </a:solidFill>
          <a:ln w="19050">
            <a:solidFill>
              <a:srgbClr val="7D8B97"/>
            </a:solidFill>
            <a:prstDash val="solid"/>
          </a:ln>
        </p:spPr>
      </p:sp>
      <p:sp>
        <p:nvSpPr>
          <p:cNvPr id="12" name="Text 10"/>
          <p:cNvSpPr txBox="1"/>
          <p:nvPr/>
        </p:nvSpPr>
        <p:spPr>
          <a:xfrm>
            <a:off x="4566818" y="1810512"/>
            <a:ext cx="329184" cy="329184"/>
          </a:xfrm>
          <a:prstGeom prst="rect">
            <a:avLst/>
          </a:prstGeom>
          <a:noFill/>
          <a:ln/>
        </p:spPr>
        <p:txBody>
          <a:bodyPr wrap="square" lIns="0" tIns="0" rIns="0" bIns="0" rtlCol="0" anchor="ctr"/>
          <a:lstStyle/>
          <a:p>
            <a:pPr algn="ctr" indent="0" marL="0">
              <a:buNone/>
            </a:pPr>
            <a:r>
              <a:rPr lang="en-US" sz="1300" b="1" dirty="0">
                <a:solidFill>
                  <a:srgbClr val="7D8B97"/>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5024018" y="1755648"/>
            <a:ext cx="2646578" cy="457200"/>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Auto-emailing vendors</a:t>
            </a:r>
            <a:endParaRPr lang="en-US" sz="1500" dirty="0"/>
          </a:p>
        </p:txBody>
      </p:sp>
      <p:sp>
        <p:nvSpPr>
          <p:cNvPr id="14" name="Text 12"/>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The tool drafts emails; Lisa sends them. Vendor relationships are hers.</a:t>
            </a:r>
            <a:endParaRPr lang="en-US" sz="1300" dirty="0"/>
          </a:p>
        </p:txBody>
      </p:sp>
      <p:sp>
        <p:nvSpPr>
          <p:cNvPr id="15" name="Shape 13"/>
          <p:cNvSpPr/>
          <p:nvPr/>
        </p:nvSpPr>
        <p:spPr>
          <a:xfrm>
            <a:off x="8127797" y="1554480"/>
            <a:ext cx="3515258" cy="2148840"/>
          </a:xfrm>
          <a:prstGeom prst="roundRect">
            <a:avLst>
              <a:gd name="adj" fmla="val 3404"/>
            </a:avLst>
          </a:prstGeom>
          <a:solidFill>
            <a:srgbClr val="EEF2F5"/>
          </a:solidFill>
          <a:ln w="12700">
            <a:solidFill>
              <a:srgbClr val="EEF2F5"/>
            </a:solidFill>
            <a:prstDash val="solid"/>
          </a:ln>
        </p:spPr>
      </p:sp>
      <p:sp>
        <p:nvSpPr>
          <p:cNvPr id="16" name="Shape 14"/>
          <p:cNvSpPr/>
          <p:nvPr/>
        </p:nvSpPr>
        <p:spPr>
          <a:xfrm>
            <a:off x="8356397" y="1810512"/>
            <a:ext cx="329184" cy="329184"/>
          </a:xfrm>
          <a:prstGeom prst="ellipse">
            <a:avLst/>
          </a:prstGeom>
          <a:solidFill>
            <a:srgbClr val="FFFFFF"/>
          </a:solidFill>
          <a:ln w="19050">
            <a:solidFill>
              <a:srgbClr val="7D8B97"/>
            </a:solidFill>
            <a:prstDash val="solid"/>
          </a:ln>
        </p:spPr>
      </p:sp>
      <p:sp>
        <p:nvSpPr>
          <p:cNvPr id="17" name="Text 15"/>
          <p:cNvSpPr txBox="1"/>
          <p:nvPr/>
        </p:nvSpPr>
        <p:spPr>
          <a:xfrm>
            <a:off x="8356397" y="1810512"/>
            <a:ext cx="329184" cy="329184"/>
          </a:xfrm>
          <a:prstGeom prst="rect">
            <a:avLst/>
          </a:prstGeom>
          <a:noFill/>
          <a:ln/>
        </p:spPr>
        <p:txBody>
          <a:bodyPr wrap="square" lIns="0" tIns="0" rIns="0" bIns="0" rtlCol="0" anchor="ctr"/>
          <a:lstStyle/>
          <a:p>
            <a:pPr algn="ctr" indent="0" marL="0">
              <a:buNone/>
            </a:pPr>
            <a:r>
              <a:rPr lang="en-US" sz="1300" b="1" dirty="0">
                <a:solidFill>
                  <a:srgbClr val="7D8B97"/>
                </a:solidFill>
                <a:latin typeface="Calibri" pitchFamily="34" charset="0"/>
                <a:ea typeface="Calibri" pitchFamily="34" charset="-122"/>
                <a:cs typeface="Calibri" pitchFamily="34" charset="-120"/>
              </a:rPr>
              <a:t>✕</a:t>
            </a:r>
            <a:endParaRPr lang="en-US" sz="1300" dirty="0"/>
          </a:p>
        </p:txBody>
      </p:sp>
      <p:sp>
        <p:nvSpPr>
          <p:cNvPr id="18" name="Text 16"/>
          <p:cNvSpPr txBox="1"/>
          <p:nvPr/>
        </p:nvSpPr>
        <p:spPr>
          <a:xfrm>
            <a:off x="8813597" y="1755648"/>
            <a:ext cx="2646578" cy="457200"/>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LLM-first extraction</a:t>
            </a:r>
            <a:endParaRPr lang="en-US" sz="1500" dirty="0"/>
          </a:p>
        </p:txBody>
      </p:sp>
      <p:sp>
        <p:nvSpPr>
          <p:cNvPr id="19" name="Text 17"/>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6 stable layouts parse deterministically and auditably. The AI reader is a fallback, off by default.</a:t>
            </a:r>
            <a:endParaRPr lang="en-US" sz="1300" dirty="0"/>
          </a:p>
        </p:txBody>
      </p:sp>
      <p:sp>
        <p:nvSpPr>
          <p:cNvPr id="20" name="Shape 18"/>
          <p:cNvSpPr/>
          <p:nvPr/>
        </p:nvSpPr>
        <p:spPr>
          <a:xfrm>
            <a:off x="548640" y="3977640"/>
            <a:ext cx="3515258" cy="2148840"/>
          </a:xfrm>
          <a:prstGeom prst="roundRect">
            <a:avLst>
              <a:gd name="adj" fmla="val 3404"/>
            </a:avLst>
          </a:prstGeom>
          <a:solidFill>
            <a:srgbClr val="EEF2F5"/>
          </a:solidFill>
          <a:ln w="12700">
            <a:solidFill>
              <a:srgbClr val="EEF2F5"/>
            </a:solidFill>
            <a:prstDash val="solid"/>
          </a:ln>
        </p:spPr>
      </p:sp>
      <p:sp>
        <p:nvSpPr>
          <p:cNvPr id="21" name="Shape 19"/>
          <p:cNvSpPr/>
          <p:nvPr/>
        </p:nvSpPr>
        <p:spPr>
          <a:xfrm>
            <a:off x="777240" y="4233672"/>
            <a:ext cx="329184" cy="329184"/>
          </a:xfrm>
          <a:prstGeom prst="ellipse">
            <a:avLst/>
          </a:prstGeom>
          <a:solidFill>
            <a:srgbClr val="FFFFFF"/>
          </a:solidFill>
          <a:ln w="19050">
            <a:solidFill>
              <a:srgbClr val="7D8B97"/>
            </a:solidFill>
            <a:prstDash val="solid"/>
          </a:ln>
        </p:spPr>
      </p:sp>
      <p:sp>
        <p:nvSpPr>
          <p:cNvPr id="22" name="Text 20"/>
          <p:cNvSpPr txBox="1"/>
          <p:nvPr/>
        </p:nvSpPr>
        <p:spPr>
          <a:xfrm>
            <a:off x="777240" y="4233672"/>
            <a:ext cx="329184" cy="329184"/>
          </a:xfrm>
          <a:prstGeom prst="rect">
            <a:avLst/>
          </a:prstGeom>
          <a:noFill/>
          <a:ln/>
        </p:spPr>
        <p:txBody>
          <a:bodyPr wrap="square" lIns="0" tIns="0" rIns="0" bIns="0" rtlCol="0" anchor="ctr"/>
          <a:lstStyle/>
          <a:p>
            <a:pPr algn="ctr" indent="0" marL="0">
              <a:buNone/>
            </a:pPr>
            <a:r>
              <a:rPr lang="en-US" sz="1300" b="1" dirty="0">
                <a:solidFill>
                  <a:srgbClr val="7D8B97"/>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1234440" y="4178808"/>
            <a:ext cx="2646578" cy="457200"/>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Full master-data (MDM) platform</a:t>
            </a:r>
            <a:endParaRPr lang="en-US" sz="1500" dirty="0"/>
          </a:p>
        </p:txBody>
      </p:sp>
      <p:sp>
        <p:nvSpPr>
          <p:cNvPr id="24" name="Text 22"/>
          <p:cNvSpPr txBox="1"/>
          <p:nvPr/>
        </p:nvSpPr>
        <p:spPr>
          <a:xfrm>
            <a:off x="777240" y="4800600"/>
            <a:ext cx="3058058" cy="118872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The crosswalk file, with source, confidence and review status, is the seed. The platform comes later.</a:t>
            </a:r>
            <a:endParaRPr lang="en-US" sz="1300" dirty="0"/>
          </a:p>
        </p:txBody>
      </p:sp>
      <p:sp>
        <p:nvSpPr>
          <p:cNvPr id="25" name="Shape 23"/>
          <p:cNvSpPr/>
          <p:nvPr/>
        </p:nvSpPr>
        <p:spPr>
          <a:xfrm>
            <a:off x="4338218" y="3977640"/>
            <a:ext cx="3515258" cy="2148840"/>
          </a:xfrm>
          <a:prstGeom prst="roundRect">
            <a:avLst>
              <a:gd name="adj" fmla="val 3404"/>
            </a:avLst>
          </a:prstGeom>
          <a:solidFill>
            <a:srgbClr val="EEF2F5"/>
          </a:solidFill>
          <a:ln w="12700">
            <a:solidFill>
              <a:srgbClr val="EEF2F5"/>
            </a:solidFill>
            <a:prstDash val="solid"/>
          </a:ln>
        </p:spPr>
      </p:sp>
      <p:sp>
        <p:nvSpPr>
          <p:cNvPr id="26" name="Shape 24"/>
          <p:cNvSpPr/>
          <p:nvPr/>
        </p:nvSpPr>
        <p:spPr>
          <a:xfrm>
            <a:off x="4566818" y="4233672"/>
            <a:ext cx="329184" cy="329184"/>
          </a:xfrm>
          <a:prstGeom prst="ellipse">
            <a:avLst/>
          </a:prstGeom>
          <a:solidFill>
            <a:srgbClr val="FFFFFF"/>
          </a:solidFill>
          <a:ln w="19050">
            <a:solidFill>
              <a:srgbClr val="7D8B97"/>
            </a:solidFill>
            <a:prstDash val="solid"/>
          </a:ln>
        </p:spPr>
      </p:sp>
      <p:sp>
        <p:nvSpPr>
          <p:cNvPr id="27" name="Text 25"/>
          <p:cNvSpPr txBox="1"/>
          <p:nvPr/>
        </p:nvSpPr>
        <p:spPr>
          <a:xfrm>
            <a:off x="4566818" y="4233672"/>
            <a:ext cx="329184" cy="329184"/>
          </a:xfrm>
          <a:prstGeom prst="rect">
            <a:avLst/>
          </a:prstGeom>
          <a:noFill/>
          <a:ln/>
        </p:spPr>
        <p:txBody>
          <a:bodyPr wrap="square" lIns="0" tIns="0" rIns="0" bIns="0" rtlCol="0" anchor="ctr"/>
          <a:lstStyle/>
          <a:p>
            <a:pPr algn="ctr" indent="0" marL="0">
              <a:buNone/>
            </a:pPr>
            <a:r>
              <a:rPr lang="en-US" sz="1300" b="1" dirty="0">
                <a:solidFill>
                  <a:srgbClr val="7D8B97"/>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5024018" y="4178808"/>
            <a:ext cx="2646578" cy="457200"/>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A 0-100 vendor score</a:t>
            </a:r>
            <a:endParaRPr lang="en-US" sz="1500" dirty="0"/>
          </a:p>
        </p:txBody>
      </p:sp>
      <p:sp>
        <p:nvSpPr>
          <p:cNvPr id="29" name="Text 27"/>
          <p:cNvSpPr txBox="1"/>
          <p:nvPr/>
        </p:nvSpPr>
        <p:spPr>
          <a:xfrm>
            <a:off x="4566818" y="4800600"/>
            <a:ext cx="3058058" cy="118872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The weights would be invented. An evidence table with denominators is more honest.</a:t>
            </a:r>
            <a:endParaRPr lang="en-US" sz="1300" dirty="0"/>
          </a:p>
        </p:txBody>
      </p:sp>
      <p:sp>
        <p:nvSpPr>
          <p:cNvPr id="30" name="Shape 28"/>
          <p:cNvSpPr/>
          <p:nvPr/>
        </p:nvSpPr>
        <p:spPr>
          <a:xfrm>
            <a:off x="8127797" y="3977640"/>
            <a:ext cx="3515258" cy="2148840"/>
          </a:xfrm>
          <a:prstGeom prst="roundRect">
            <a:avLst>
              <a:gd name="adj" fmla="val 3404"/>
            </a:avLst>
          </a:prstGeom>
          <a:solidFill>
            <a:srgbClr val="EEF2F5"/>
          </a:solidFill>
          <a:ln w="12700">
            <a:solidFill>
              <a:srgbClr val="EEF2F5"/>
            </a:solidFill>
            <a:prstDash val="solid"/>
          </a:ln>
        </p:spPr>
      </p:sp>
      <p:sp>
        <p:nvSpPr>
          <p:cNvPr id="31" name="Shape 29"/>
          <p:cNvSpPr/>
          <p:nvPr/>
        </p:nvSpPr>
        <p:spPr>
          <a:xfrm>
            <a:off x="8356397" y="4233672"/>
            <a:ext cx="329184" cy="329184"/>
          </a:xfrm>
          <a:prstGeom prst="ellipse">
            <a:avLst/>
          </a:prstGeom>
          <a:solidFill>
            <a:srgbClr val="FFFFFF"/>
          </a:solidFill>
          <a:ln w="19050">
            <a:solidFill>
              <a:srgbClr val="7D8B97"/>
            </a:solidFill>
            <a:prstDash val="solid"/>
          </a:ln>
        </p:spPr>
      </p:sp>
      <p:sp>
        <p:nvSpPr>
          <p:cNvPr id="32" name="Text 30"/>
          <p:cNvSpPr txBox="1"/>
          <p:nvPr/>
        </p:nvSpPr>
        <p:spPr>
          <a:xfrm>
            <a:off x="8356397" y="4233672"/>
            <a:ext cx="329184" cy="329184"/>
          </a:xfrm>
          <a:prstGeom prst="rect">
            <a:avLst/>
          </a:prstGeom>
          <a:noFill/>
          <a:ln/>
        </p:spPr>
        <p:txBody>
          <a:bodyPr wrap="square" lIns="0" tIns="0" rIns="0" bIns="0" rtlCol="0" anchor="ctr"/>
          <a:lstStyle/>
          <a:p>
            <a:pPr algn="ctr" indent="0" marL="0">
              <a:buNone/>
            </a:pPr>
            <a:r>
              <a:rPr lang="en-US" sz="1300" b="1" dirty="0">
                <a:solidFill>
                  <a:srgbClr val="7D8B97"/>
                </a:solidFill>
                <a:latin typeface="Calibri" pitchFamily="34" charset="0"/>
                <a:ea typeface="Calibri" pitchFamily="34" charset="-122"/>
                <a:cs typeface="Calibri" pitchFamily="34" charset="-120"/>
              </a:rPr>
              <a:t>✕</a:t>
            </a:r>
            <a:endParaRPr lang="en-US" sz="1300" dirty="0"/>
          </a:p>
        </p:txBody>
      </p:sp>
      <p:sp>
        <p:nvSpPr>
          <p:cNvPr id="33" name="Text 31"/>
          <p:cNvSpPr txBox="1"/>
          <p:nvPr/>
        </p:nvSpPr>
        <p:spPr>
          <a:xfrm>
            <a:off x="8813597" y="4178808"/>
            <a:ext cx="2646578" cy="457200"/>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A vendor portal or EDI (yet)</a:t>
            </a:r>
            <a:endParaRPr lang="en-US" sz="1500" dirty="0"/>
          </a:p>
        </p:txBody>
      </p:sp>
      <p:sp>
        <p:nvSpPr>
          <p:cNvPr id="34" name="Text 32"/>
          <p:cNvSpPr txBox="1"/>
          <p:nvPr/>
        </p:nvSpPr>
        <p:spPr>
          <a:xfrm>
            <a:off x="8356397" y="4800600"/>
            <a:ext cx="3058058" cy="1188720"/>
          </a:xfrm>
          <a:prstGeom prst="rect">
            <a:avLst/>
          </a:prstGeom>
          <a:noFill/>
          <a:ln/>
        </p:spPr>
        <p:txBody>
          <a:bodyPr wrap="square" lIns="0" tIns="0" rIns="0" bIns="0" rtlCol="0" anchor="t"/>
          <a:lstStyle/>
          <a:p>
            <a:pPr indent="0" marL="0">
              <a:buNone/>
            </a:pPr>
            <a:r>
              <a:rPr lang="en-US" sz="1300" dirty="0">
                <a:solidFill>
                  <a:srgbClr val="4E5D6A"/>
                </a:solidFill>
                <a:latin typeface="Calibri" pitchFamily="34" charset="0"/>
                <a:ea typeface="Calibri" pitchFamily="34" charset="-122"/>
                <a:cs typeface="Calibri" pitchFamily="34" charset="-120"/>
              </a:rPr>
              <a:t>Vendors live in email and Excel. The form fields map 1:1 to a portal or EDI 855 later; no hosting or logins now.</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LIMITS</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Where this falls over, and what catches it when it does</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108960"/>
                <a:gridCol w="3749040"/>
                <a:gridCol w="4233672"/>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Failure mode</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 today</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 / next step</a:t>
                      </a:r>
                      <a:endParaRPr lang="en-US" sz="13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1F2A33"/>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A new vendor or a changed layout</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No parser matches; the PDF shows as unreadable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Beacon's acknowledgment form removes the layout problem; meanwhile manual form or AI reader (off by default)</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Vendors don't use the form</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They keep sending their own PDFs</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PDFs keep working; start with the 3 vendors that cost the most reading time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A poor scan</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OCR can misread a digit</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Every OCR'd doc goes to Needs your OK, shown next to the image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Two PO lines with the same qty and price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An L4 inference could pair the wrong lines</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L4 is never HIGH; always goes to review</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A stale open-PO CSV</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False "PO not open" or "possible dropped line"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Pull the export each morning; show its as-of date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FX and price tolerance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EUR checked at the ERP monthly rate, 1% band</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Confirm with Lisa and AP what counts as a real difference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Task 2: value at PO price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Not invoiced cost; no AP data in the extract</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Add invoice lines, then true price variance</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Task 2: the confirmation feed ends 04/03</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Promise metrics use POs to 03/30 only</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Ask why the feed stopped</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3"/>
                          </a:solidFill>
                          <a:latin typeface="Calibri" pitchFamily="34" charset="0"/>
                          <a:ea typeface="Calibri" pitchFamily="34" charset="-122"/>
                          <a:cs typeface="Calibri" pitchFamily="34" charset="-120"/>
                        </a:rPr>
                        <a:t>Task 2: no production-impact data</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Can rank exposure, but can't prove cost</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c>
                  <a:txBody>
                    <a:bodyPr/>
                    <a:lstStyle/>
                    <a:p>
                      <a:pPr indent="0" marL="0">
                        <a:buNone/>
                      </a:pPr>
                      <a:r>
                        <a:rPr lang="en-US" sz="1200" dirty="0">
                          <a:solidFill>
                            <a:srgbClr val="1F2A33"/>
                          </a:solidFill>
                          <a:latin typeface="Calibri" pitchFamily="34" charset="0"/>
                          <a:ea typeface="Calibri" pitchFamily="34" charset="-122"/>
                          <a:cs typeface="Calibri" pitchFamily="34" charset="-120"/>
                        </a:rPr>
                        <a:t>Link to expedites and downtime; no causal claims until then</a:t>
                      </a:r>
                      <a:endParaRPr lang="en-US" sz="1200" dirty="0">
                        <a:latin typeface="Calibri" charset="0"/>
                        <a:ea typeface="Calibri" charset="0"/>
                        <a:cs typeface="Calibri" charset="0"/>
                      </a:endParaRPr>
                    </a:p>
                  </a:txBody>
                  <a:tcPr marL="45720" marR="45720" marT="45720" marB="45720" anchor="ctr">
                    <a:lnL w="6350" cap="flat" cmpd="sng" algn="ctr">
                      <a:solidFill>
                        <a:srgbClr val="D5DCE2"/>
                      </a:solidFill>
                      <a:prstDash val="solid"/>
                      <a:round/>
                      <a:headEnd type="none" w="med" len="med"/>
                      <a:tailEnd type="none" w="med" len="med"/>
                    </a:lnL>
                    <a:lnR w="6350" cap="flat" cmpd="sng" algn="ctr">
                      <a:solidFill>
                        <a:srgbClr val="D5DCE2"/>
                      </a:solidFill>
                      <a:prstDash val="solid"/>
                      <a:round/>
                      <a:headEnd type="none" w="med" len="med"/>
                      <a:tailEnd type="none" w="med" len="med"/>
                    </a:lnR>
                    <a:lnT w="6350" cap="flat" cmpd="sng" algn="ctr">
                      <a:solidFill>
                        <a:srgbClr val="D5DCE2"/>
                      </a:solidFill>
                      <a:prstDash val="solid"/>
                      <a:round/>
                      <a:headEnd type="none" w="med" len="med"/>
                      <a:tailEnd type="none" w="med" len="med"/>
                    </a:lnT>
                    <a:lnB w="6350" cap="flat" cmpd="sng" algn="ctr">
                      <a:solidFill>
                        <a:srgbClr val="D5DCE2"/>
                      </a:solidFill>
                      <a:prstDash val="solid"/>
                      <a:round/>
                      <a:headEnd type="none" w="med" len="med"/>
                      <a:tailEnd type="none" w="med" len="med"/>
                    </a:lnB>
                    <a:solidFill>
                      <a:srgbClr val="F6F8FA"/>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WHAT I WISH I'D ASKED</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Questions for Lisa and the plant manager, each tied to the data</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18</a:t>
            </a:r>
            <a:endParaRPr lang="en-US" sz="900" dirty="0"/>
          </a:p>
        </p:txBody>
      </p:sp>
      <p:sp>
        <p:nvSpPr>
          <p:cNvPr id="5" name="Shape 3"/>
          <p:cNvSpPr/>
          <p:nvPr/>
        </p:nvSpPr>
        <p:spPr>
          <a:xfrm>
            <a:off x="548640" y="1463040"/>
            <a:ext cx="5364328" cy="4800600"/>
          </a:xfrm>
          <a:prstGeom prst="roundRect">
            <a:avLst>
              <a:gd name="adj" fmla="val 1524"/>
            </a:avLst>
          </a:prstGeom>
          <a:solidFill>
            <a:srgbClr val="EEF2F5"/>
          </a:solidFill>
          <a:ln w="12700">
            <a:solidFill>
              <a:srgbClr val="EEF2F5"/>
            </a:solidFill>
            <a:prstDash val="solid"/>
          </a:ln>
        </p:spPr>
      </p:sp>
      <p:sp>
        <p:nvSpPr>
          <p:cNvPr id="6" name="Text 4"/>
          <p:cNvSpPr txBox="1"/>
          <p:nvPr/>
        </p:nvSpPr>
        <p:spPr>
          <a:xfrm>
            <a:off x="822960" y="1600200"/>
            <a:ext cx="4815688"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LISA</a:t>
            </a:r>
            <a:endParaRPr lang="en-US" sz="1200" dirty="0"/>
          </a:p>
        </p:txBody>
      </p:sp>
      <p:sp>
        <p:nvSpPr>
          <p:cNvPr id="7" name="Text 5"/>
          <p:cNvSpPr txBox="1"/>
          <p:nvPr/>
        </p:nvSpPr>
        <p:spPr>
          <a:xfrm>
            <a:off x="822960" y="1920240"/>
            <a:ext cx="4815688" cy="4251960"/>
          </a:xfrm>
          <a:prstGeom prst="rect">
            <a:avLst/>
          </a:prstGeom>
          <a:noFill/>
          <a:ln/>
        </p:spPr>
        <p:txBody>
          <a:bodyPr wrap="square" lIns="381" tIns="381" rIns="381" bIns="381" rtlCol="0" anchor="t"/>
          <a:lstStyle/>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When a line is missing from an acknowledgment, what do you do today, and how often was it really dropped vs. confirmed later?</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Which miss cost you most last quarter: a short, a price or a date? That sets the priority order.</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Apex CRES bar confirmed +1-2% since Feb while POs stayed $3.92: a negotiated alloy surcharge that never reached the PO?</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What price difference do you let through without a call? Is 1% right for EUR? Is it different for services?</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Who approves a new vendor part number: you or engineering? Do vendors warn you before renumbering?</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What would you need to see for two weeks before you stop opening every PDF yourself?</a:t>
            </a:r>
            <a:endParaRPr lang="en-US" sz="1300" dirty="0"/>
          </a:p>
        </p:txBody>
      </p:sp>
      <p:sp>
        <p:nvSpPr>
          <p:cNvPr id="8" name="Shape 6"/>
          <p:cNvSpPr/>
          <p:nvPr/>
        </p:nvSpPr>
        <p:spPr>
          <a:xfrm>
            <a:off x="6278728" y="1463040"/>
            <a:ext cx="5364328" cy="4800600"/>
          </a:xfrm>
          <a:prstGeom prst="roundRect">
            <a:avLst>
              <a:gd name="adj" fmla="val 1524"/>
            </a:avLst>
          </a:prstGeom>
          <a:solidFill>
            <a:srgbClr val="EEF2F5"/>
          </a:solidFill>
          <a:ln w="12700">
            <a:solidFill>
              <a:srgbClr val="EEF2F5"/>
            </a:solidFill>
            <a:prstDash val="solid"/>
          </a:ln>
        </p:spPr>
      </p:sp>
      <p:sp>
        <p:nvSpPr>
          <p:cNvPr id="9" name="Text 7"/>
          <p:cNvSpPr txBox="1"/>
          <p:nvPr/>
        </p:nvSpPr>
        <p:spPr>
          <a:xfrm>
            <a:off x="6553048" y="1600200"/>
            <a:ext cx="4815688"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PLANT MANAGER</a:t>
            </a:r>
            <a:endParaRPr lang="en-US" sz="1200" dirty="0"/>
          </a:p>
        </p:txBody>
      </p:sp>
      <p:sp>
        <p:nvSpPr>
          <p:cNvPr id="10" name="Text 8"/>
          <p:cNvSpPr txBox="1"/>
          <p:nvPr/>
        </p:nvSpPr>
        <p:spPr>
          <a:xfrm>
            <a:off x="6553048" y="1920240"/>
            <a:ext cx="4815688" cy="4251960"/>
          </a:xfrm>
          <a:prstGeom prst="rect">
            <a:avLst/>
          </a:prstGeom>
          <a:noFill/>
          <a:ln/>
        </p:spPr>
        <p:txBody>
          <a:bodyPr wrap="square" lIns="381" tIns="381" rIns="381" bIns="381" rtlCol="0" anchor="t"/>
          <a:lstStyle/>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What does a late heat-treat lot actually cost: downtime, overtime, a customer expedite? That turns on-time % into dollars.</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Who set the 19-day heat-treat lead time in MRP? Continental quotes 28.</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Is Continental the only qualified (e.g. Nadcap) heat treater for these parts, or is there a second source?</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Is Apex at 85% of spend a deliberate single-source decision? Is there a contract price for CRES bar?</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Should months-old short-ship balances be closed? Who can short-close a PO?</a:t>
            </a:r>
            <a:endParaRPr lang="en-US" sz="1300" dirty="0"/>
          </a:p>
          <a:p>
            <a:pPr marL="342900" indent="-342900">
              <a:spcAft>
                <a:spcPts val="600"/>
              </a:spcAft>
              <a:buSzPct val="100000"/>
              <a:buFont typeface="+mj-lt"/>
              <a:buAutoNum type="arabicPeriod" startAt="1"/>
            </a:pPr>
            <a:r>
              <a:rPr lang="en-US" sz="1300" dirty="0">
                <a:solidFill>
                  <a:srgbClr val="1F2A33"/>
                </a:solidFill>
                <a:latin typeface="Calibri" pitchFamily="34" charset="0"/>
                <a:ea typeface="Calibri" pitchFamily="34" charset="-122"/>
                <a:cs typeface="Calibri" pitchFamily="34" charset="-120"/>
              </a:rPr>
              <a:t>Which decision should this readout drive: re-source, renegotiate or re-plan? How often: monthly?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DATA I WISH I'D HAD · NEXT STEPS</a:t>
            </a:r>
            <a:endParaRPr lang="en-US" sz="12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2400" b="1" dirty="0">
                <a:solidFill>
                  <a:srgbClr val="1F2A33"/>
                </a:solidFill>
                <a:latin typeface="Cambria" pitchFamily="34" charset="0"/>
                <a:ea typeface="Cambria" pitchFamily="34" charset="-122"/>
                <a:cs typeface="Cambria" pitchFamily="34" charset="-120"/>
              </a:rPr>
              <a:t>What would sharpen the answers, and how this goes into use</a:t>
            </a:r>
            <a:endParaRPr lang="en-US" sz="2400" dirty="0"/>
          </a:p>
        </p:txBody>
      </p:sp>
      <p:sp>
        <p:nvSpPr>
          <p:cNvPr id="4" name="Text 2"/>
          <p:cNvSpPr txBox="1"/>
          <p:nvPr/>
        </p:nvSpPr>
        <p:spPr>
          <a:xfrm>
            <a:off x="7985455" y="6473952"/>
            <a:ext cx="3657600" cy="228600"/>
          </a:xfrm>
          <a:prstGeom prst="rect">
            <a:avLst/>
          </a:prstGeom>
          <a:noFill/>
          <a:ln/>
        </p:spPr>
        <p:txBody>
          <a:bodyPr wrap="square" lIns="0" tIns="0" rIns="0" bIns="0" rtlCol="0" anchor="ctr"/>
          <a:lstStyle/>
          <a:p>
            <a:pPr algn="r" indent="0" marL="0">
              <a:buNone/>
            </a:pPr>
            <a:r>
              <a:rPr lang="en-US" sz="900" dirty="0">
                <a:solidFill>
                  <a:srgbClr val="7D8B97"/>
                </a:solidFill>
                <a:latin typeface="Calibri" pitchFamily="34" charset="0"/>
                <a:ea typeface="Calibri" pitchFamily="34" charset="-122"/>
                <a:cs typeface="Calibri" pitchFamily="34" charset="-120"/>
              </a:rPr>
              <a:t>Beacon Fasteners · FDE case   19</a:t>
            </a:r>
            <a:endParaRPr lang="en-US" sz="900" dirty="0"/>
          </a:p>
        </p:txBody>
      </p:sp>
      <p:sp>
        <p:nvSpPr>
          <p:cNvPr id="5" name="Text 3"/>
          <p:cNvSpPr txBox="1"/>
          <p:nvPr/>
        </p:nvSpPr>
        <p:spPr>
          <a:xfrm>
            <a:off x="548640" y="1463040"/>
            <a:ext cx="5669280" cy="365760"/>
          </a:xfrm>
          <a:prstGeom prst="rect">
            <a:avLst/>
          </a:prstGeom>
          <a:noFill/>
          <a:ln/>
        </p:spPr>
        <p:txBody>
          <a:bodyPr wrap="square" lIns="0" tIns="0" rIns="0" bIns="0" rtlCol="0" anchor="ctr"/>
          <a:lstStyle/>
          <a:p>
            <a:pPr indent="0" marL="0">
              <a:buNone/>
            </a:pPr>
            <a:r>
              <a:rPr lang="en-US" sz="1600" b="1" dirty="0">
                <a:solidFill>
                  <a:srgbClr val="1F2A33"/>
                </a:solidFill>
                <a:latin typeface="Cambria" pitchFamily="34" charset="0"/>
                <a:ea typeface="Cambria" pitchFamily="34" charset="-122"/>
                <a:cs typeface="Cambria" pitchFamily="34" charset="-120"/>
              </a:rPr>
              <a:t>Data I wish I'd had (absent from the extract)</a:t>
            </a:r>
            <a:endParaRPr lang="en-US" sz="1600" dirty="0"/>
          </a:p>
        </p:txBody>
      </p:sp>
      <p:sp>
        <p:nvSpPr>
          <p:cNvPr id="6" name="Text 4"/>
          <p:cNvSpPr txBox="1"/>
          <p:nvPr/>
        </p:nvSpPr>
        <p:spPr>
          <a:xfrm>
            <a:off x="548640" y="1874520"/>
            <a:ext cx="5669280" cy="4297680"/>
          </a:xfrm>
          <a:prstGeom prst="rect">
            <a:avLst/>
          </a:prstGeom>
          <a:noFill/>
          <a:ln/>
        </p:spPr>
        <p:txBody>
          <a:bodyPr wrap="square" lIns="635" tIns="635" rIns="635" bIns="635" rtlCol="0" anchor="t"/>
          <a:lstStyle/>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Invoice / AP lines: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actual price paid, and therefore true price variance</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Production impact: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downtime, expedites, late customer shipments</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Quality / NCR data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with dates we can trust (qc_hold dates can't be)</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The full vendor master: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6 vendors in the files vs ~30 active suppliers</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PO change and cancel history,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and the confirmation feed after 04/03</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Supplier agreements: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lead-time commitments, surcharge clauses, strategic status</a:t>
            </a:r>
            <a:endParaRPr lang="en-US" sz="1400" dirty="0"/>
          </a:p>
          <a:p>
            <a:pPr marL="342900" indent="-342900">
              <a:spcAft>
                <a:spcPts val="600"/>
              </a:spcAft>
              <a:buSzPct val="100000"/>
              <a:buChar char="•"/>
            </a:pPr>
            <a:r>
              <a:rPr lang="en-US" sz="1400" b="1" dirty="0">
                <a:solidFill>
                  <a:srgbClr val="1F2A33"/>
                </a:solidFill>
                <a:latin typeface="Calibri" pitchFamily="34" charset="0"/>
                <a:ea typeface="Calibri" pitchFamily="34" charset="-122"/>
                <a:cs typeface="Calibri" pitchFamily="34" charset="-120"/>
              </a:rPr>
              <a:t>The MRP lead-time master </a:t>
            </a:r>
            <a:pPr indent="0" marL="0">
              <a:spcAft>
                <a:spcPts val="600"/>
              </a:spcAft>
              <a:buNone/>
            </a:pPr>
            <a:r>
              <a:rPr lang="en-US" sz="1400" dirty="0">
                <a:solidFill>
                  <a:srgbClr val="1F2A33"/>
                </a:solidFill>
                <a:latin typeface="Calibri" pitchFamily="34" charset="0"/>
                <a:ea typeface="Calibri" pitchFamily="34" charset="-122"/>
                <a:cs typeface="Calibri" pitchFamily="34" charset="-120"/>
              </a:rPr>
              <a:t>and who changes it</a:t>
            </a:r>
            <a:endParaRPr lang="en-US" sz="1400" dirty="0"/>
          </a:p>
        </p:txBody>
      </p:sp>
      <p:sp>
        <p:nvSpPr>
          <p:cNvPr id="7" name="Shape 5"/>
          <p:cNvSpPr/>
          <p:nvPr/>
        </p:nvSpPr>
        <p:spPr>
          <a:xfrm>
            <a:off x="6583680" y="1463040"/>
            <a:ext cx="5059375" cy="1051560"/>
          </a:xfrm>
          <a:prstGeom prst="roundRect">
            <a:avLst>
              <a:gd name="adj" fmla="val 6957"/>
            </a:avLst>
          </a:prstGeom>
          <a:solidFill>
            <a:srgbClr val="FBE9DF"/>
          </a:solidFill>
          <a:ln w="12700">
            <a:solidFill>
              <a:srgbClr val="FBE9DF"/>
            </a:solidFill>
            <a:prstDash val="solid"/>
          </a:ln>
        </p:spPr>
      </p:sp>
      <p:sp>
        <p:nvSpPr>
          <p:cNvPr id="8" name="Text 6"/>
          <p:cNvSpPr txBox="1"/>
          <p:nvPr/>
        </p:nvSpPr>
        <p:spPr>
          <a:xfrm>
            <a:off x="6812280" y="1572768"/>
            <a:ext cx="1188720" cy="365760"/>
          </a:xfrm>
          <a:prstGeom prst="rect">
            <a:avLst/>
          </a:prstGeom>
          <a:noFill/>
          <a:ln/>
        </p:spPr>
        <p:txBody>
          <a:bodyPr wrap="square" lIns="0" tIns="0" rIns="0" bIns="0" rtlCol="0" anchor="ctr"/>
          <a:lstStyle/>
          <a:p>
            <a:pPr indent="0" marL="0">
              <a:buNone/>
            </a:pPr>
            <a:r>
              <a:rPr lang="en-US" sz="1600" b="1" dirty="0">
                <a:solidFill>
                  <a:srgbClr val="D9622B"/>
                </a:solidFill>
                <a:latin typeface="Cambria" pitchFamily="34" charset="0"/>
                <a:ea typeface="Cambria" pitchFamily="34" charset="-122"/>
                <a:cs typeface="Cambria" pitchFamily="34" charset="-120"/>
              </a:rPr>
              <a:t>Week 1</a:t>
            </a:r>
            <a:endParaRPr lang="en-US" sz="1600" dirty="0"/>
          </a:p>
        </p:txBody>
      </p:sp>
      <p:sp>
        <p:nvSpPr>
          <p:cNvPr id="9" name="Text 7"/>
          <p:cNvSpPr txBox="1"/>
          <p:nvPr/>
        </p:nvSpPr>
        <p:spPr>
          <a:xfrm>
            <a:off x="8001000" y="1554480"/>
            <a:ext cx="3459175" cy="868680"/>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Shadow Lisa: run it alongside her manual check. Count misses and false alarms; tune tolerances with her.</a:t>
            </a:r>
            <a:endParaRPr lang="en-US" sz="1300" dirty="0"/>
          </a:p>
        </p:txBody>
      </p:sp>
      <p:sp>
        <p:nvSpPr>
          <p:cNvPr id="10" name="Shape 8"/>
          <p:cNvSpPr/>
          <p:nvPr/>
        </p:nvSpPr>
        <p:spPr>
          <a:xfrm>
            <a:off x="6583680" y="2651760"/>
            <a:ext cx="5059375" cy="1051560"/>
          </a:xfrm>
          <a:prstGeom prst="roundRect">
            <a:avLst>
              <a:gd name="adj" fmla="val 6957"/>
            </a:avLst>
          </a:prstGeom>
          <a:solidFill>
            <a:srgbClr val="EEF2F5"/>
          </a:solidFill>
          <a:ln w="12700">
            <a:solidFill>
              <a:srgbClr val="EEF2F5"/>
            </a:solidFill>
            <a:prstDash val="solid"/>
          </a:ln>
        </p:spPr>
      </p:sp>
      <p:sp>
        <p:nvSpPr>
          <p:cNvPr id="11" name="Text 9"/>
          <p:cNvSpPr txBox="1"/>
          <p:nvPr/>
        </p:nvSpPr>
        <p:spPr>
          <a:xfrm>
            <a:off x="6812280" y="2761488"/>
            <a:ext cx="1188720" cy="365760"/>
          </a:xfrm>
          <a:prstGeom prst="rect">
            <a:avLst/>
          </a:prstGeom>
          <a:noFill/>
          <a:ln/>
        </p:spPr>
        <p:txBody>
          <a:bodyPr wrap="square" lIns="0" tIns="0" rIns="0" bIns="0" rtlCol="0" anchor="ctr"/>
          <a:lstStyle/>
          <a:p>
            <a:pPr indent="0" marL="0">
              <a:buNone/>
            </a:pPr>
            <a:r>
              <a:rPr lang="en-US" sz="1600" b="1" dirty="0">
                <a:solidFill>
                  <a:srgbClr val="D9622B"/>
                </a:solidFill>
                <a:latin typeface="Cambria" pitchFamily="34" charset="0"/>
                <a:ea typeface="Cambria" pitchFamily="34" charset="-122"/>
                <a:cs typeface="Cambria" pitchFamily="34" charset="-120"/>
              </a:rPr>
              <a:t>Week 2</a:t>
            </a:r>
            <a:endParaRPr lang="en-US" sz="1600" dirty="0"/>
          </a:p>
        </p:txBody>
      </p:sp>
      <p:sp>
        <p:nvSpPr>
          <p:cNvPr id="12" name="Text 10"/>
          <p:cNvSpPr txBox="1"/>
          <p:nvPr/>
        </p:nvSpPr>
        <p:spPr>
          <a:xfrm>
            <a:off x="8001000" y="2743200"/>
            <a:ext cx="3459175" cy="868680"/>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Send supplier packs to Continental, Ostmark and Heritage; attach the acknowledgment form to their new POs. Schedule the 6am run.</a:t>
            </a:r>
            <a:endParaRPr lang="en-US" sz="1300" dirty="0"/>
          </a:p>
        </p:txBody>
      </p:sp>
      <p:sp>
        <p:nvSpPr>
          <p:cNvPr id="13" name="Shape 11"/>
          <p:cNvSpPr/>
          <p:nvPr/>
        </p:nvSpPr>
        <p:spPr>
          <a:xfrm>
            <a:off x="6583680" y="3840480"/>
            <a:ext cx="5059375" cy="1051560"/>
          </a:xfrm>
          <a:prstGeom prst="roundRect">
            <a:avLst>
              <a:gd name="adj" fmla="val 6957"/>
            </a:avLst>
          </a:prstGeom>
          <a:solidFill>
            <a:srgbClr val="EEF2F5"/>
          </a:solidFill>
          <a:ln w="12700">
            <a:solidFill>
              <a:srgbClr val="EEF2F5"/>
            </a:solidFill>
            <a:prstDash val="solid"/>
          </a:ln>
        </p:spPr>
      </p:sp>
      <p:sp>
        <p:nvSpPr>
          <p:cNvPr id="14" name="Text 12"/>
          <p:cNvSpPr txBox="1"/>
          <p:nvPr/>
        </p:nvSpPr>
        <p:spPr>
          <a:xfrm>
            <a:off x="6812280" y="3950208"/>
            <a:ext cx="1188720" cy="365760"/>
          </a:xfrm>
          <a:prstGeom prst="rect">
            <a:avLst/>
          </a:prstGeom>
          <a:noFill/>
          <a:ln/>
        </p:spPr>
        <p:txBody>
          <a:bodyPr wrap="square" lIns="0" tIns="0" rIns="0" bIns="0" rtlCol="0" anchor="ctr"/>
          <a:lstStyle/>
          <a:p>
            <a:pPr indent="0" marL="0">
              <a:buNone/>
            </a:pPr>
            <a:r>
              <a:rPr lang="en-US" sz="1600" b="1" dirty="0">
                <a:solidFill>
                  <a:srgbClr val="D9622B"/>
                </a:solidFill>
                <a:latin typeface="Cambria" pitchFamily="34" charset="0"/>
                <a:ea typeface="Cambria" pitchFamily="34" charset="-122"/>
                <a:cs typeface="Cambria" pitchFamily="34" charset="-120"/>
              </a:rPr>
              <a:t>Month 1</a:t>
            </a:r>
            <a:endParaRPr lang="en-US" sz="1600" dirty="0"/>
          </a:p>
        </p:txBody>
      </p:sp>
      <p:sp>
        <p:nvSpPr>
          <p:cNvPr id="15" name="Text 13"/>
          <p:cNvSpPr txBox="1"/>
          <p:nvPr/>
        </p:nvSpPr>
        <p:spPr>
          <a:xfrm>
            <a:off x="8001000" y="3931920"/>
            <a:ext cx="3459175" cy="868680"/>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Planning updates MRP lead times from the gap report; Lisa clears the $128k of old open balances; crosswalk becomes the part-master seed.</a:t>
            </a:r>
            <a:endParaRPr lang="en-US" sz="1300" dirty="0"/>
          </a:p>
        </p:txBody>
      </p:sp>
      <p:sp>
        <p:nvSpPr>
          <p:cNvPr id="16" name="Shape 14"/>
          <p:cNvSpPr/>
          <p:nvPr/>
        </p:nvSpPr>
        <p:spPr>
          <a:xfrm>
            <a:off x="6583680" y="5029200"/>
            <a:ext cx="5059375" cy="1051560"/>
          </a:xfrm>
          <a:prstGeom prst="roundRect">
            <a:avLst>
              <a:gd name="adj" fmla="val 6957"/>
            </a:avLst>
          </a:prstGeom>
          <a:solidFill>
            <a:srgbClr val="EEF2F5"/>
          </a:solidFill>
          <a:ln w="12700">
            <a:solidFill>
              <a:srgbClr val="EEF2F5"/>
            </a:solidFill>
            <a:prstDash val="solid"/>
          </a:ln>
        </p:spPr>
      </p:sp>
      <p:sp>
        <p:nvSpPr>
          <p:cNvPr id="17" name="Text 15"/>
          <p:cNvSpPr txBox="1"/>
          <p:nvPr/>
        </p:nvSpPr>
        <p:spPr>
          <a:xfrm>
            <a:off x="6812280" y="5138928"/>
            <a:ext cx="1188720" cy="365760"/>
          </a:xfrm>
          <a:prstGeom prst="rect">
            <a:avLst/>
          </a:prstGeom>
          <a:noFill/>
          <a:ln/>
        </p:spPr>
        <p:txBody>
          <a:bodyPr wrap="square" lIns="0" tIns="0" rIns="0" bIns="0" rtlCol="0" anchor="ctr"/>
          <a:lstStyle/>
          <a:p>
            <a:pPr indent="0" marL="0">
              <a:buNone/>
            </a:pPr>
            <a:r>
              <a:rPr lang="en-US" sz="1600" b="1" dirty="0">
                <a:solidFill>
                  <a:srgbClr val="D9622B"/>
                </a:solidFill>
                <a:latin typeface="Cambria" pitchFamily="34" charset="0"/>
                <a:ea typeface="Cambria" pitchFamily="34" charset="-122"/>
                <a:cs typeface="Cambria" pitchFamily="34" charset="-120"/>
              </a:rPr>
              <a:t>Monthly</a:t>
            </a:r>
            <a:endParaRPr lang="en-US" sz="1600" dirty="0"/>
          </a:p>
        </p:txBody>
      </p:sp>
      <p:sp>
        <p:nvSpPr>
          <p:cNvPr id="18" name="Text 16"/>
          <p:cNvSpPr txBox="1"/>
          <p:nvPr/>
        </p:nvSpPr>
        <p:spPr>
          <a:xfrm>
            <a:off x="8001000" y="5120640"/>
            <a:ext cx="3459175" cy="868680"/>
          </a:xfrm>
          <a:prstGeom prst="rect">
            <a:avLst/>
          </a:prstGeom>
          <a:noFill/>
          <a:ln/>
        </p:spPr>
        <p:txBody>
          <a:bodyPr wrap="square" lIns="0" tIns="0" rIns="0" bIns="0" rtlCol="0" anchor="ctr"/>
          <a:lstStyle/>
          <a:p>
            <a:pPr indent="0" marL="0">
              <a:buNone/>
            </a:pPr>
            <a:r>
              <a:rPr lang="en-US" sz="1300" dirty="0">
                <a:solidFill>
                  <a:srgbClr val="1F2A33"/>
                </a:solidFill>
                <a:latin typeface="Calibri" pitchFamily="34" charset="0"/>
                <a:ea typeface="Calibri" pitchFamily="34" charset="-122"/>
                <a:cs typeface="Calibri" pitchFamily="34" charset="-120"/>
              </a:rPr>
              <a:t>Refresh the vendor readout; take the Continental lead-time data to the call.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Beacon Fasteners - Confirmation Desk &amp; Vendor Readout</dc:title>
  <dc:subject>PptxGenJS Presentation</dc:subject>
  <dc:creator>PptxGenJS</dc:creator>
  <cp:lastModifiedBy>PptxGenJS</cp:lastModifiedBy>
  <cp:revision>1</cp:revision>
  <dcterms:created xsi:type="dcterms:W3CDTF">2026-09-30T18:53:52Z</dcterms:created>
  <dcterms:modified xsi:type="dcterms:W3CDTF">2026-09-30T18:53:52Z</dcterms:modified>
</cp:coreProperties>
</file>