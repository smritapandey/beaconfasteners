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3"/>
                </a:solidFill>
                <a:latin typeface="Calibri"/>
              </a:rPr>
              <a:t>Received value, Sep 2025 to May 2026, three ways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Received value ($M)</c:v>
                </c:pt>
              </c:strCache>
            </c:strRef>
          </c:tx>
          <c:spPr>
            <a:solidFill>
              <a:srgbClr val="1F2A33"/>
            </a:solidFill>
            <a:effectLst/>
          </c:spPr>
          <c:invertIfNegative val="0"/>
          <c:dLbls>
            <c:numFmt formatCode="$0.00&quot;M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2A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Corrected (used)</c:v>
                  </c:pt>
                  <c:pt idx="1">
                    <c:v>Raw 'R' receipts</c:v>
                  </c:pt>
                  <c:pt idx="2">
                    <c:v>po_line.qty_received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28.19</c:v>
                </c:pt>
                <c:pt idx="1">
                  <c:v>29.5</c:v>
                </c:pt>
                <c:pt idx="2">
                  <c:v>25.3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F2A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E5D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3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3"/>
                </a:solidFill>
                <a:latin typeface="Calibri"/>
              </a:rPr>
              <a:t>Received value by receipt month ($M, at PO price)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Apex Bar &amp; Tube</c:v>
                </c:pt>
              </c:strCache>
            </c:strRef>
          </c:tx>
          <c:spPr>
            <a:solidFill>
              <a:srgbClr val="1F2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Sep*</c:v>
                  </c:pt>
                  <c:pt idx="1">
                    <c:v>Oct</c:v>
                  </c:pt>
                  <c:pt idx="2">
                    <c:v>Nov</c:v>
                  </c:pt>
                  <c:pt idx="3">
                    <c:v>Dec</c:v>
                  </c:pt>
                  <c:pt idx="4">
                    <c:v>Jan</c:v>
                  </c:pt>
                  <c:pt idx="5">
                    <c:v>Feb</c:v>
                  </c:pt>
                  <c:pt idx="6">
                    <c:v>Mar</c:v>
                  </c:pt>
                  <c:pt idx="7">
                    <c:v>Apr</c:v>
                  </c:pt>
                  <c:pt idx="8">
                    <c:v>May*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3.08</c:v>
                </c:pt>
                <c:pt idx="2">
                  <c:v>4.339</c:v>
                </c:pt>
                <c:pt idx="3">
                  <c:v>2.943</c:v>
                </c:pt>
                <c:pt idx="4">
                  <c:v>4.489</c:v>
                </c:pt>
                <c:pt idx="5">
                  <c:v>2.586</c:v>
                </c:pt>
                <c:pt idx="6">
                  <c:v>3.154</c:v>
                </c:pt>
                <c:pt idx="7">
                  <c:v>2.716</c:v>
                </c:pt>
                <c:pt idx="8">
                  <c:v>0.672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5 vendors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Sep*</c:v>
                  </c:pt>
                  <c:pt idx="1">
                    <c:v>Oct</c:v>
                  </c:pt>
                  <c:pt idx="2">
                    <c:v>Nov</c:v>
                  </c:pt>
                  <c:pt idx="3">
                    <c:v>Dec</c:v>
                  </c:pt>
                  <c:pt idx="4">
                    <c:v>Jan</c:v>
                  </c:pt>
                  <c:pt idx="5">
                    <c:v>Feb</c:v>
                  </c:pt>
                  <c:pt idx="6">
                    <c:v>Mar</c:v>
                  </c:pt>
                  <c:pt idx="7">
                    <c:v>Apr</c:v>
                  </c:pt>
                  <c:pt idx="8">
                    <c:v>May*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0.114</c:v>
                </c:pt>
                <c:pt idx="1">
                  <c:v>0.453</c:v>
                </c:pt>
                <c:pt idx="2">
                  <c:v>0.447</c:v>
                </c:pt>
                <c:pt idx="3">
                  <c:v>0.725</c:v>
                </c:pt>
                <c:pt idx="4">
                  <c:v>0.603</c:v>
                </c:pt>
                <c:pt idx="5">
                  <c:v>0.54</c:v>
                </c:pt>
                <c:pt idx="6">
                  <c:v>0.569</c:v>
                </c:pt>
                <c:pt idx="7">
                  <c:v>0.507</c:v>
                </c:pt>
                <c:pt idx="8">
                  <c:v>0.249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E5D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AEE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D8B9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E5D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33"/>
                </a:solidFill>
                <a:latin typeface="Calibri"/>
              </a:rPr>
              <a:t>On-time % by vendor (due lines, Sep 2025 to May 2026)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 time %</c:v>
                </c:pt>
              </c:strCache>
            </c:strRef>
          </c:tx>
          <c:spPr>
            <a:solidFill>
              <a:srgbClr val="B8322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322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D8B9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Continental</c:v>
                  </c:pt>
                  <c:pt idx="1">
                    <c:v>Ostmark</c:v>
                  </c:pt>
                  <c:pt idx="2">
                    <c:v>Heritage</c:v>
                  </c:pt>
                  <c:pt idx="3">
                    <c:v>Apex</c:v>
                  </c:pt>
                  <c:pt idx="4">
                    <c:v>Liberty</c:v>
                  </c:pt>
                  <c:pt idx="5">
                    <c:v>QuickShip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69</c:v>
                </c:pt>
                <c:pt idx="2">
                  <c:v>72</c:v>
                </c:pt>
                <c:pt idx="3">
                  <c:v>87</c:v>
                </c:pt>
                <c:pt idx="4">
                  <c:v>91</c:v>
                </c:pt>
                <c:pt idx="5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A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2344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801368"/>
            <a:ext cx="2807208" cy="384048"/>
          </a:xfrm>
          <a:prstGeom prst="roundRect">
            <a:avLst>
              <a:gd name="adj" fmla="val 19048"/>
            </a:avLst>
          </a:prstGeom>
          <a:solidFill>
            <a:srgbClr val="2C3A46"/>
          </a:solidFill>
          <a:ln w="12700">
            <a:solidFill>
              <a:srgbClr val="2C3A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49640" y="2368296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2C3A46"/>
          </a:solidFill>
          <a:ln w="12700">
            <a:solidFill>
              <a:srgbClr val="2C3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2935224"/>
            <a:ext cx="2295144" cy="384048"/>
          </a:xfrm>
          <a:prstGeom prst="roundRect">
            <a:avLst>
              <a:gd name="adj" fmla="val 19048"/>
            </a:avLst>
          </a:prstGeom>
          <a:solidFill>
            <a:srgbClr val="2C3A46"/>
          </a:solidFill>
          <a:ln w="12700">
            <a:solidFill>
              <a:srgbClr val="2C3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49640" y="3502152"/>
            <a:ext cx="2039112" cy="384048"/>
          </a:xfrm>
          <a:prstGeom prst="roundRect">
            <a:avLst>
              <a:gd name="adj" fmla="val 19048"/>
            </a:avLst>
          </a:prstGeom>
          <a:solidFill>
            <a:srgbClr val="2C3A46"/>
          </a:solidFill>
          <a:ln w="12700">
            <a:solidFill>
              <a:srgbClr val="2C3A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TINICUM · FDE SUPER-DAY CASE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91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Beacon PO Confirmation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Tower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daily buyer worklist, and an evidence-led view of supplier risk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Lisa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4343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vendor PDFs in, one worst-first action queue out, in Excel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plant manager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48006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months of ERP history: who to call first, and which open orders to watch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Beacon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5257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forms and a part-number crosswalk that stop the mess at the source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Smrita Pandey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Lisa acts on today, and who the plant calls first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· TASK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 Confirmation Control Tower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150876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MANAGER · TASK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196596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performance readout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44 lines auto-matched at high confidence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428189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428189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fully clean: Lisa never looks at them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33418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033418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to act on today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886200"/>
            <a:ext cx="4815688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Silently dropped line: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left PO-4500050001 line 2 (1,500 pcs) off its acknowledgment.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Stray PO: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confirmation arrived for PO-4500060619, which is not an open Beacon PO.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53048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on time; other vendors 69-99%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58277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61/63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158277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lines &gt;7 days late are Continental's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63506" y="2560320"/>
            <a:ext cx="16052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8A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$1.84M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763506" y="3163824"/>
            <a:ext cx="14223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 14 days, not acknowledged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3048" y="3886200"/>
            <a:ext cx="4815688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Continental first.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most often, by the most, not improving; part of it is our 19-day plan vs their 28-day quote.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Apex second, commercially.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spend; CRES bar 1-2% over PO since Feb; $77k short-shipped balances open.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HEARD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 behind the case, and what I built for each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020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LISA, SENIOR BUYER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PO lines need me today, and what do I do?"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min a day reading ~35 PDFs against ~50 open POs: clean ERP output, scans, one German, one vendor with its own part numbers.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8620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miss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become receiving shorts, AP fights and customer expedites. The hardest one is a line that is simply not there.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5120640"/>
            <a:ext cx="314949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12064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 </a:t>
            </a:r>
            <a:pPr indent="0" marL="0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worst-first action queue in Excel, with memory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38218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160020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MANAGER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66818" y="1901952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supplier do I call first, and why?"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274320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months of ERP history nobody has analysed; vendor decisions run on anecdote.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8620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miss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vendor gets the call, and a cause that is partly ours (planning lead times) stays hidden.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21098" y="5120640"/>
            <a:ext cx="314949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8258" y="512064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 </a:t>
            </a:r>
            <a:pPr indent="0" marL="0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readout with one answer, the evidence and the denominators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27797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6397" y="160020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56397" y="1901952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"How do we stop this recurring?"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356397" y="274320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sends its own layout and part numbers; nothing is captured in a structured way.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356397" y="388620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miss  </a:t>
            </a:r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reconciliation is repeated every day, and the part-number mess grows.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310677" y="5120640"/>
            <a:ext cx="314949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47837" y="512064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 </a:t>
            </a:r>
            <a:pPr indent="0" marL="0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forms plus a governed part-number crosswalk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· HOW I SPLIT THE 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Riskiest first: the data, then Task 1 end to end, then Task 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covered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36676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 this order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783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7830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code: 6 PDF layouts (4 scans, 1 German, 1 vendor with its own part numbers); an undocumented ERP with traps that change the answer.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783080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number would sink both tasks, and it was the cheapest thing to check first.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715768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935224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71576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end to end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7157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→ match → checks → Excel. All 35 PDFs through the pipeline before polishing any one parser.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715768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Lisa's pain is daily, and a dropped line can only be seen when the whole pipeline works.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648456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64845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on the same data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364845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receipts, then value by month, the vendor table, and who to call first, with definitions.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3648456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ERP work feeds Task 1 too: FX rates, the part-number crosswalk, vendor history.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581144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800600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458114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then, extras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458114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across days, the desk app, the vendor forms. Each was added only after both tasks ran.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4581144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"Useful beats impressive": nothing extra went in until the basics were done.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51383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5733288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5733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5138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write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566160" y="5513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deck, the README, and a clean run from the zip, as a grader would do it.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5513832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presentation counts as much as the code.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DESIGN CHOICES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exception list Lisa opens in Excel, not a dashboard to learn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0020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 is the product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4767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first, in words. Lisa's Done and Notes carry over to tomorrow.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1576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browser app, same engine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632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in PDFs, approve part numbers in one click, see scans beside what was read.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3133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one local file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178808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Re-sent PDFs ignored; corrections close items; the first promise is kept.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92624"/>
            <a:ext cx="384048" cy="384048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94690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first, AI as fallback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294376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parser per layout. Claude reads only what no parser can.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589520" y="1554480"/>
            <a:ext cx="4053535" cy="4663440"/>
          </a:xfrm>
          <a:prstGeom prst="roundRect">
            <a:avLst>
              <a:gd name="adj" fmla="val 1805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7373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it never breaks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2194560"/>
            <a:ext cx="3504895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guesses silently: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matches go to review.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"Possible" dropped line,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"dropped".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sends anything: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are drafts.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PDF and PO line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for, every run.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deterministic steps from vendor PDF to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011680" cy="1783080"/>
          </a:xfrm>
          <a:prstGeom prst="roundRect">
            <a:avLst>
              <a:gd name="adj" fmla="val 410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299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layer: 31 PDFs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OCR: 4 Continental scans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optional fallback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 rot="5400000">
            <a:off x="2607526" y="2331720"/>
            <a:ext cx="164592" cy="237744"/>
          </a:xfrm>
          <a:prstGeom prst="rtTriangle">
            <a:avLst/>
          </a:prstGeom>
          <a:solidFill>
            <a:srgbClr val="7D8B97"/>
          </a:solidFill>
          <a:ln w="12700">
            <a:solidFill>
              <a:srgbClr val="7D8B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19324" y="1554480"/>
            <a:ext cx="2011680" cy="1783080"/>
          </a:xfrm>
          <a:prstGeom prst="roundRect">
            <a:avLst>
              <a:gd name="adj" fmla="val 410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56484" y="1645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956484" y="20299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units, decimals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labels, "KW 20-22"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EUR→USD at ERP rate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rot="5400000">
            <a:off x="4878210" y="2331720"/>
            <a:ext cx="164592" cy="237744"/>
          </a:xfrm>
          <a:prstGeom prst="rtTriangle">
            <a:avLst/>
          </a:prstGeom>
          <a:solidFill>
            <a:srgbClr val="7D8B97"/>
          </a:solidFill>
          <a:ln w="12700">
            <a:solidFill>
              <a:srgbClr val="7D8B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90008" y="1554480"/>
            <a:ext cx="2011680" cy="1783080"/>
          </a:xfrm>
          <a:prstGeom prst="roundRect">
            <a:avLst>
              <a:gd name="adj" fmla="val 410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27168" y="1645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27168" y="20299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Vendor, PO, then each line via the 5-level ladder below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7148894" y="2331720"/>
            <a:ext cx="164592" cy="237744"/>
          </a:xfrm>
          <a:prstGeom prst="rtTriangle">
            <a:avLst/>
          </a:prstGeom>
          <a:solidFill>
            <a:srgbClr val="7D8B97"/>
          </a:solidFill>
          <a:ln w="12700">
            <a:solidFill>
              <a:srgbClr val="7D8B9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60691" y="1554480"/>
            <a:ext cx="2011680" cy="1783080"/>
          </a:xfrm>
          <a:prstGeom prst="roundRect">
            <a:avLst>
              <a:gd name="adj" fmla="val 410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7851" y="1645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497851" y="20299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line · qty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· date vs need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sanity · revisions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 rot="5400000">
            <a:off x="9419577" y="2331720"/>
            <a:ext cx="164592" cy="237744"/>
          </a:xfrm>
          <a:prstGeom prst="rtTriangle">
            <a:avLst/>
          </a:prstGeom>
          <a:solidFill>
            <a:srgbClr val="7D8B97"/>
          </a:solidFill>
          <a:ln w="12700">
            <a:solidFill>
              <a:srgbClr val="7D8B9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31375" y="1554480"/>
            <a:ext cx="2011680" cy="1783080"/>
          </a:xfrm>
          <a:prstGeom prst="roundRect">
            <a:avLst>
              <a:gd name="adj" fmla="val 4103"/>
            </a:avLst>
          </a:prstGeom>
          <a:solidFill>
            <a:srgbClr val="FBE9DF"/>
          </a:solidFill>
          <a:ln w="12700">
            <a:solidFill>
              <a:srgbClr val="FBE9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68535" y="16459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768535" y="20299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 + memory (SQLite)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sheets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611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Part-number matching ladder: identifiers first, inference only with review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572000"/>
                <a:gridCol w="1463040"/>
                <a:gridCol w="4325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Beacon part number printed on the vendor's 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Auto-match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(vendor, vendor PN) entry in the crosswalk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Auto-match; the crosswalk grows every time Lisa approves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description equals the PO 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Auto-match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qty + price (+ line number) agree on this 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Matched for the checks, but sent to Review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agrees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UNMATCHED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as unmatched; never guessed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LISA'S WORKBOOK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Lisa's 7am view: exceptions only, worst first, next step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7</a:t>
            </a:r>
            <a:endParaRPr lang="en-US" sz="900" dirty="0"/>
          </a:p>
        </p:txBody>
      </p:sp>
      <p:pic>
        <p:nvPicPr>
          <p:cNvPr id="5" name="Image 0" descr="/home/user/BeaconFasteners/Beacon Superday-Submission/presentation/assets/workbook_action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589520" cy="31568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548640" y="47570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List tab, real output on this week's 35 PDFs (first columns shown).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14232"/>
            <a:ext cx="7589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Done? and Notes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read back on the next run: handled items stay handled.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ready-to-edit email per vendor; the tool never sends.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Me tab: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steps, rules, tolerances, escalation.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58200" y="1508760"/>
            <a:ext cx="3184855" cy="4754880"/>
          </a:xfrm>
          <a:prstGeom prst="roundRect">
            <a:avLst>
              <a:gd name="adj" fmla="val 229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0" y="1645920"/>
            <a:ext cx="2727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tab per job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103120"/>
            <a:ext cx="27276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List · Dropped &amp; Unconfirmed · Draft Emails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Variances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Variances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Variances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Vendor Lines · PN Crosswalk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 Lines · Documents · Review Required · Run Summary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ERP
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Open Balances ($128k to chase or close)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RUN ON THIS WEEK'S 35 PDFS (AS OF 05/17/2026)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things to do, worst first, and 22 lines Lisa can skip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234440"/>
                <a:gridCol w="2834640"/>
                <a:gridCol w="2011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/ 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4500050001 /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missing from acknowledgment (BAR-A286-250 × 1,500)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if it ships, or receiving will be short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4500060619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Confirmation for a PO that is not open (probably meant for …0001)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 vendor not to ship against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4500050007 /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1,425 of 1,500 (-75 pcs)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later, or cancelled?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4500050002 /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$3.9200 → $4.0102 (+2.3%)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back before the invoice reaches 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4500050022 /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Promise 21 days after we need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Expedite, or warn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4500050019 /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Acknowledged with no qty or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for a firm qty and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Ostmark (DE)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4500050027 / 1-2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Promise is a week range "KW 20-22", 16 days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down a real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6D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Heritage, Ostmark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vendor PNs APH-441-OS, OST-CAR-A-100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One-click approve (Review Required)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6D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QuickShip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4500050032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an invoice instead of an acknowledgment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 receiving; hold the invoice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052560" y="1508760"/>
            <a:ext cx="2590495" cy="4617720"/>
          </a:xfrm>
          <a:prstGeom prst="roundRect">
            <a:avLst>
              <a:gd name="adj" fmla="val 282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81160" y="1645920"/>
            <a:ext cx="2133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8 · 13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2249424"/>
            <a:ext cx="1950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today · this week · check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281160" y="2697480"/>
            <a:ext cx="2133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281160" y="3300984"/>
            <a:ext cx="1950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fully clean: never shown on the Action List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281160" y="3749040"/>
            <a:ext cx="2133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8A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4352544"/>
            <a:ext cx="1950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on Review Required (incl. OCR'd scans)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5029200"/>
            <a:ext cx="21332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checks, every run: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every PDF has a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every open PO line accounted for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revision superseded original (QuickShip)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PAST FEEDS FUTURE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 at the source: Beacon's own forms, pre-filled from the ERP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120640" cy="2423160"/>
          </a:xfrm>
          <a:prstGeom prst="roundRect">
            <a:avLst>
              <a:gd name="adj" fmla="val 301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727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 acknowledgment form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file per PO, sent with it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12848"/>
            <a:ext cx="46634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lines locked; rows can't be deleted, so nothing drops silently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line: Accept / Accept with changes / Cannot supply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delivery date; Excel refuses "KW 20-22"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for any qty or price change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file drops into the same check: HIGH match, no OCR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13308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information pack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622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vendor, pre-filled from 8 months of ERP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773168"/>
            <a:ext cx="46634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 we buy from them, with planned / quoted / actual lead time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confirm their part numbers → Lisa's approval queue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lead times → gap report for planning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Contacts, turnaround, AS9100 / Nadcap expiry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1463040"/>
            <a:ext cx="565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Ostmark answers on the form: line 2 is now "Vendor declined" (act today, with the reason), not a guess</a:t>
            </a:r>
            <a:endParaRPr lang="en-US" sz="1200" dirty="0"/>
          </a:p>
        </p:txBody>
      </p:sp>
      <p:pic>
        <p:nvPicPr>
          <p:cNvPr id="14" name="Image 0" descr="/home/user/BeaconFasteners/Beacon Superday-Submission/presentation/assets/today_after_form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20240"/>
            <a:ext cx="5653735" cy="16387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5" name="Text 12"/>
          <p:cNvSpPr txBox="1"/>
          <p:nvPr/>
        </p:nvSpPr>
        <p:spPr>
          <a:xfrm>
            <a:off x="5989320" y="3833324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returns its pack: MRP plans 19 days, their standard is 28</a:t>
            </a:r>
            <a:endParaRPr lang="en-US" sz="1200" dirty="0"/>
          </a:p>
        </p:txBody>
      </p:sp>
      <p:pic>
        <p:nvPicPr>
          <p:cNvPr id="16" name="Image 1" descr="/home/user/BeaconFasteners/Beacon Superday-Submission/presentation/assets/pack_gaps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53364"/>
            <a:ext cx="5653735" cy="17616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7" name="Text 13"/>
          <p:cNvSpPr txBox="1"/>
          <p:nvPr/>
        </p:nvSpPr>
        <p:spPr>
          <a:xfrm>
            <a:off x="5989320" y="598932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replies in the demo are synthetic. Plain Excel: no portal, no logins; PDFs keep working for everyone else.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Undocumented ERP: profiled first, 8 traps found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603504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dates are MM/DD/YYYY text: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date() returns NULL on every row.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reversal pairs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(keyed in error, then reversed) plus 1 unreversed duplicate (txn 701546).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po_line.qty_received is wrong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169 lines; receipts are used instead.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superseded confirmations: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latest is used.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feed stops 2026-04-03: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metrics use POs to 03/30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Ostmark PO prices are already USD: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again adds about $76k.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qc_hold dates are unreliable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(16 before the PO existed): shown as counts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decoy tables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link to vendor performance (GL, MRP, users, …).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0" y="1463040"/>
          <a:ext cx="47850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0" y="548640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answers are wrong by +$1.3M and -$2.9M. Every number in the readout says which records it counts (Definitions tab).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RECEIVED VALUE BY MONTH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$28.2M received in 8 months, 85% of it from Apex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11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78240" y="164592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$28.19M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249424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value, 09/06/2025 to 05/17/2026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74320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346704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Bar &amp; Tube ($23.98M): a concentration question, not only a performance one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3977640"/>
            <a:ext cx="2864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$3.1-5.1M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4581144"/>
            <a:ext cx="2681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across full months (Oct to Apr); no clear trend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5394960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Sep and May are partial months. Reversals netted, 1 duplicate excluded.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VENDOR-BY-VENDOR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Continental stands out on delivery; Apex on dollars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60120"/>
                <a:gridCol w="777240"/>
                <a:gridCol w="822960"/>
                <a:gridCol w="1005840"/>
                <a:gridCol w="1371600"/>
                <a:gridCol w="1188720"/>
                <a:gridCol w="1188720"/>
                <a:gridCol w="12618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&gt;7d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days late (when late)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Promised after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Past-due open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time Sep-Dec → Jan-May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Apex Bar &amp; Tube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$23.98M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$76.7k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 → 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Heritage Cold Heading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$1.71M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→ 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Quality Heat Treat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→ 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Ostmark Werkzeug (DE)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$0.87M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$31.9k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→ 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Liberty Surface Finishing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→ 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QuickShip Industrial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→ 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 </a:t>
            </a:r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last receipt that completes the line arrives on or before our required date. Denominators: due lines with a receipt (Apex 222, Heritage 205, Continental 134, Ostmark 55, Liberty 189, QuickShip 110). </a:t>
            </a:r>
            <a:pPr indent="0" marL="0">
              <a:buNone/>
            </a:pPr>
            <a:r>
              <a:rPr lang="en-US" sz="1200" b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</a:t>
            </a:r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Fisher exact test; no vendor's change is statistically significant (Liberty p=0.13). </a:t>
            </a:r>
            <a:pPr indent="0" marL="0">
              <a:buNone/>
            </a:pPr>
            <a:r>
              <a:rPr lang="en-US" sz="1200" b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ranked: </a:t>
            </a:r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holds (dates unreliable). No composite score: the weights would be invented.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WHO TO CALL FIRST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Continental first: late most often and by the most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98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134 due lines on time (others 69-99%)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5544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61/63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5798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&gt;7 days late across all vendors are theirs ($660k)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5544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15798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confirmations promise after our need date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34640"/>
            <a:ext cx="626364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bad: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17 days late when late, worst 28. Every other vendor lands 99%+ of lines within 7 days.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recent slip: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on time Sep-Dec (n=56) vs 40% Jan-May (n=78).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its own dates: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only 58% of its own promises.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$1.51M of heat treat; 7 open lines past due today ($14k).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6263640" cy="1097280"/>
          </a:xfrm>
          <a:prstGeom prst="roundRect">
            <a:avLst>
              <a:gd name="adj" fmla="val 6667"/>
            </a:avLst>
          </a:prstGeom>
          <a:solidFill>
            <a:srgbClr val="FBE9DF"/>
          </a:solidFill>
          <a:ln w="12700">
            <a:solidFill>
              <a:srgbClr val="FBE9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38928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Beacon's side too: </a:t>
            </a:r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plan 19 days for heat treat, they quote 28 and deliver in 24.5 (medians). Part of this lateness is our planning. Take that to the call.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178040" y="1463040"/>
          <a:ext cx="4465015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LOOKING AHEAD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rear-view to a watch list for open orders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$3.32M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98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open lines due in the next 60 days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5544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8A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$1.84M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5798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lines due in 14 days, no acknowledgment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3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924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at high risk (2 Continental, 1 Heritage)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 of 63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33924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lines &gt;7 days late the rule would have flagged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4114800" cy="2240280"/>
          </a:xfrm>
          <a:prstGeom prst="roundRect">
            <a:avLst>
              <a:gd name="adj" fmla="val 3265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(checkable by hand)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526280"/>
            <a:ext cx="37490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if the vendor already promises after our need date, or delivers this part on time &lt;60% (5+ past lines).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Backtested on 8 months, no look-ahead: 33% of flagged lines were late vs 22% overall. A watch list, not a forecast.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dates come from the ERP and from this week's PDFs read by Task 1.</a:t>
            </a:r>
            <a:endParaRPr lang="en-US" sz="1100" dirty="0"/>
          </a:p>
        </p:txBody>
      </p:sp>
      <p:pic>
        <p:nvPicPr>
          <p:cNvPr id="16" name="Image 0" descr="/home/user/BeaconFasteners/Beacon Superday-Submission/presentation/assets/readout_looka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5025" y="1463040"/>
            <a:ext cx="5042206" cy="4800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WHERE IT EARNS ITS PLACE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reads and explains; it never decides or calculates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AI READER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8745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any PDF no template can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2407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 / 125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80944"/>
            <a:ext cx="2224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qty, price and date fields matched the parsers on all 35 PDFs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30804" y="2377440"/>
            <a:ext cx="2407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 / 44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230804" y="2980944"/>
            <a:ext cx="2224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identical to the OCR run with no Tesseract installed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8728" y="1463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3048" y="16002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VENDOR Q&amp;A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18745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Grounded, plain-English answers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2377440"/>
            <a:ext cx="2407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553048" y="2980944"/>
            <a:ext cx="2224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quoted figures verified against an independent recomputation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0891" y="2377440"/>
            <a:ext cx="2407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0891" y="2980944"/>
            <a:ext cx="2224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claims: it said downtime is not in the data</a:t>
            </a:r>
            <a:endParaRPr lang="en-US" sz="1200" dirty="0"/>
          </a:p>
        </p:txBody>
      </p:sp>
      <p:pic>
        <p:nvPicPr>
          <p:cNvPr id="19" name="Image 0" descr="/home/user/BeaconFasteners/Beacon Superday-Submission/presentation/assets/ai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629" y="4023360"/>
            <a:ext cx="8880438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pic>
      <p:sp>
        <p:nvSpPr>
          <p:cNvPr id="20" name="Text 17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only cleaned tables · quotes every figure · totals precomputed · AI-read items go to review · off without a key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TOWARD THE PART-NUMBER CLEANUP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crosswalk grows from daily work and seeds the part master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680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1920240"/>
                <a:gridCol w="1600200"/>
                <a:gridCol w="1417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PN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Beacon PN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Heritage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APH-441-OS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CHB-9472-4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week's PDF (qty+price)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ERP had APH-4411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OST-CAR-A-100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TOOL-INS-CAR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week's PDF (qty+price)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8A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PENDING: ERP had WZ-HM-EIN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Heritage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APH-125 / 318 / 441 / 4411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CHB-3301 / 7715 / 9472-3 / 9472-4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confirmations × PO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Seen 30-44 times each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Heritage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K-1050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CHB-5520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confirmations × PO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Seen 41 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83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K-1050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TOOL-PUNCH-STD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confirmations × PO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PN, different part!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Ostmark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WZ-9472-DS / WZ-HM-EIN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TOOL-DIE-9472 / TOOL-INS-CAR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 confirmations × PO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Seen 17-20 times each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508760"/>
            <a:ext cx="3047695" cy="4663440"/>
          </a:xfrm>
          <a:prstGeom prst="roundRect">
            <a:avLst>
              <a:gd name="adj" fmla="val 24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69680" y="1691640"/>
            <a:ext cx="2499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cleanup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869680" y="2103120"/>
            <a:ext cx="2499055" cy="4023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on (vendor, vendor PN):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K-1050 is two different parts.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renumber quietly: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caught this week.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confidence, status, approver and date on every row.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Proposed, not imposed: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buyer approves; only approved rows match.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overwrite: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numbers retire, history still joins.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303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the ERP: 8 mappings. Task 1 adds new ones as Lisa approves them (output/pn_crosswalk_updated.csv).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deliberately did not build, and why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1051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75564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integration or write-back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access, and a wrong write is expensive. The CSV export is the contract; integration comes after trust.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8218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6818" y="181051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681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4018" y="175564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Auto-emailing vendors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66818" y="23774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drafts emails; Lisa sends them. Vendor relationships are hers.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6397" y="181051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13597" y="175564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LLM-first extraction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56397" y="23774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stable layouts parse deterministically and auditably. Claude is the tested fallback, not the default.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17880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master-data (MDM) platform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80060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crosswalk file, with source, confidence and review status, is the seed. The platform comes later.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6818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66818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4018" y="417880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0-100 vendor score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66818" y="480060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weights would be invented. An evidence table with denominators is more honest.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56397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D8B9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56397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813597" y="4178808"/>
            <a:ext cx="2646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chatbot or a big web app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356397" y="480060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needs a morning action queue, not another interface. Excel is where she works; the small app is optional.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falls over, and what catches it when it does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4904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next 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vendor or a changed layout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parser matches; the PDF shows as unreadable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reads it (tested: 125/125 fields); Beacon's form removes the 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poor scan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can misread a digit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OCR'd doc goes to Needs your OK, shown next to the image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PO lines with the same qty and 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L4 inference could pair the wrong lines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is never HIGH; always goes to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stale open-PO 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"PO not open" or "possible dropped line"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the export each morning; show its as-of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2: value at PO 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invoiced cost; no AP data in the extract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invoice lines, then true price variance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2: no production-impact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rank exposure, but can't prove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to expedites and downtime; no causal claims until then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ASKED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for Lisa and the plant manager, each tied to the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19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64328" cy="4800600"/>
          </a:xfrm>
          <a:prstGeom prst="roundRect">
            <a:avLst>
              <a:gd name="adj" fmla="val 152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20240"/>
            <a:ext cx="4815688" cy="4251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is a missing line really dropped, vs. confirmed later?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miss costs most: a short, a price or a date?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CRES bar +1-2% since Feb: a surcharge that never reached the PO?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date rules: our required date, the promise, or MRP need?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need to see before you stop opening every PDF?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463040"/>
            <a:ext cx="5364328" cy="4800600"/>
          </a:xfrm>
          <a:prstGeom prst="roundRect">
            <a:avLst>
              <a:gd name="adj" fmla="val 152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002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MANAGER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1920240"/>
            <a:ext cx="4815688" cy="4251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 late heat-treat lot cost: downtime, overtime, an expedite?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set the 19-day heat-treat lead time? Continental quotes 28.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second qualified (Nadcap) heat treater?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Apex at 85% of spend a deliberate single source?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decision should this drive: re-source, renegotiate or re-plan?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 WISH I'D HAD · 30 / 60 / 90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sharpen the answers, and how this goes into use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 wish I'd had (absent from the extract)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566928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/ AP lines: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price paid, and therefore true price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impact: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downtime, expedites, late customer shipments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vendor master: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vendors in the files vs ~30 active suppliers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change and cancel history,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confirmation feed after 04/03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agreements: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commitments, surcharge clauses, strategic status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46304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FBE9DF"/>
          </a:solidFill>
          <a:ln w="12700">
            <a:solidFill>
              <a:srgbClr val="FB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1-30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554480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week with Lisa (target: zero misses, time saved measured); schedule the 6am run; Continental call with the lead-time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2651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12280" y="27614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31-60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743200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packs and acknowledgment forms to Continental, Ostmark, Heritage; planning fixes MRP lead times; clear the $128k backlog.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384048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39502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61-90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931920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crosswalk loaded as the ERP vendor-part cross-reference; readout refreshed monthly; decide on a portal or EDI 855.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502920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5138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5120640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pattern (parsers + rules + workbook) for the next Tinicum company with the same supplier-paperwork problem.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stack of PDFs to a controlled daily workflow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1051560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prioritised, auditable exception queue instead of 35 PDFs.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plant manager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supplier view tied to business impact, not anecdote, and a watch list for what's coming.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stay in control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commercial judgment or low-confidence extraction matters.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is not a bigger dashboard: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shadow week with Lisa, measure time saved and misses caught, then productionise what earned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across the portfolio: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company that receives unstructured supplier paperwork has the same shape of problem.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questions?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SECOND CALL AND WATCH 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Apex second, about money not delivery; watch three others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669280" cy="4663440"/>
          </a:xfrm>
          <a:prstGeom prst="roundRect">
            <a:avLst>
              <a:gd name="adj" fmla="val 1569"/>
            </a:avLst>
          </a:prstGeom>
          <a:solidFill>
            <a:srgbClr val="FBE9DF"/>
          </a:solidFill>
          <a:ln w="12700">
            <a:solidFill>
              <a:srgbClr val="FBE9D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 Bar &amp; Tube: a commercial call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03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received value ($23.98M). 87% on time, and when late the median is 1 day.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51206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creep: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BAR-CRES-250 confirmed +1% from February and +2% from March, while every PO stayed at $3.92. 11 lines, $8.5k over PO, and nothing in the ERP flags it.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Short-ships left open: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balances, $77k, the largest past-due exposure of any vendor (oldest 215 days).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this week: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dropped line, a 75-pc short and a +2.3% price on its acknowledgments.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508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84848" y="1691640"/>
            <a:ext cx="182880" cy="182880"/>
          </a:xfrm>
          <a:prstGeom prst="ellipse">
            <a:avLst/>
          </a:prstGeom>
          <a:solidFill>
            <a:srgbClr val="C98A06"/>
          </a:solidFill>
          <a:ln w="12700">
            <a:solidFill>
              <a:srgbClr val="C98A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0" y="1600200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Cold Heading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929384"/>
            <a:ext cx="4373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on time; 60% of promises after need date. Delays short (median 3 days). 10 short-ship balances open.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269748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84848" y="2880360"/>
            <a:ext cx="182880" cy="182880"/>
          </a:xfrm>
          <a:prstGeom prst="ellipse">
            <a:avLst/>
          </a:prstGeom>
          <a:solidFill>
            <a:srgbClr val="C98A06"/>
          </a:solidFill>
          <a:ln w="12700">
            <a:solidFill>
              <a:srgbClr val="C98A0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86600" y="2788920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Surface Finishing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3118104"/>
            <a:ext cx="4373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→ 87% on time, but not significant (p=0.13) and misses are 1-3 days. Watch, don't call.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0" y="388620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84848" y="4069080"/>
            <a:ext cx="182880" cy="182880"/>
          </a:xfrm>
          <a:prstGeom prst="ellipse">
            <a:avLst/>
          </a:prstGeom>
          <a:solidFill>
            <a:srgbClr val="C98A06"/>
          </a:solidFill>
          <a:ln w="12700">
            <a:solidFill>
              <a:srgbClr val="C98A0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3977640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Ostmark Werkzeug (DE)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4306824"/>
            <a:ext cx="4373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on time, never &gt;6 days late. Open die set PO-4500050027: $31k, due 05/15, nothing received; ack says only "KW 20-22".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507492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4848" y="5257800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5166360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QuickShip Industrial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5495544"/>
            <a:ext cx="4373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benchmark: 99% on time, but only $13k of spend.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THE PAST AND FUTURE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desk that remembers: tomorrow's list shows only what's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223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tool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PDF emailed twice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Recognised by its content hash and ignored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Lisa marks an item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done tomorrow, with her note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sends a corrected acknowledgment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open item closes by itself, with the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problem appears on a line she had closed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Reopens it and says 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keeps moving the promise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FIRST promise is never overwritten, so the history stays honest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Lisa approves a vendor part number once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automatically from then on and joins the part-number crosswalk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554480"/>
            <a:ext cx="3504895" cy="4526280"/>
          </a:xfrm>
          <a:prstGeom prst="roundRect">
            <a:avLst>
              <a:gd name="adj" fmla="val 208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1737360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keep the first promise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2956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revised date overwrites the last one, every PO ends up looking on time and vendor performance can't be measured. The same trap is in the ERP: 30 confirmations were superseded.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384048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206240"/>
            <a:ext cx="29562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automated tests. TestDayTwo runs day 1 on the real PDFs, applies Lisa's Excel edits, then feeds a revised vendor PDF on day 2 and checks each row above.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WHAT LISA SEES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list, plus the things the tool is not sure about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985455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B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Fasteners · FDE case   24</a:t>
            </a:r>
            <a:endParaRPr lang="en-US" sz="900" dirty="0"/>
          </a:p>
        </p:txBody>
      </p:sp>
      <p:pic>
        <p:nvPicPr>
          <p:cNvPr id="5" name="Image 0" descr="/home/user/BeaconFasteners/Beacon Superday-Submission/presentation/assets/today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310466" cy="4800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6" name="Image 1" descr="/home/user/BeaconFasteners/Beacon Superday-Submission/presentation/assets/review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66" y="1463040"/>
            <a:ext cx="4418189" cy="200580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7224866" y="3560284"/>
            <a:ext cx="4418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your OK: the vendor renamed a part. The tool shows why it thinks so and what our history calls it. One click approves it for good.</a:t>
            </a:r>
            <a:endParaRPr lang="en-US" sz="1200" dirty="0"/>
          </a:p>
        </p:txBody>
      </p:sp>
      <p:pic>
        <p:nvPicPr>
          <p:cNvPr id="8" name="Image 2" descr="/home/user/BeaconFasteners/Beacon Superday-Submission/presentation/assets/review_ocr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66" y="4657564"/>
            <a:ext cx="4418189" cy="143658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7224866" y="6185593"/>
            <a:ext cx="44181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are shown next to what OCR read, so checking takes seconds, not retyping.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Beacon PO Confirmation Control Tower</dc:title>
  <dc:subject>PptxGenJS Presentation</dc:subject>
  <dc:creator>PptxGenJS</dc:creator>
  <cp:lastModifiedBy>PptxGenJS</cp:lastModifiedBy>
  <cp:revision>1</cp:revision>
  <dcterms:created xsi:type="dcterms:W3CDTF">2026-09-30T20:43:38Z</dcterms:created>
  <dcterms:modified xsi:type="dcterms:W3CDTF">2026-09-30T20:43:38Z</dcterms:modified>
</cp:coreProperties>
</file>